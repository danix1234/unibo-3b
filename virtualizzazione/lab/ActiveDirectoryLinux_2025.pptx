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60" r:id="rId2"/>
    <p:sldId id="265" r:id="rId3"/>
    <p:sldId id="261" r:id="rId4"/>
    <p:sldId id="262" r:id="rId5"/>
    <p:sldId id="263" r:id="rId6"/>
    <p:sldId id="264" r:id="rId7"/>
    <p:sldId id="266" r:id="rId8"/>
    <p:sldId id="267" r:id="rId9"/>
    <p:sldId id="268" r:id="rId10"/>
    <p:sldId id="269" r:id="rId11"/>
    <p:sldId id="271" r:id="rId12"/>
    <p:sldId id="272" r:id="rId13"/>
    <p:sldId id="273" r:id="rId14"/>
    <p:sldId id="274" r:id="rId15"/>
    <p:sldId id="276" r:id="rId16"/>
    <p:sldId id="278" r:id="rId17"/>
    <p:sldId id="284" r:id="rId18"/>
    <p:sldId id="277" r:id="rId19"/>
    <p:sldId id="279" r:id="rId20"/>
    <p:sldId id="275" r:id="rId21"/>
    <p:sldId id="280" r:id="rId22"/>
    <p:sldId id="281" r:id="rId23"/>
    <p:sldId id="282" r:id="rId24"/>
    <p:sldId id="283" r:id="rId25"/>
    <p:sldId id="286" r:id="rId26"/>
    <p:sldId id="285" r:id="rId27"/>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656" autoAdjust="0"/>
  </p:normalViewPr>
  <p:slideViewPr>
    <p:cSldViewPr snapToGrid="0">
      <p:cViewPr varScale="1">
        <p:scale>
          <a:sx n="153" d="100"/>
          <a:sy n="153" d="100"/>
        </p:scale>
        <p:origin x="2802" y="132"/>
      </p:cViewPr>
      <p:guideLst/>
    </p:cSldViewPr>
  </p:slideViewPr>
  <p:outlineViewPr>
    <p:cViewPr>
      <p:scale>
        <a:sx n="33" d="100"/>
        <a:sy n="33" d="100"/>
      </p:scale>
      <p:origin x="0" y="-18691"/>
    </p:cViewPr>
  </p:outlineViewPr>
  <p:notesTextViewPr>
    <p:cViewPr>
      <p:scale>
        <a:sx n="1" d="1"/>
        <a:sy n="1" d="1"/>
      </p:scale>
      <p:origin x="0" y="0"/>
    </p:cViewPr>
  </p:notesTextViewPr>
  <p:notesViewPr>
    <p:cSldViewPr snapToGrid="0">
      <p:cViewPr varScale="1">
        <p:scale>
          <a:sx n="64" d="100"/>
          <a:sy n="64" d="100"/>
        </p:scale>
        <p:origin x="3192"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8D8C6A-AB9B-4F2B-A423-17980541E40E}" type="datetimeFigureOut">
              <a:rPr lang="it-IT" smtClean="0"/>
              <a:t>22/04/2025</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84F285-806C-43DF-89F6-4115B0B2C255}" type="slidenum">
              <a:rPr lang="it-IT" smtClean="0"/>
              <a:t>‹N›</a:t>
            </a:fld>
            <a:endParaRPr lang="it-IT"/>
          </a:p>
        </p:txBody>
      </p:sp>
    </p:spTree>
    <p:extLst>
      <p:ext uri="{BB962C8B-B14F-4D97-AF65-F5344CB8AC3E}">
        <p14:creationId xmlns:p14="http://schemas.microsoft.com/office/powerpoint/2010/main" val="16727824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a:p>
        </p:txBody>
      </p:sp>
      <p:sp>
        <p:nvSpPr>
          <p:cNvPr id="4" name="Segnaposto numero diapositiva 3"/>
          <p:cNvSpPr>
            <a:spLocks noGrp="1"/>
          </p:cNvSpPr>
          <p:nvPr>
            <p:ph type="sldNum" sz="quarter" idx="5"/>
          </p:nvPr>
        </p:nvSpPr>
        <p:spPr/>
        <p:txBody>
          <a:bodyPr/>
          <a:lstStyle/>
          <a:p>
            <a:fld id="{9084F285-806C-43DF-89F6-4115B0B2C255}" type="slidenum">
              <a:rPr lang="it-IT" smtClean="0"/>
              <a:t>9</a:t>
            </a:fld>
            <a:endParaRPr lang="it-IT"/>
          </a:p>
        </p:txBody>
      </p:sp>
    </p:spTree>
    <p:extLst>
      <p:ext uri="{BB962C8B-B14F-4D97-AF65-F5344CB8AC3E}">
        <p14:creationId xmlns:p14="http://schemas.microsoft.com/office/powerpoint/2010/main" val="41117265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a:p>
        </p:txBody>
      </p:sp>
      <p:sp>
        <p:nvSpPr>
          <p:cNvPr id="4" name="Segnaposto numero diapositiva 3"/>
          <p:cNvSpPr>
            <a:spLocks noGrp="1"/>
          </p:cNvSpPr>
          <p:nvPr>
            <p:ph type="sldNum" sz="quarter" idx="5"/>
          </p:nvPr>
        </p:nvSpPr>
        <p:spPr/>
        <p:txBody>
          <a:bodyPr/>
          <a:lstStyle/>
          <a:p>
            <a:fld id="{9084F285-806C-43DF-89F6-4115B0B2C255}" type="slidenum">
              <a:rPr lang="it-IT" smtClean="0"/>
              <a:t>10</a:t>
            </a:fld>
            <a:endParaRPr lang="it-IT"/>
          </a:p>
        </p:txBody>
      </p:sp>
    </p:spTree>
    <p:extLst>
      <p:ext uri="{BB962C8B-B14F-4D97-AF65-F5344CB8AC3E}">
        <p14:creationId xmlns:p14="http://schemas.microsoft.com/office/powerpoint/2010/main" val="28944961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a:p>
        </p:txBody>
      </p:sp>
      <p:sp>
        <p:nvSpPr>
          <p:cNvPr id="4" name="Segnaposto numero diapositiva 3"/>
          <p:cNvSpPr>
            <a:spLocks noGrp="1"/>
          </p:cNvSpPr>
          <p:nvPr>
            <p:ph type="sldNum" sz="quarter" idx="5"/>
          </p:nvPr>
        </p:nvSpPr>
        <p:spPr/>
        <p:txBody>
          <a:bodyPr/>
          <a:lstStyle/>
          <a:p>
            <a:fld id="{9084F285-806C-43DF-89F6-4115B0B2C255}" type="slidenum">
              <a:rPr lang="it-IT" smtClean="0"/>
              <a:t>11</a:t>
            </a:fld>
            <a:endParaRPr lang="it-IT"/>
          </a:p>
        </p:txBody>
      </p:sp>
    </p:spTree>
    <p:extLst>
      <p:ext uri="{BB962C8B-B14F-4D97-AF65-F5344CB8AC3E}">
        <p14:creationId xmlns:p14="http://schemas.microsoft.com/office/powerpoint/2010/main" val="6035152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D446519-13D5-4884-84A4-3A33E1918260}"/>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C0D0E337-EDC0-4E9C-A1D3-94EA548A5F1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78417BC4-377C-427B-B112-35E2447F2E8D}"/>
              </a:ext>
            </a:extLst>
          </p:cNvPr>
          <p:cNvSpPr>
            <a:spLocks noGrp="1"/>
          </p:cNvSpPr>
          <p:nvPr>
            <p:ph type="dt" sz="half" idx="10"/>
          </p:nvPr>
        </p:nvSpPr>
        <p:spPr/>
        <p:txBody>
          <a:bodyPr/>
          <a:lstStyle/>
          <a:p>
            <a:fld id="{86D45DC9-5281-4DEE-A5CD-6462B034A545}" type="datetimeFigureOut">
              <a:rPr lang="it-IT" smtClean="0"/>
              <a:t>22/04/2025</a:t>
            </a:fld>
            <a:endParaRPr lang="it-IT"/>
          </a:p>
        </p:txBody>
      </p:sp>
      <p:sp>
        <p:nvSpPr>
          <p:cNvPr id="5" name="Segnaposto piè di pagina 4">
            <a:extLst>
              <a:ext uri="{FF2B5EF4-FFF2-40B4-BE49-F238E27FC236}">
                <a16:creationId xmlns:a16="http://schemas.microsoft.com/office/drawing/2014/main" id="{8CD31594-C4C0-4CF5-A601-01FA2DDCC35D}"/>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A78299FB-CC2F-4EF4-BBBB-F87508400BAD}"/>
              </a:ext>
            </a:extLst>
          </p:cNvPr>
          <p:cNvSpPr>
            <a:spLocks noGrp="1"/>
          </p:cNvSpPr>
          <p:nvPr>
            <p:ph type="sldNum" sz="quarter" idx="12"/>
          </p:nvPr>
        </p:nvSpPr>
        <p:spPr/>
        <p:txBody>
          <a:bodyPr/>
          <a:lstStyle/>
          <a:p>
            <a:fld id="{7DAD75E8-EAE7-4C65-9B40-E1755366FF23}" type="slidenum">
              <a:rPr lang="it-IT" smtClean="0"/>
              <a:t>‹N›</a:t>
            </a:fld>
            <a:endParaRPr lang="it-IT"/>
          </a:p>
        </p:txBody>
      </p:sp>
    </p:spTree>
    <p:extLst>
      <p:ext uri="{BB962C8B-B14F-4D97-AF65-F5344CB8AC3E}">
        <p14:creationId xmlns:p14="http://schemas.microsoft.com/office/powerpoint/2010/main" val="8474684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CCE4A19-46DE-442B-A6AA-B202DB398A62}"/>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C5AE6EB2-E993-426A-B70F-2E633565BD29}"/>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F3B2EA4B-9B0D-40EC-9B80-AE2538F3BDDF}"/>
              </a:ext>
            </a:extLst>
          </p:cNvPr>
          <p:cNvSpPr>
            <a:spLocks noGrp="1"/>
          </p:cNvSpPr>
          <p:nvPr>
            <p:ph type="dt" sz="half" idx="10"/>
          </p:nvPr>
        </p:nvSpPr>
        <p:spPr/>
        <p:txBody>
          <a:bodyPr/>
          <a:lstStyle/>
          <a:p>
            <a:fld id="{86D45DC9-5281-4DEE-A5CD-6462B034A545}" type="datetimeFigureOut">
              <a:rPr lang="it-IT" smtClean="0"/>
              <a:t>22/04/2025</a:t>
            </a:fld>
            <a:endParaRPr lang="it-IT"/>
          </a:p>
        </p:txBody>
      </p:sp>
      <p:sp>
        <p:nvSpPr>
          <p:cNvPr id="5" name="Segnaposto piè di pagina 4">
            <a:extLst>
              <a:ext uri="{FF2B5EF4-FFF2-40B4-BE49-F238E27FC236}">
                <a16:creationId xmlns:a16="http://schemas.microsoft.com/office/drawing/2014/main" id="{2376771B-C7D2-4F64-9FFE-E586A2FC6A00}"/>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BA1AD0AD-40B9-4253-8801-F4688FCC1F42}"/>
              </a:ext>
            </a:extLst>
          </p:cNvPr>
          <p:cNvSpPr>
            <a:spLocks noGrp="1"/>
          </p:cNvSpPr>
          <p:nvPr>
            <p:ph type="sldNum" sz="quarter" idx="12"/>
          </p:nvPr>
        </p:nvSpPr>
        <p:spPr/>
        <p:txBody>
          <a:bodyPr/>
          <a:lstStyle/>
          <a:p>
            <a:fld id="{7DAD75E8-EAE7-4C65-9B40-E1755366FF23}" type="slidenum">
              <a:rPr lang="it-IT" smtClean="0"/>
              <a:t>‹N›</a:t>
            </a:fld>
            <a:endParaRPr lang="it-IT"/>
          </a:p>
        </p:txBody>
      </p:sp>
    </p:spTree>
    <p:extLst>
      <p:ext uri="{BB962C8B-B14F-4D97-AF65-F5344CB8AC3E}">
        <p14:creationId xmlns:p14="http://schemas.microsoft.com/office/powerpoint/2010/main" val="8149177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3600786-15AB-409C-928A-CFEEC3F3E585}"/>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D4F5E438-C188-4B36-9C5A-000F11B1E28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7036EE7F-5692-4973-944E-1E4C0447D99E}"/>
              </a:ext>
            </a:extLst>
          </p:cNvPr>
          <p:cNvSpPr>
            <a:spLocks noGrp="1"/>
          </p:cNvSpPr>
          <p:nvPr>
            <p:ph type="dt" sz="half" idx="10"/>
          </p:nvPr>
        </p:nvSpPr>
        <p:spPr/>
        <p:txBody>
          <a:bodyPr/>
          <a:lstStyle/>
          <a:p>
            <a:fld id="{86D45DC9-5281-4DEE-A5CD-6462B034A545}" type="datetimeFigureOut">
              <a:rPr lang="it-IT" smtClean="0"/>
              <a:t>22/04/2025</a:t>
            </a:fld>
            <a:endParaRPr lang="it-IT"/>
          </a:p>
        </p:txBody>
      </p:sp>
      <p:sp>
        <p:nvSpPr>
          <p:cNvPr id="5" name="Segnaposto piè di pagina 4">
            <a:extLst>
              <a:ext uri="{FF2B5EF4-FFF2-40B4-BE49-F238E27FC236}">
                <a16:creationId xmlns:a16="http://schemas.microsoft.com/office/drawing/2014/main" id="{1AC9E2AD-95B7-4CEF-A2A0-8ECD464CC358}"/>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1750D9B9-6FB1-4B6A-993F-764FE0B237DD}"/>
              </a:ext>
            </a:extLst>
          </p:cNvPr>
          <p:cNvSpPr>
            <a:spLocks noGrp="1"/>
          </p:cNvSpPr>
          <p:nvPr>
            <p:ph type="sldNum" sz="quarter" idx="12"/>
          </p:nvPr>
        </p:nvSpPr>
        <p:spPr/>
        <p:txBody>
          <a:bodyPr/>
          <a:lstStyle/>
          <a:p>
            <a:fld id="{7DAD75E8-EAE7-4C65-9B40-E1755366FF23}" type="slidenum">
              <a:rPr lang="it-IT" smtClean="0"/>
              <a:t>‹N›</a:t>
            </a:fld>
            <a:endParaRPr lang="it-IT"/>
          </a:p>
        </p:txBody>
      </p:sp>
    </p:spTree>
    <p:extLst>
      <p:ext uri="{BB962C8B-B14F-4D97-AF65-F5344CB8AC3E}">
        <p14:creationId xmlns:p14="http://schemas.microsoft.com/office/powerpoint/2010/main" val="3010359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95CD428-BBB6-4265-9461-B843252651D2}"/>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A8CDDC0E-78D6-4D8A-A979-3FFC5183E591}"/>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D0C13FA6-B1ED-401F-A603-D73B658727E6}"/>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595944E6-2C26-4A85-96F3-2B1816BDC91A}"/>
              </a:ext>
            </a:extLst>
          </p:cNvPr>
          <p:cNvSpPr>
            <a:spLocks noGrp="1"/>
          </p:cNvSpPr>
          <p:nvPr>
            <p:ph type="dt" sz="half" idx="10"/>
          </p:nvPr>
        </p:nvSpPr>
        <p:spPr/>
        <p:txBody>
          <a:bodyPr/>
          <a:lstStyle/>
          <a:p>
            <a:fld id="{86D45DC9-5281-4DEE-A5CD-6462B034A545}" type="datetimeFigureOut">
              <a:rPr lang="it-IT" smtClean="0"/>
              <a:t>22/04/2025</a:t>
            </a:fld>
            <a:endParaRPr lang="it-IT"/>
          </a:p>
        </p:txBody>
      </p:sp>
      <p:sp>
        <p:nvSpPr>
          <p:cNvPr id="6" name="Segnaposto piè di pagina 5">
            <a:extLst>
              <a:ext uri="{FF2B5EF4-FFF2-40B4-BE49-F238E27FC236}">
                <a16:creationId xmlns:a16="http://schemas.microsoft.com/office/drawing/2014/main" id="{BC7430DF-C25A-4701-AFD5-7BFF0792B225}"/>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BBCB02DB-543A-4F55-9287-70A40327A6C3}"/>
              </a:ext>
            </a:extLst>
          </p:cNvPr>
          <p:cNvSpPr>
            <a:spLocks noGrp="1"/>
          </p:cNvSpPr>
          <p:nvPr>
            <p:ph type="sldNum" sz="quarter" idx="12"/>
          </p:nvPr>
        </p:nvSpPr>
        <p:spPr/>
        <p:txBody>
          <a:bodyPr/>
          <a:lstStyle/>
          <a:p>
            <a:fld id="{7DAD75E8-EAE7-4C65-9B40-E1755366FF23}" type="slidenum">
              <a:rPr lang="it-IT" smtClean="0"/>
              <a:t>‹N›</a:t>
            </a:fld>
            <a:endParaRPr lang="it-IT"/>
          </a:p>
        </p:txBody>
      </p:sp>
    </p:spTree>
    <p:extLst>
      <p:ext uri="{BB962C8B-B14F-4D97-AF65-F5344CB8AC3E}">
        <p14:creationId xmlns:p14="http://schemas.microsoft.com/office/powerpoint/2010/main" val="36693098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C09CD75-847B-4CC7-98D5-90EFBCF00DA8}"/>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28963DC3-05E2-4A1C-82CC-F5E2D9AD774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AFB3C1BB-E347-467A-9AE7-B8D07909EC4E}"/>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D485BEA7-92D9-40E7-90D2-9866D2DBD08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9731898C-E60D-4E13-98AD-894F070E817E}"/>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87063578-0111-4405-9077-69CDB5759A52}"/>
              </a:ext>
            </a:extLst>
          </p:cNvPr>
          <p:cNvSpPr>
            <a:spLocks noGrp="1"/>
          </p:cNvSpPr>
          <p:nvPr>
            <p:ph type="dt" sz="half" idx="10"/>
          </p:nvPr>
        </p:nvSpPr>
        <p:spPr/>
        <p:txBody>
          <a:bodyPr/>
          <a:lstStyle/>
          <a:p>
            <a:fld id="{86D45DC9-5281-4DEE-A5CD-6462B034A545}" type="datetimeFigureOut">
              <a:rPr lang="it-IT" smtClean="0"/>
              <a:t>22/04/2025</a:t>
            </a:fld>
            <a:endParaRPr lang="it-IT"/>
          </a:p>
        </p:txBody>
      </p:sp>
      <p:sp>
        <p:nvSpPr>
          <p:cNvPr id="8" name="Segnaposto piè di pagina 7">
            <a:extLst>
              <a:ext uri="{FF2B5EF4-FFF2-40B4-BE49-F238E27FC236}">
                <a16:creationId xmlns:a16="http://schemas.microsoft.com/office/drawing/2014/main" id="{D9CCDE13-17B4-4AA5-80B9-162C8524A91B}"/>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E7733E2B-23C9-48B4-80C4-12B7C73A4155}"/>
              </a:ext>
            </a:extLst>
          </p:cNvPr>
          <p:cNvSpPr>
            <a:spLocks noGrp="1"/>
          </p:cNvSpPr>
          <p:nvPr>
            <p:ph type="sldNum" sz="quarter" idx="12"/>
          </p:nvPr>
        </p:nvSpPr>
        <p:spPr/>
        <p:txBody>
          <a:bodyPr/>
          <a:lstStyle/>
          <a:p>
            <a:fld id="{7DAD75E8-EAE7-4C65-9B40-E1755366FF23}" type="slidenum">
              <a:rPr lang="it-IT" smtClean="0"/>
              <a:t>‹N›</a:t>
            </a:fld>
            <a:endParaRPr lang="it-IT"/>
          </a:p>
        </p:txBody>
      </p:sp>
    </p:spTree>
    <p:extLst>
      <p:ext uri="{BB962C8B-B14F-4D97-AF65-F5344CB8AC3E}">
        <p14:creationId xmlns:p14="http://schemas.microsoft.com/office/powerpoint/2010/main" val="21138128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B288752-F6B9-408C-92E7-5E5F99DFDAD6}"/>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B98DAAB2-DB96-42B8-A7B6-15EDC6BC990B}"/>
              </a:ext>
            </a:extLst>
          </p:cNvPr>
          <p:cNvSpPr>
            <a:spLocks noGrp="1"/>
          </p:cNvSpPr>
          <p:nvPr>
            <p:ph type="dt" sz="half" idx="10"/>
          </p:nvPr>
        </p:nvSpPr>
        <p:spPr/>
        <p:txBody>
          <a:bodyPr/>
          <a:lstStyle/>
          <a:p>
            <a:fld id="{86D45DC9-5281-4DEE-A5CD-6462B034A545}" type="datetimeFigureOut">
              <a:rPr lang="it-IT" smtClean="0"/>
              <a:t>22/04/2025</a:t>
            </a:fld>
            <a:endParaRPr lang="it-IT"/>
          </a:p>
        </p:txBody>
      </p:sp>
      <p:sp>
        <p:nvSpPr>
          <p:cNvPr id="4" name="Segnaposto piè di pagina 3">
            <a:extLst>
              <a:ext uri="{FF2B5EF4-FFF2-40B4-BE49-F238E27FC236}">
                <a16:creationId xmlns:a16="http://schemas.microsoft.com/office/drawing/2014/main" id="{E745829E-7F4B-4E5D-90BD-9FAA3EA73537}"/>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E9B30A12-9231-4884-84D1-F93261B683A6}"/>
              </a:ext>
            </a:extLst>
          </p:cNvPr>
          <p:cNvSpPr>
            <a:spLocks noGrp="1"/>
          </p:cNvSpPr>
          <p:nvPr>
            <p:ph type="sldNum" sz="quarter" idx="12"/>
          </p:nvPr>
        </p:nvSpPr>
        <p:spPr/>
        <p:txBody>
          <a:bodyPr/>
          <a:lstStyle/>
          <a:p>
            <a:fld id="{7DAD75E8-EAE7-4C65-9B40-E1755366FF23}" type="slidenum">
              <a:rPr lang="it-IT" smtClean="0"/>
              <a:t>‹N›</a:t>
            </a:fld>
            <a:endParaRPr lang="it-IT"/>
          </a:p>
        </p:txBody>
      </p:sp>
    </p:spTree>
    <p:extLst>
      <p:ext uri="{BB962C8B-B14F-4D97-AF65-F5344CB8AC3E}">
        <p14:creationId xmlns:p14="http://schemas.microsoft.com/office/powerpoint/2010/main" val="42289831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ECD46795-7B2A-4929-9A9A-781BE18A171D}"/>
              </a:ext>
            </a:extLst>
          </p:cNvPr>
          <p:cNvSpPr>
            <a:spLocks noGrp="1"/>
          </p:cNvSpPr>
          <p:nvPr>
            <p:ph type="dt" sz="half" idx="10"/>
          </p:nvPr>
        </p:nvSpPr>
        <p:spPr/>
        <p:txBody>
          <a:bodyPr/>
          <a:lstStyle/>
          <a:p>
            <a:fld id="{86D45DC9-5281-4DEE-A5CD-6462B034A545}" type="datetimeFigureOut">
              <a:rPr lang="it-IT" smtClean="0"/>
              <a:t>22/04/2025</a:t>
            </a:fld>
            <a:endParaRPr lang="it-IT"/>
          </a:p>
        </p:txBody>
      </p:sp>
      <p:sp>
        <p:nvSpPr>
          <p:cNvPr id="3" name="Segnaposto piè di pagina 2">
            <a:extLst>
              <a:ext uri="{FF2B5EF4-FFF2-40B4-BE49-F238E27FC236}">
                <a16:creationId xmlns:a16="http://schemas.microsoft.com/office/drawing/2014/main" id="{812F6EDC-A8CA-448B-BDCD-DBBB4D47FCF7}"/>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48C9B685-D8C3-4F22-A1FD-E0D66C1B9F07}"/>
              </a:ext>
            </a:extLst>
          </p:cNvPr>
          <p:cNvSpPr>
            <a:spLocks noGrp="1"/>
          </p:cNvSpPr>
          <p:nvPr>
            <p:ph type="sldNum" sz="quarter" idx="12"/>
          </p:nvPr>
        </p:nvSpPr>
        <p:spPr/>
        <p:txBody>
          <a:bodyPr/>
          <a:lstStyle/>
          <a:p>
            <a:fld id="{7DAD75E8-EAE7-4C65-9B40-E1755366FF23}" type="slidenum">
              <a:rPr lang="it-IT" smtClean="0"/>
              <a:t>‹N›</a:t>
            </a:fld>
            <a:endParaRPr lang="it-IT"/>
          </a:p>
        </p:txBody>
      </p:sp>
    </p:spTree>
    <p:extLst>
      <p:ext uri="{BB962C8B-B14F-4D97-AF65-F5344CB8AC3E}">
        <p14:creationId xmlns:p14="http://schemas.microsoft.com/office/powerpoint/2010/main" val="39039772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0FA0B1E-52A0-4047-97E7-1F53EEBE987C}"/>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CA1516A3-B313-4CFC-B531-FEAB20270D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A70D4F59-A674-4E13-9736-88BCE1311D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ADA593A3-FBCE-4F96-B571-FE796BB1730F}"/>
              </a:ext>
            </a:extLst>
          </p:cNvPr>
          <p:cNvSpPr>
            <a:spLocks noGrp="1"/>
          </p:cNvSpPr>
          <p:nvPr>
            <p:ph type="dt" sz="half" idx="10"/>
          </p:nvPr>
        </p:nvSpPr>
        <p:spPr/>
        <p:txBody>
          <a:bodyPr/>
          <a:lstStyle/>
          <a:p>
            <a:fld id="{86D45DC9-5281-4DEE-A5CD-6462B034A545}" type="datetimeFigureOut">
              <a:rPr lang="it-IT" smtClean="0"/>
              <a:t>22/04/2025</a:t>
            </a:fld>
            <a:endParaRPr lang="it-IT"/>
          </a:p>
        </p:txBody>
      </p:sp>
      <p:sp>
        <p:nvSpPr>
          <p:cNvPr id="6" name="Segnaposto piè di pagina 5">
            <a:extLst>
              <a:ext uri="{FF2B5EF4-FFF2-40B4-BE49-F238E27FC236}">
                <a16:creationId xmlns:a16="http://schemas.microsoft.com/office/drawing/2014/main" id="{ED055B56-3418-488C-A7CA-6D3C98CA92A8}"/>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55C690B0-FDE3-4FCE-B1C3-FE9F531A3255}"/>
              </a:ext>
            </a:extLst>
          </p:cNvPr>
          <p:cNvSpPr>
            <a:spLocks noGrp="1"/>
          </p:cNvSpPr>
          <p:nvPr>
            <p:ph type="sldNum" sz="quarter" idx="12"/>
          </p:nvPr>
        </p:nvSpPr>
        <p:spPr/>
        <p:txBody>
          <a:bodyPr/>
          <a:lstStyle/>
          <a:p>
            <a:fld id="{7DAD75E8-EAE7-4C65-9B40-E1755366FF23}" type="slidenum">
              <a:rPr lang="it-IT" smtClean="0"/>
              <a:t>‹N›</a:t>
            </a:fld>
            <a:endParaRPr lang="it-IT"/>
          </a:p>
        </p:txBody>
      </p:sp>
    </p:spTree>
    <p:extLst>
      <p:ext uri="{BB962C8B-B14F-4D97-AF65-F5344CB8AC3E}">
        <p14:creationId xmlns:p14="http://schemas.microsoft.com/office/powerpoint/2010/main" val="1862710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194B98D-8A01-46D7-B702-6F9CDA2B7F37}"/>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6F7D85DF-B790-47DB-8321-506E268AADA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664EC72F-8897-461F-811F-9AA64575C1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B66AAFC4-D7C9-4628-9EE8-ABF321C627B6}"/>
              </a:ext>
            </a:extLst>
          </p:cNvPr>
          <p:cNvSpPr>
            <a:spLocks noGrp="1"/>
          </p:cNvSpPr>
          <p:nvPr>
            <p:ph type="dt" sz="half" idx="10"/>
          </p:nvPr>
        </p:nvSpPr>
        <p:spPr/>
        <p:txBody>
          <a:bodyPr/>
          <a:lstStyle/>
          <a:p>
            <a:fld id="{86D45DC9-5281-4DEE-A5CD-6462B034A545}" type="datetimeFigureOut">
              <a:rPr lang="it-IT" smtClean="0"/>
              <a:t>22/04/2025</a:t>
            </a:fld>
            <a:endParaRPr lang="it-IT"/>
          </a:p>
        </p:txBody>
      </p:sp>
      <p:sp>
        <p:nvSpPr>
          <p:cNvPr id="6" name="Segnaposto piè di pagina 5">
            <a:extLst>
              <a:ext uri="{FF2B5EF4-FFF2-40B4-BE49-F238E27FC236}">
                <a16:creationId xmlns:a16="http://schemas.microsoft.com/office/drawing/2014/main" id="{0C8F943E-FF23-4807-9DDE-95F713B79865}"/>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BA23852A-6E18-4B55-975D-9A99F9863496}"/>
              </a:ext>
            </a:extLst>
          </p:cNvPr>
          <p:cNvSpPr>
            <a:spLocks noGrp="1"/>
          </p:cNvSpPr>
          <p:nvPr>
            <p:ph type="sldNum" sz="quarter" idx="12"/>
          </p:nvPr>
        </p:nvSpPr>
        <p:spPr/>
        <p:txBody>
          <a:bodyPr/>
          <a:lstStyle/>
          <a:p>
            <a:fld id="{7DAD75E8-EAE7-4C65-9B40-E1755366FF23}" type="slidenum">
              <a:rPr lang="it-IT" smtClean="0"/>
              <a:t>‹N›</a:t>
            </a:fld>
            <a:endParaRPr lang="it-IT"/>
          </a:p>
        </p:txBody>
      </p:sp>
    </p:spTree>
    <p:extLst>
      <p:ext uri="{BB962C8B-B14F-4D97-AF65-F5344CB8AC3E}">
        <p14:creationId xmlns:p14="http://schemas.microsoft.com/office/powerpoint/2010/main" val="1883507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CD72C73-A051-47D2-A2A3-EFEC9CFF516E}"/>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BAF15E88-D512-416A-A8FD-4EB7958045C2}"/>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D9183EA7-2385-4128-812A-B41747CD2097}"/>
              </a:ext>
            </a:extLst>
          </p:cNvPr>
          <p:cNvSpPr>
            <a:spLocks noGrp="1"/>
          </p:cNvSpPr>
          <p:nvPr>
            <p:ph type="dt" sz="half" idx="10"/>
          </p:nvPr>
        </p:nvSpPr>
        <p:spPr/>
        <p:txBody>
          <a:bodyPr/>
          <a:lstStyle/>
          <a:p>
            <a:fld id="{86D45DC9-5281-4DEE-A5CD-6462B034A545}" type="datetimeFigureOut">
              <a:rPr lang="it-IT" smtClean="0"/>
              <a:t>22/04/2025</a:t>
            </a:fld>
            <a:endParaRPr lang="it-IT"/>
          </a:p>
        </p:txBody>
      </p:sp>
      <p:sp>
        <p:nvSpPr>
          <p:cNvPr id="5" name="Segnaposto piè di pagina 4">
            <a:extLst>
              <a:ext uri="{FF2B5EF4-FFF2-40B4-BE49-F238E27FC236}">
                <a16:creationId xmlns:a16="http://schemas.microsoft.com/office/drawing/2014/main" id="{80758F7F-A3CC-4B85-BD1A-BE3048FCA38A}"/>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4BBEFD00-1E3D-4AF6-BAE9-15BA26A8364B}"/>
              </a:ext>
            </a:extLst>
          </p:cNvPr>
          <p:cNvSpPr>
            <a:spLocks noGrp="1"/>
          </p:cNvSpPr>
          <p:nvPr>
            <p:ph type="sldNum" sz="quarter" idx="12"/>
          </p:nvPr>
        </p:nvSpPr>
        <p:spPr/>
        <p:txBody>
          <a:bodyPr/>
          <a:lstStyle/>
          <a:p>
            <a:fld id="{7DAD75E8-EAE7-4C65-9B40-E1755366FF23}" type="slidenum">
              <a:rPr lang="it-IT" smtClean="0"/>
              <a:t>‹N›</a:t>
            </a:fld>
            <a:endParaRPr lang="it-IT"/>
          </a:p>
        </p:txBody>
      </p:sp>
    </p:spTree>
    <p:extLst>
      <p:ext uri="{BB962C8B-B14F-4D97-AF65-F5344CB8AC3E}">
        <p14:creationId xmlns:p14="http://schemas.microsoft.com/office/powerpoint/2010/main" val="17434855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508D0B18-EC89-4E2D-A279-786C8F34E624}"/>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D9D73303-50CC-40AF-8B63-F44F0E5A8379}"/>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EE0F0D97-BD90-4A17-9516-12642F5FF80B}"/>
              </a:ext>
            </a:extLst>
          </p:cNvPr>
          <p:cNvSpPr>
            <a:spLocks noGrp="1"/>
          </p:cNvSpPr>
          <p:nvPr>
            <p:ph type="dt" sz="half" idx="10"/>
          </p:nvPr>
        </p:nvSpPr>
        <p:spPr/>
        <p:txBody>
          <a:bodyPr/>
          <a:lstStyle/>
          <a:p>
            <a:fld id="{86D45DC9-5281-4DEE-A5CD-6462B034A545}" type="datetimeFigureOut">
              <a:rPr lang="it-IT" smtClean="0"/>
              <a:t>22/04/2025</a:t>
            </a:fld>
            <a:endParaRPr lang="it-IT"/>
          </a:p>
        </p:txBody>
      </p:sp>
      <p:sp>
        <p:nvSpPr>
          <p:cNvPr id="5" name="Segnaposto piè di pagina 4">
            <a:extLst>
              <a:ext uri="{FF2B5EF4-FFF2-40B4-BE49-F238E27FC236}">
                <a16:creationId xmlns:a16="http://schemas.microsoft.com/office/drawing/2014/main" id="{EE9FCFD0-632A-4C99-BC45-EBB3D1F53026}"/>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D7475843-3FB4-4513-9F2E-98CEC9D583FB}"/>
              </a:ext>
            </a:extLst>
          </p:cNvPr>
          <p:cNvSpPr>
            <a:spLocks noGrp="1"/>
          </p:cNvSpPr>
          <p:nvPr>
            <p:ph type="sldNum" sz="quarter" idx="12"/>
          </p:nvPr>
        </p:nvSpPr>
        <p:spPr/>
        <p:txBody>
          <a:bodyPr/>
          <a:lstStyle/>
          <a:p>
            <a:fld id="{7DAD75E8-EAE7-4C65-9B40-E1755366FF23}" type="slidenum">
              <a:rPr lang="it-IT" smtClean="0"/>
              <a:t>‹N›</a:t>
            </a:fld>
            <a:endParaRPr lang="it-IT"/>
          </a:p>
        </p:txBody>
      </p:sp>
    </p:spTree>
    <p:extLst>
      <p:ext uri="{BB962C8B-B14F-4D97-AF65-F5344CB8AC3E}">
        <p14:creationId xmlns:p14="http://schemas.microsoft.com/office/powerpoint/2010/main" val="38393279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3C6A6002-C045-4CF7-8E2D-3433447916C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B612EF25-237A-4AA7-BB17-29A13301DF7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C2B58383-3AC8-42F3-8D22-7EF5426F2D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D45DC9-5281-4DEE-A5CD-6462B034A545}" type="datetimeFigureOut">
              <a:rPr lang="it-IT" smtClean="0"/>
              <a:t>22/04/2025</a:t>
            </a:fld>
            <a:endParaRPr lang="it-IT"/>
          </a:p>
        </p:txBody>
      </p:sp>
      <p:sp>
        <p:nvSpPr>
          <p:cNvPr id="5" name="Segnaposto piè di pagina 4">
            <a:extLst>
              <a:ext uri="{FF2B5EF4-FFF2-40B4-BE49-F238E27FC236}">
                <a16:creationId xmlns:a16="http://schemas.microsoft.com/office/drawing/2014/main" id="{D4E6FA0B-C4BF-4675-AB91-806A593DC4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a:extLst>
              <a:ext uri="{FF2B5EF4-FFF2-40B4-BE49-F238E27FC236}">
                <a16:creationId xmlns:a16="http://schemas.microsoft.com/office/drawing/2014/main" id="{9B9B8996-4831-40BC-AD13-66638A2717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DAD75E8-EAE7-4C65-9B40-E1755366FF23}" type="slidenum">
              <a:rPr lang="it-IT" smtClean="0"/>
              <a:t>‹N›</a:t>
            </a:fld>
            <a:endParaRPr lang="it-IT"/>
          </a:p>
        </p:txBody>
      </p:sp>
    </p:spTree>
    <p:extLst>
      <p:ext uri="{BB962C8B-B14F-4D97-AF65-F5344CB8AC3E}">
        <p14:creationId xmlns:p14="http://schemas.microsoft.com/office/powerpoint/2010/main" val="4896771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it.wikipedia.org/wiki/Transport_Layer_Security" TargetMode="External"/><Relationship Id="rId2" Type="http://schemas.openxmlformats.org/officeDocument/2006/relationships/hyperlink" Target="https://it.wikipedia.org/wiki/StartTLS" TargetMode="Externa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hyperlink" Target="https://it.wikipedia.org/wiki/Protocollo_di_rete" TargetMode="External"/><Relationship Id="rId7" Type="http://schemas.openxmlformats.org/officeDocument/2006/relationships/hyperlink" Target="https://it.wikipedia.org/wiki/Protocollo_di_Needham-Schroeder"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hyperlink" Target="https://it.wikipedia.org/wiki/Sistema_client/server" TargetMode="External"/><Relationship Id="rId5" Type="http://schemas.openxmlformats.org/officeDocument/2006/relationships/hyperlink" Target="https://it.wikipedia.org/wiki/Crittografia" TargetMode="External"/><Relationship Id="rId4" Type="http://schemas.openxmlformats.org/officeDocument/2006/relationships/hyperlink" Target="https://it.wikipedia.org/wiki/Autenticazione"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it.wikipedia.org/wiki/Kerberos"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hyperlink" Target="https://it.wikipedia.org/wiki/Indirizzo_IP" TargetMode="External"/><Relationship Id="rId4" Type="http://schemas.openxmlformats.org/officeDocument/2006/relationships/hyperlink" Target="https://it.wikipedia.org/wiki/Microsoft" TargetMode="Externa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CF182F1-F1E6-463E-86D5-96B03959E684}"/>
              </a:ext>
            </a:extLst>
          </p:cNvPr>
          <p:cNvSpPr>
            <a:spLocks noGrp="1"/>
          </p:cNvSpPr>
          <p:nvPr>
            <p:ph type="title"/>
          </p:nvPr>
        </p:nvSpPr>
        <p:spPr>
          <a:xfrm>
            <a:off x="742950" y="66992"/>
            <a:ext cx="10515600" cy="1325563"/>
          </a:xfrm>
        </p:spPr>
        <p:txBody>
          <a:bodyPr/>
          <a:lstStyle/>
          <a:p>
            <a:r>
              <a:rPr lang="it-IT" sz="4400" b="1" kern="0" dirty="0">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rPr>
              <a:t>Argomenti trattati</a:t>
            </a:r>
            <a:endParaRPr lang="it-IT" dirty="0"/>
          </a:p>
        </p:txBody>
      </p:sp>
      <p:sp>
        <p:nvSpPr>
          <p:cNvPr id="3" name="Segnaposto contenuto 2">
            <a:extLst>
              <a:ext uri="{FF2B5EF4-FFF2-40B4-BE49-F238E27FC236}">
                <a16:creationId xmlns:a16="http://schemas.microsoft.com/office/drawing/2014/main" id="{0C1F35BD-E754-4FFC-8C60-E30B2D2DE88E}"/>
              </a:ext>
            </a:extLst>
          </p:cNvPr>
          <p:cNvSpPr>
            <a:spLocks noGrp="1"/>
          </p:cNvSpPr>
          <p:nvPr>
            <p:ph idx="1"/>
          </p:nvPr>
        </p:nvSpPr>
        <p:spPr>
          <a:xfrm>
            <a:off x="742950" y="1377949"/>
            <a:ext cx="10515600" cy="5114925"/>
          </a:xfrm>
        </p:spPr>
        <p:txBody>
          <a:bodyPr>
            <a:normAutofit/>
          </a:bodyPr>
          <a:lstStyle/>
          <a:p>
            <a:r>
              <a:rPr lang="it-IT" dirty="0"/>
              <a:t>Active Directory</a:t>
            </a:r>
          </a:p>
          <a:p>
            <a:pPr lvl="1"/>
            <a:r>
              <a:rPr lang="it-IT" dirty="0" err="1"/>
              <a:t>Ldap</a:t>
            </a:r>
            <a:endParaRPr lang="it-IT" dirty="0"/>
          </a:p>
          <a:p>
            <a:pPr lvl="1"/>
            <a:r>
              <a:rPr lang="it-IT" dirty="0" err="1"/>
              <a:t>Kerberous</a:t>
            </a:r>
            <a:endParaRPr lang="it-IT" dirty="0"/>
          </a:p>
          <a:p>
            <a:pPr lvl="1"/>
            <a:r>
              <a:rPr lang="it-IT" dirty="0"/>
              <a:t>Radius </a:t>
            </a:r>
          </a:p>
          <a:p>
            <a:r>
              <a:rPr lang="it-IT" dirty="0" err="1"/>
              <a:t>Proxmox</a:t>
            </a:r>
            <a:endParaRPr lang="it-IT" dirty="0"/>
          </a:p>
          <a:p>
            <a:pPr lvl="1"/>
            <a:r>
              <a:rPr lang="it-IT" dirty="0"/>
              <a:t>Container</a:t>
            </a:r>
          </a:p>
          <a:p>
            <a:pPr lvl="1"/>
            <a:r>
              <a:rPr lang="it-IT" dirty="0"/>
              <a:t>LXC</a:t>
            </a:r>
          </a:p>
          <a:p>
            <a:pPr lvl="1"/>
            <a:r>
              <a:rPr lang="it-IT" dirty="0"/>
              <a:t>VM</a:t>
            </a:r>
          </a:p>
          <a:p>
            <a:pPr lvl="1"/>
            <a:r>
              <a:rPr lang="it-IT" dirty="0" err="1"/>
              <a:t>Qemu</a:t>
            </a:r>
            <a:endParaRPr lang="it-IT" dirty="0"/>
          </a:p>
          <a:p>
            <a:pPr lvl="1"/>
            <a:r>
              <a:rPr lang="it-IT" dirty="0"/>
              <a:t>KVM</a:t>
            </a:r>
          </a:p>
          <a:p>
            <a:pPr lvl="1"/>
            <a:r>
              <a:rPr lang="it-IT" dirty="0" err="1"/>
              <a:t>iSCSI</a:t>
            </a:r>
            <a:endParaRPr lang="it-IT" dirty="0"/>
          </a:p>
          <a:p>
            <a:pPr lvl="1"/>
            <a:r>
              <a:rPr lang="it-IT" dirty="0"/>
              <a:t>NFS</a:t>
            </a:r>
          </a:p>
        </p:txBody>
      </p:sp>
    </p:spTree>
    <p:extLst>
      <p:ext uri="{BB962C8B-B14F-4D97-AF65-F5344CB8AC3E}">
        <p14:creationId xmlns:p14="http://schemas.microsoft.com/office/powerpoint/2010/main" val="42222821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CF182F1-F1E6-463E-86D5-96B03959E684}"/>
              </a:ext>
            </a:extLst>
          </p:cNvPr>
          <p:cNvSpPr>
            <a:spLocks noGrp="1"/>
          </p:cNvSpPr>
          <p:nvPr>
            <p:ph type="title"/>
          </p:nvPr>
        </p:nvSpPr>
        <p:spPr>
          <a:xfrm>
            <a:off x="742950" y="66992"/>
            <a:ext cx="10515600" cy="1325563"/>
          </a:xfrm>
        </p:spPr>
        <p:txBody>
          <a:bodyPr/>
          <a:lstStyle/>
          <a:p>
            <a:r>
              <a:rPr lang="it-IT" sz="4400" b="1" kern="0" dirty="0">
                <a:solidFill>
                  <a:srgbClr val="2E74B5"/>
                </a:solidFill>
                <a:effectLst/>
                <a:latin typeface="Calibri Light" panose="020F0302020204030204" pitchFamily="34" charset="0"/>
                <a:ea typeface="Times New Roman" panose="02020603050405020304" pitchFamily="18" charset="0"/>
                <a:cs typeface="Times New Roman" panose="02020603050405020304" pitchFamily="18" charset="0"/>
              </a:rPr>
              <a:t>Active Directory </a:t>
            </a:r>
            <a:endParaRPr lang="it-IT" dirty="0"/>
          </a:p>
        </p:txBody>
      </p:sp>
      <p:sp>
        <p:nvSpPr>
          <p:cNvPr id="3" name="Segnaposto contenuto 2">
            <a:extLst>
              <a:ext uri="{FF2B5EF4-FFF2-40B4-BE49-F238E27FC236}">
                <a16:creationId xmlns:a16="http://schemas.microsoft.com/office/drawing/2014/main" id="{0C1F35BD-E754-4FFC-8C60-E30B2D2DE88E}"/>
              </a:ext>
            </a:extLst>
          </p:cNvPr>
          <p:cNvSpPr>
            <a:spLocks noGrp="1"/>
          </p:cNvSpPr>
          <p:nvPr>
            <p:ph idx="1"/>
          </p:nvPr>
        </p:nvSpPr>
        <p:spPr>
          <a:xfrm>
            <a:off x="742950" y="1377949"/>
            <a:ext cx="10515600" cy="5114925"/>
          </a:xfrm>
        </p:spPr>
        <p:txBody>
          <a:bodyPr>
            <a:normAutofit fontScale="25000" lnSpcReduction="20000"/>
          </a:bodyPr>
          <a:lstStyle/>
          <a:p>
            <a:pPr>
              <a:lnSpc>
                <a:spcPct val="107000"/>
              </a:lnSpc>
              <a:spcAft>
                <a:spcPts val="800"/>
              </a:spcAft>
            </a:pPr>
            <a:r>
              <a:rPr lang="it-IT" sz="6400" dirty="0">
                <a:effectLst/>
                <a:latin typeface="Calibri" panose="020F0502020204030204" pitchFamily="34" charset="0"/>
                <a:ea typeface="Calibri" panose="020F0502020204030204" pitchFamily="34" charset="0"/>
                <a:cs typeface="Times New Roman" panose="02020603050405020304" pitchFamily="18" charset="0"/>
              </a:rPr>
              <a:t>Servizio che permette di centralizzare e gestire informazioni e risorse  (utenti, computer, stampanti, …)</a:t>
            </a:r>
          </a:p>
          <a:p>
            <a:pPr>
              <a:lnSpc>
                <a:spcPct val="107000"/>
              </a:lnSpc>
              <a:spcAft>
                <a:spcPts val="800"/>
              </a:spcAft>
            </a:pPr>
            <a:r>
              <a:rPr lang="en-US" sz="6400" dirty="0">
                <a:effectLst/>
                <a:latin typeface="Calibri" panose="020F0502020204030204" pitchFamily="34" charset="0"/>
                <a:ea typeface="Calibri" panose="020F0502020204030204" pitchFamily="34" charset="0"/>
                <a:cs typeface="Times New Roman" panose="02020603050405020304" pitchFamily="18" charset="0"/>
              </a:rPr>
              <a:t>Active Directory vs Workgroup</a:t>
            </a:r>
            <a:endParaRPr lang="it-IT" sz="6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US" sz="6400" dirty="0">
                <a:effectLst/>
                <a:latin typeface="Calibri" panose="020F0502020204030204" pitchFamily="34" charset="0"/>
                <a:ea typeface="Calibri" panose="020F0502020204030204" pitchFamily="34" charset="0"/>
                <a:cs typeface="Times New Roman" panose="02020603050405020304" pitchFamily="18" charset="0"/>
              </a:rPr>
              <a:t>Active directory è un servizio di Directory </a:t>
            </a:r>
            <a:r>
              <a:rPr lang="en-US" sz="6400" dirty="0" err="1">
                <a:effectLst/>
                <a:latin typeface="Calibri" panose="020F0502020204030204" pitchFamily="34" charset="0"/>
                <a:ea typeface="Calibri" panose="020F0502020204030204" pitchFamily="34" charset="0"/>
                <a:cs typeface="Times New Roman" panose="02020603050405020304" pitchFamily="18" charset="0"/>
              </a:rPr>
              <a:t>implementato</a:t>
            </a:r>
            <a:r>
              <a:rPr lang="en-US" sz="6400" dirty="0">
                <a:effectLst/>
                <a:latin typeface="Calibri" panose="020F0502020204030204" pitchFamily="34" charset="0"/>
                <a:ea typeface="Calibri" panose="020F0502020204030204" pitchFamily="34" charset="0"/>
                <a:cs typeface="Times New Roman" panose="02020603050405020304" pitchFamily="18" charset="0"/>
              </a:rPr>
              <a:t> da Microsoft con Windows 2000 Server.</a:t>
            </a:r>
            <a:endParaRPr lang="it-IT" sz="6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it-IT" sz="6400" dirty="0">
                <a:effectLst/>
                <a:latin typeface="Calibri" panose="020F0502020204030204" pitchFamily="34" charset="0"/>
                <a:ea typeface="Calibri" panose="020F0502020204030204" pitchFamily="34" charset="0"/>
                <a:cs typeface="Times New Roman" panose="02020603050405020304" pitchFamily="18" charset="0"/>
              </a:rPr>
              <a:t>Le risorse che tipicamente vengono memorizzate all’interno di Active Directory sono:</a:t>
            </a:r>
            <a:br>
              <a:rPr lang="it-IT" sz="6400" dirty="0">
                <a:effectLst/>
                <a:latin typeface="Calibri" panose="020F0502020204030204" pitchFamily="34" charset="0"/>
                <a:ea typeface="Calibri" panose="020F0502020204030204" pitchFamily="34" charset="0"/>
                <a:cs typeface="Times New Roman" panose="02020603050405020304" pitchFamily="18" charset="0"/>
              </a:rPr>
            </a:br>
            <a:r>
              <a:rPr lang="it-IT" sz="6400" dirty="0">
                <a:effectLst/>
                <a:latin typeface="Calibri" panose="020F0502020204030204" pitchFamily="34" charset="0"/>
                <a:ea typeface="Calibri" panose="020F0502020204030204" pitchFamily="34" charset="0"/>
                <a:cs typeface="Times New Roman" panose="02020603050405020304" pitchFamily="18" charset="0"/>
              </a:rPr>
              <a:t>- Account utente</a:t>
            </a:r>
            <a:br>
              <a:rPr lang="it-IT" sz="6400" dirty="0">
                <a:effectLst/>
                <a:latin typeface="Calibri" panose="020F0502020204030204" pitchFamily="34" charset="0"/>
                <a:ea typeface="Calibri" panose="020F0502020204030204" pitchFamily="34" charset="0"/>
                <a:cs typeface="Times New Roman" panose="02020603050405020304" pitchFamily="18" charset="0"/>
              </a:rPr>
            </a:br>
            <a:r>
              <a:rPr lang="it-IT" sz="6400" dirty="0">
                <a:effectLst/>
                <a:latin typeface="Calibri" panose="020F0502020204030204" pitchFamily="34" charset="0"/>
                <a:ea typeface="Calibri" panose="020F0502020204030204" pitchFamily="34" charset="0"/>
                <a:cs typeface="Times New Roman" panose="02020603050405020304" pitchFamily="18" charset="0"/>
              </a:rPr>
              <a:t>- Gruppi di utenti</a:t>
            </a:r>
            <a:br>
              <a:rPr lang="it-IT" sz="6400" dirty="0">
                <a:effectLst/>
                <a:latin typeface="Calibri" panose="020F0502020204030204" pitchFamily="34" charset="0"/>
                <a:ea typeface="Calibri" panose="020F0502020204030204" pitchFamily="34" charset="0"/>
                <a:cs typeface="Times New Roman" panose="02020603050405020304" pitchFamily="18" charset="0"/>
              </a:rPr>
            </a:br>
            <a:r>
              <a:rPr lang="it-IT" sz="6400" dirty="0">
                <a:effectLst/>
                <a:latin typeface="Calibri" panose="020F0502020204030204" pitchFamily="34" charset="0"/>
                <a:ea typeface="Calibri" panose="020F0502020204030204" pitchFamily="34" charset="0"/>
                <a:cs typeface="Times New Roman" panose="02020603050405020304" pitchFamily="18" charset="0"/>
              </a:rPr>
              <a:t>- Account computer</a:t>
            </a:r>
            <a:br>
              <a:rPr lang="it-IT" sz="6400" dirty="0">
                <a:effectLst/>
                <a:latin typeface="Calibri" panose="020F0502020204030204" pitchFamily="34" charset="0"/>
                <a:ea typeface="Calibri" panose="020F0502020204030204" pitchFamily="34" charset="0"/>
                <a:cs typeface="Times New Roman" panose="02020603050405020304" pitchFamily="18" charset="0"/>
              </a:rPr>
            </a:br>
            <a:r>
              <a:rPr lang="it-IT" sz="6400" dirty="0">
                <a:effectLst/>
                <a:latin typeface="Calibri" panose="020F0502020204030204" pitchFamily="34" charset="0"/>
                <a:ea typeface="Calibri" panose="020F0502020204030204" pitchFamily="34" charset="0"/>
                <a:cs typeface="Times New Roman" panose="02020603050405020304" pitchFamily="18" charset="0"/>
              </a:rPr>
              <a:t>- Cartelle condivise</a:t>
            </a:r>
            <a:br>
              <a:rPr lang="it-IT" sz="6400" dirty="0">
                <a:effectLst/>
                <a:latin typeface="Calibri" panose="020F0502020204030204" pitchFamily="34" charset="0"/>
                <a:ea typeface="Calibri" panose="020F0502020204030204" pitchFamily="34" charset="0"/>
                <a:cs typeface="Times New Roman" panose="02020603050405020304" pitchFamily="18" charset="0"/>
              </a:rPr>
            </a:br>
            <a:r>
              <a:rPr lang="it-IT" sz="6400" dirty="0">
                <a:effectLst/>
                <a:latin typeface="Calibri" panose="020F0502020204030204" pitchFamily="34" charset="0"/>
                <a:ea typeface="Calibri" panose="020F0502020204030204" pitchFamily="34" charset="0"/>
                <a:cs typeface="Times New Roman" panose="02020603050405020304" pitchFamily="18" charset="0"/>
              </a:rPr>
              <a:t>- Stampanti</a:t>
            </a:r>
            <a:br>
              <a:rPr lang="it-IT" sz="6400" dirty="0">
                <a:effectLst/>
                <a:latin typeface="Calibri" panose="020F0502020204030204" pitchFamily="34" charset="0"/>
                <a:ea typeface="Calibri" panose="020F0502020204030204" pitchFamily="34" charset="0"/>
                <a:cs typeface="Times New Roman" panose="02020603050405020304" pitchFamily="18" charset="0"/>
              </a:rPr>
            </a:br>
            <a:r>
              <a:rPr lang="it-IT" sz="6400" dirty="0">
                <a:effectLst/>
                <a:latin typeface="Calibri" panose="020F0502020204030204" pitchFamily="34" charset="0"/>
                <a:ea typeface="Calibri" panose="020F0502020204030204" pitchFamily="34" charset="0"/>
                <a:cs typeface="Times New Roman" panose="02020603050405020304" pitchFamily="18" charset="0"/>
              </a:rPr>
              <a:t>- Policy di sicurezza</a:t>
            </a:r>
            <a:br>
              <a:rPr lang="it-IT" sz="6400" dirty="0">
                <a:effectLst/>
                <a:latin typeface="Calibri" panose="020F0502020204030204" pitchFamily="34" charset="0"/>
                <a:ea typeface="Calibri" panose="020F0502020204030204" pitchFamily="34" charset="0"/>
                <a:cs typeface="Times New Roman" panose="02020603050405020304" pitchFamily="18" charset="0"/>
              </a:rPr>
            </a:br>
            <a:r>
              <a:rPr lang="it-IT" sz="6400" dirty="0">
                <a:effectLst/>
                <a:latin typeface="Calibri" panose="020F0502020204030204" pitchFamily="34" charset="0"/>
                <a:ea typeface="Calibri" panose="020F0502020204030204" pitchFamily="34" charset="0"/>
                <a:cs typeface="Times New Roman" panose="02020603050405020304" pitchFamily="18" charset="0"/>
              </a:rPr>
              <a:t>- Schema</a:t>
            </a:r>
          </a:p>
          <a:p>
            <a:pPr>
              <a:lnSpc>
                <a:spcPct val="107000"/>
              </a:lnSpc>
              <a:spcAft>
                <a:spcPts val="800"/>
              </a:spcAft>
            </a:pPr>
            <a:r>
              <a:rPr lang="it-IT" sz="6400" dirty="0">
                <a:effectLst/>
                <a:latin typeface="Calibri" panose="020F0502020204030204" pitchFamily="34" charset="0"/>
                <a:ea typeface="Calibri" panose="020F0502020204030204" pitchFamily="34" charset="0"/>
                <a:cs typeface="Times New Roman" panose="02020603050405020304" pitchFamily="18" charset="0"/>
              </a:rPr>
              <a:t>Active Directory è implementata tramite un insieme di servizi, ecco i principali:</a:t>
            </a:r>
            <a:br>
              <a:rPr lang="it-IT" sz="6400" dirty="0">
                <a:effectLst/>
                <a:latin typeface="Calibri" panose="020F0502020204030204" pitchFamily="34" charset="0"/>
                <a:ea typeface="Calibri" panose="020F0502020204030204" pitchFamily="34" charset="0"/>
                <a:cs typeface="Times New Roman" panose="02020603050405020304" pitchFamily="18" charset="0"/>
              </a:rPr>
            </a:br>
            <a:r>
              <a:rPr lang="it-IT" sz="6400" dirty="0">
                <a:effectLst/>
                <a:latin typeface="Calibri" panose="020F0502020204030204" pitchFamily="34" charset="0"/>
                <a:ea typeface="Calibri" panose="020F0502020204030204" pitchFamily="34" charset="0"/>
                <a:cs typeface="Times New Roman" panose="02020603050405020304" pitchFamily="18" charset="0"/>
              </a:rPr>
              <a:t>- LDAP: è il protocollo per accedere al database in cui vengono memorizzate le informazioni (</a:t>
            </a:r>
            <a:r>
              <a:rPr lang="it-IT" sz="6400" dirty="0" err="1">
                <a:effectLst/>
                <a:latin typeface="Calibri" panose="020F0502020204030204" pitchFamily="34" charset="0"/>
                <a:ea typeface="Calibri" panose="020F0502020204030204" pitchFamily="34" charset="0"/>
                <a:cs typeface="Times New Roman" panose="02020603050405020304" pitchFamily="18" charset="0"/>
              </a:rPr>
              <a:t>Lightweight_Directory_Access_Protocol</a:t>
            </a:r>
            <a:r>
              <a:rPr lang="it-IT" sz="6400" dirty="0">
                <a:effectLst/>
                <a:latin typeface="Calibri" panose="020F0502020204030204" pitchFamily="34" charset="0"/>
                <a:ea typeface="Calibri" panose="020F0502020204030204" pitchFamily="34" charset="0"/>
                <a:cs typeface="Times New Roman" panose="02020603050405020304" pitchFamily="18" charset="0"/>
              </a:rPr>
              <a:t>)</a:t>
            </a:r>
            <a:br>
              <a:rPr lang="it-IT" sz="6400" dirty="0">
                <a:effectLst/>
                <a:latin typeface="Calibri" panose="020F0502020204030204" pitchFamily="34" charset="0"/>
                <a:ea typeface="Calibri" panose="020F0502020204030204" pitchFamily="34" charset="0"/>
                <a:cs typeface="Times New Roman" panose="02020603050405020304" pitchFamily="18" charset="0"/>
              </a:rPr>
            </a:br>
            <a:r>
              <a:rPr lang="it-IT" sz="6400" dirty="0">
                <a:effectLst/>
                <a:latin typeface="Calibri" panose="020F0502020204030204" pitchFamily="34" charset="0"/>
                <a:ea typeface="Calibri" panose="020F0502020204030204" pitchFamily="34" charset="0"/>
                <a:cs typeface="Times New Roman" panose="02020603050405020304" pitchFamily="18" charset="0"/>
              </a:rPr>
              <a:t>- Kerberos : è un protocollo di rete che permette l’autenticazione tramite crittografia. Realizza inoltre il Single </a:t>
            </a:r>
            <a:r>
              <a:rPr lang="it-IT" sz="6400" dirty="0" err="1">
                <a:effectLst/>
                <a:latin typeface="Calibri" panose="020F0502020204030204" pitchFamily="34" charset="0"/>
                <a:ea typeface="Calibri" panose="020F0502020204030204" pitchFamily="34" charset="0"/>
                <a:cs typeface="Times New Roman" panose="02020603050405020304" pitchFamily="18" charset="0"/>
              </a:rPr>
              <a:t>Sign</a:t>
            </a:r>
            <a:r>
              <a:rPr lang="it-IT" sz="6400" dirty="0">
                <a:effectLst/>
                <a:latin typeface="Calibri" panose="020F0502020204030204" pitchFamily="34" charset="0"/>
                <a:ea typeface="Calibri" panose="020F0502020204030204" pitchFamily="34" charset="0"/>
                <a:cs typeface="Times New Roman" panose="02020603050405020304" pitchFamily="18" charset="0"/>
              </a:rPr>
              <a:t> On (SSO) dell’utente. L’utente si autentica una sola volta all’accesso ad un computer di Active Directory e poi le sue credenziali vengono usate per l’accesso ai servizi senza la necessità di </a:t>
            </a:r>
            <a:r>
              <a:rPr lang="it-IT" sz="6400" dirty="0" err="1">
                <a:effectLst/>
                <a:latin typeface="Calibri" panose="020F0502020204030204" pitchFamily="34" charset="0"/>
                <a:ea typeface="Calibri" panose="020F0502020204030204" pitchFamily="34" charset="0"/>
                <a:cs typeface="Times New Roman" panose="02020603050405020304" pitchFamily="18" charset="0"/>
              </a:rPr>
              <a:t>ri</a:t>
            </a:r>
            <a:r>
              <a:rPr lang="it-IT" sz="6400" dirty="0">
                <a:effectLst/>
                <a:latin typeface="Calibri" panose="020F0502020204030204" pitchFamily="34" charset="0"/>
                <a:ea typeface="Calibri" panose="020F0502020204030204" pitchFamily="34" charset="0"/>
                <a:cs typeface="Times New Roman" panose="02020603050405020304" pitchFamily="18" charset="0"/>
              </a:rPr>
              <a:t>-autenticarsi. </a:t>
            </a:r>
            <a:br>
              <a:rPr lang="it-IT" sz="6400" dirty="0">
                <a:effectLst/>
                <a:latin typeface="Calibri" panose="020F0502020204030204" pitchFamily="34" charset="0"/>
                <a:ea typeface="Calibri" panose="020F0502020204030204" pitchFamily="34" charset="0"/>
                <a:cs typeface="Times New Roman" panose="02020603050405020304" pitchFamily="18" charset="0"/>
              </a:rPr>
            </a:br>
            <a:r>
              <a:rPr lang="it-IT" sz="6400" dirty="0">
                <a:effectLst/>
                <a:latin typeface="Calibri" panose="020F0502020204030204" pitchFamily="34" charset="0"/>
                <a:ea typeface="Calibri" panose="020F0502020204030204" pitchFamily="34" charset="0"/>
                <a:cs typeface="Times New Roman" panose="02020603050405020304" pitchFamily="18" charset="0"/>
              </a:rPr>
              <a:t>- DNS: per la risoluzione dei nomi all’interno dell’Active Directory</a:t>
            </a:r>
            <a:br>
              <a:rPr lang="it-IT" sz="6400" dirty="0">
                <a:effectLst/>
                <a:latin typeface="Calibri" panose="020F0502020204030204" pitchFamily="34" charset="0"/>
                <a:ea typeface="Calibri" panose="020F0502020204030204" pitchFamily="34" charset="0"/>
                <a:cs typeface="Times New Roman" panose="02020603050405020304" pitchFamily="18" charset="0"/>
              </a:rPr>
            </a:br>
            <a:r>
              <a:rPr lang="it-IT" sz="6400" dirty="0">
                <a:effectLst/>
                <a:latin typeface="Calibri" panose="020F0502020204030204" pitchFamily="34" charset="0"/>
                <a:ea typeface="Calibri" panose="020F0502020204030204" pitchFamily="34" charset="0"/>
                <a:cs typeface="Times New Roman" panose="02020603050405020304" pitchFamily="18" charset="0"/>
              </a:rPr>
              <a:t>- NTP: sincronizzazione del time </a:t>
            </a:r>
          </a:p>
          <a:p>
            <a:endParaRPr lang="it-IT" dirty="0"/>
          </a:p>
        </p:txBody>
      </p:sp>
    </p:spTree>
    <p:extLst>
      <p:ext uri="{BB962C8B-B14F-4D97-AF65-F5344CB8AC3E}">
        <p14:creationId xmlns:p14="http://schemas.microsoft.com/office/powerpoint/2010/main" val="8569129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CF182F1-F1E6-463E-86D5-96B03959E684}"/>
              </a:ext>
            </a:extLst>
          </p:cNvPr>
          <p:cNvSpPr>
            <a:spLocks noGrp="1"/>
          </p:cNvSpPr>
          <p:nvPr>
            <p:ph type="title"/>
          </p:nvPr>
        </p:nvSpPr>
        <p:spPr/>
        <p:txBody>
          <a:bodyPr/>
          <a:lstStyle/>
          <a:p>
            <a:r>
              <a:rPr lang="it-IT" dirty="0">
                <a:solidFill>
                  <a:srgbClr val="0070C0"/>
                </a:solidFill>
                <a:effectLst/>
                <a:latin typeface="Coli"/>
                <a:ea typeface="Times New Roman" panose="02020603050405020304" pitchFamily="18" charset="0"/>
              </a:rPr>
              <a:t>La struttura logica di Active Directory 1/4</a:t>
            </a:r>
            <a:br>
              <a:rPr lang="it-IT" sz="1800" b="1" dirty="0">
                <a:effectLst/>
                <a:latin typeface="Times New Roman" panose="02020603050405020304" pitchFamily="18" charset="0"/>
                <a:ea typeface="Times New Roman" panose="02020603050405020304" pitchFamily="18" charset="0"/>
              </a:rPr>
            </a:br>
            <a:endParaRPr lang="it-IT" dirty="0"/>
          </a:p>
        </p:txBody>
      </p:sp>
      <p:sp>
        <p:nvSpPr>
          <p:cNvPr id="3" name="Segnaposto contenuto 2">
            <a:extLst>
              <a:ext uri="{FF2B5EF4-FFF2-40B4-BE49-F238E27FC236}">
                <a16:creationId xmlns:a16="http://schemas.microsoft.com/office/drawing/2014/main" id="{0C1F35BD-E754-4FFC-8C60-E30B2D2DE88E}"/>
              </a:ext>
            </a:extLst>
          </p:cNvPr>
          <p:cNvSpPr>
            <a:spLocks noGrp="1"/>
          </p:cNvSpPr>
          <p:nvPr>
            <p:ph idx="1"/>
          </p:nvPr>
        </p:nvSpPr>
        <p:spPr>
          <a:xfrm>
            <a:off x="742950" y="1377949"/>
            <a:ext cx="10515600" cy="5114925"/>
          </a:xfrm>
        </p:spPr>
        <p:txBody>
          <a:bodyPr>
            <a:normAutofit/>
          </a:bodyPr>
          <a:lstStyle/>
          <a:p>
            <a:pPr>
              <a:lnSpc>
                <a:spcPct val="107000"/>
              </a:lnSpc>
              <a:spcAft>
                <a:spcPts val="800"/>
              </a:spcAft>
            </a:pPr>
            <a:r>
              <a:rPr lang="it-IT" sz="1800" b="1" dirty="0">
                <a:effectLst/>
                <a:latin typeface="Calibri" panose="020F0502020204030204" pitchFamily="34" charset="0"/>
                <a:ea typeface="Calibri" panose="020F0502020204030204" pitchFamily="34" charset="0"/>
                <a:cs typeface="Times New Roman" panose="02020603050405020304" pitchFamily="18" charset="0"/>
              </a:rPr>
              <a:t>Dominio</a:t>
            </a:r>
            <a:endParaRPr lang="it-IT" sz="1800" dirty="0">
              <a:effectLst/>
              <a:latin typeface="Calibri" panose="020F0502020204030204" pitchFamily="34" charset="0"/>
              <a:ea typeface="Calibri" panose="020F0502020204030204" pitchFamily="34" charset="0"/>
              <a:cs typeface="Times New Roman" panose="02020603050405020304" pitchFamily="18" charset="0"/>
            </a:endParaRPr>
          </a:p>
          <a:p>
            <a:pPr lvl="1">
              <a:lnSpc>
                <a:spcPct val="107000"/>
              </a:lnSpc>
              <a:spcAft>
                <a:spcPts val="800"/>
              </a:spcAft>
            </a:pPr>
            <a:r>
              <a:rPr lang="it-IT" sz="1400" dirty="0">
                <a:effectLst/>
                <a:latin typeface="Calibri" panose="020F0502020204030204" pitchFamily="34" charset="0"/>
                <a:ea typeface="Calibri" panose="020F0502020204030204" pitchFamily="34" charset="0"/>
                <a:cs typeface="Times New Roman" panose="02020603050405020304" pitchFamily="18" charset="0"/>
              </a:rPr>
              <a:t>Un dominio è un gruppo di oggetti (computer, stampanti, gruppi, etc..) che condivide un unico database di servizio di directory. Un dominio Active Directory corrisponde al dominio DNS, ovvero può condividere la stessa struttura gerarchica dei nomi: è proprio sul DNS che Active Directory basa tutto il suo funzionamento, infatti per ogni nuovo dominio Active Directory dev'esserci almeno un server DNS.</a:t>
            </a:r>
          </a:p>
          <a:p>
            <a:pPr lvl="1">
              <a:lnSpc>
                <a:spcPct val="107000"/>
              </a:lnSpc>
              <a:spcAft>
                <a:spcPts val="800"/>
              </a:spcAft>
            </a:pPr>
            <a:r>
              <a:rPr lang="it-IT" sz="1400" dirty="0" err="1">
                <a:effectLst/>
                <a:latin typeface="Calibri" panose="020F0502020204030204" pitchFamily="34" charset="0"/>
                <a:ea typeface="Calibri" panose="020F0502020204030204" pitchFamily="34" charset="0"/>
                <a:cs typeface="Times New Roman" panose="02020603050405020304" pitchFamily="18" charset="0"/>
              </a:rPr>
              <a:t>amministrazione.example.local</a:t>
            </a:r>
            <a:r>
              <a:rPr lang="it-IT" sz="1400" dirty="0">
                <a:effectLst/>
                <a:latin typeface="Calibri" panose="020F0502020204030204" pitchFamily="34" charset="0"/>
                <a:ea typeface="Calibri" panose="020F0502020204030204" pitchFamily="34" charset="0"/>
                <a:cs typeface="Times New Roman" panose="02020603050405020304" pitchFamily="18" charset="0"/>
              </a:rPr>
              <a:t>; </a:t>
            </a:r>
            <a:r>
              <a:rPr lang="it-IT" sz="1400" dirty="0" err="1">
                <a:effectLst/>
                <a:latin typeface="Calibri" panose="020F0502020204030204" pitchFamily="34" charset="0"/>
                <a:ea typeface="Calibri" panose="020F0502020204030204" pitchFamily="34" charset="0"/>
                <a:cs typeface="Times New Roman" panose="02020603050405020304" pitchFamily="18" charset="0"/>
              </a:rPr>
              <a:t>ricerca.example.local</a:t>
            </a:r>
            <a:r>
              <a:rPr lang="it-IT" sz="1400" dirty="0">
                <a:effectLst/>
                <a:latin typeface="Calibri" panose="020F0502020204030204" pitchFamily="34" charset="0"/>
                <a:ea typeface="Calibri" panose="020F0502020204030204" pitchFamily="34" charset="0"/>
                <a:cs typeface="Times New Roman" panose="02020603050405020304" pitchFamily="18" charset="0"/>
              </a:rPr>
              <a:t>; </a:t>
            </a:r>
            <a:r>
              <a:rPr lang="it-IT" sz="1400" dirty="0" err="1">
                <a:effectLst/>
                <a:latin typeface="Calibri" panose="020F0502020204030204" pitchFamily="34" charset="0"/>
                <a:ea typeface="Calibri" panose="020F0502020204030204" pitchFamily="34" charset="0"/>
                <a:cs typeface="Times New Roman" panose="02020603050405020304" pitchFamily="18" charset="0"/>
              </a:rPr>
              <a:t>produzione.example.local</a:t>
            </a:r>
            <a:endParaRPr lang="it-IT"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it-IT" sz="1800" b="1" dirty="0">
                <a:effectLst/>
                <a:latin typeface="Calibri" panose="020F0502020204030204" pitchFamily="34" charset="0"/>
                <a:ea typeface="Calibri" panose="020F0502020204030204" pitchFamily="34" charset="0"/>
                <a:cs typeface="Times New Roman" panose="02020603050405020304" pitchFamily="18" charset="0"/>
              </a:rPr>
              <a:t>Albero</a:t>
            </a:r>
            <a:endParaRPr lang="it-IT" sz="1800" dirty="0">
              <a:effectLst/>
              <a:latin typeface="Calibri" panose="020F0502020204030204" pitchFamily="34" charset="0"/>
              <a:ea typeface="Calibri" panose="020F0502020204030204" pitchFamily="34" charset="0"/>
              <a:cs typeface="Times New Roman" panose="02020603050405020304" pitchFamily="18" charset="0"/>
            </a:endParaRPr>
          </a:p>
          <a:p>
            <a:pPr lvl="1">
              <a:lnSpc>
                <a:spcPct val="107000"/>
              </a:lnSpc>
              <a:spcAft>
                <a:spcPts val="800"/>
              </a:spcAft>
            </a:pPr>
            <a:r>
              <a:rPr lang="it-IT" sz="1400" dirty="0">
                <a:effectLst/>
                <a:latin typeface="Calibri" panose="020F0502020204030204" pitchFamily="34" charset="0"/>
                <a:ea typeface="Calibri" panose="020F0502020204030204" pitchFamily="34" charset="0"/>
                <a:cs typeface="Times New Roman" panose="02020603050405020304" pitchFamily="18" charset="0"/>
              </a:rPr>
              <a:t>Un albero è un insieme di domini nella foresta che condividono uno spazio dei nomi contiguo. Vi è una relazione di fiducia transitiva tra domini padre e figlio: quando si aggiunge un nuovo dominio ad un albero, il nuovo dominio viene chiamato dominio figlio. Per esempio: </a:t>
            </a:r>
            <a:r>
              <a:rPr lang="it-IT" sz="1400" dirty="0" err="1">
                <a:effectLst/>
                <a:latin typeface="Calibri" panose="020F0502020204030204" pitchFamily="34" charset="0"/>
                <a:ea typeface="Calibri" panose="020F0502020204030204" pitchFamily="34" charset="0"/>
                <a:cs typeface="Times New Roman" panose="02020603050405020304" pitchFamily="18" charset="0"/>
              </a:rPr>
              <a:t>amministrazione.example.local</a:t>
            </a:r>
            <a:r>
              <a:rPr lang="it-IT" sz="1400" dirty="0">
                <a:effectLst/>
                <a:latin typeface="Calibri" panose="020F0502020204030204" pitchFamily="34" charset="0"/>
                <a:ea typeface="Calibri" panose="020F0502020204030204" pitchFamily="34" charset="0"/>
                <a:cs typeface="Times New Roman" panose="02020603050405020304" pitchFamily="18" charset="0"/>
              </a:rPr>
              <a:t> e </a:t>
            </a:r>
            <a:r>
              <a:rPr lang="it-IT" sz="1400" dirty="0" err="1">
                <a:effectLst/>
                <a:latin typeface="Calibri" panose="020F0502020204030204" pitchFamily="34" charset="0"/>
                <a:ea typeface="Calibri" panose="020F0502020204030204" pitchFamily="34" charset="0"/>
                <a:cs typeface="Times New Roman" panose="02020603050405020304" pitchFamily="18" charset="0"/>
              </a:rPr>
              <a:t>ricerca.example.local</a:t>
            </a:r>
            <a:r>
              <a:rPr lang="it-IT" sz="1400" dirty="0">
                <a:effectLst/>
                <a:latin typeface="Calibri" panose="020F0502020204030204" pitchFamily="34" charset="0"/>
                <a:ea typeface="Calibri" panose="020F0502020204030204" pitchFamily="34" charset="0"/>
                <a:cs typeface="Times New Roman" panose="02020603050405020304" pitchFamily="18" charset="0"/>
              </a:rPr>
              <a:t> sono alberi con il nome DNS </a:t>
            </a:r>
            <a:r>
              <a:rPr lang="it-IT" sz="1400" dirty="0" err="1">
                <a:effectLst/>
                <a:latin typeface="Calibri" panose="020F0502020204030204" pitchFamily="34" charset="0"/>
                <a:ea typeface="Calibri" panose="020F0502020204030204" pitchFamily="34" charset="0"/>
                <a:cs typeface="Times New Roman" panose="02020603050405020304" pitchFamily="18" charset="0"/>
              </a:rPr>
              <a:t>example.local</a:t>
            </a:r>
            <a:r>
              <a:rPr lang="it-IT" sz="1400" dirty="0">
                <a:effectLst/>
                <a:latin typeface="Calibri" panose="020F0502020204030204" pitchFamily="34" charset="0"/>
                <a:ea typeface="Calibri" panose="020F0502020204030204" pitchFamily="34" charset="0"/>
                <a:cs typeface="Times New Roman" panose="02020603050405020304" pitchFamily="18" charset="0"/>
              </a:rPr>
              <a:t> in comune.</a:t>
            </a:r>
          </a:p>
          <a:p>
            <a:pPr marL="0" indent="0">
              <a:lnSpc>
                <a:spcPct val="107000"/>
              </a:lnSpc>
              <a:spcAft>
                <a:spcPts val="800"/>
              </a:spcAft>
              <a:buNone/>
            </a:pPr>
            <a:r>
              <a:rPr lang="it-IT" sz="1800" dirty="0">
                <a:effectLst/>
                <a:latin typeface="Calibri" panose="020F0502020204030204" pitchFamily="34" charset="0"/>
                <a:ea typeface="Calibri" panose="020F0502020204030204" pitchFamily="34" charset="0"/>
                <a:cs typeface="Times New Roman" panose="02020603050405020304" pitchFamily="18" charset="0"/>
              </a:rPr>
              <a:t>	</a:t>
            </a:r>
            <a:r>
              <a:rPr lang="it-IT" sz="1400" dirty="0">
                <a:latin typeface="Calibri" panose="020F0502020204030204" pitchFamily="34" charset="0"/>
                <a:ea typeface="Calibri" panose="020F0502020204030204" pitchFamily="34" charset="0"/>
                <a:cs typeface="Times New Roman" panose="02020603050405020304" pitchFamily="18" charset="0"/>
              </a:rPr>
              <a:t>amministrazione = dominio figlio</a:t>
            </a:r>
          </a:p>
          <a:p>
            <a:pPr marL="0" indent="0">
              <a:lnSpc>
                <a:spcPct val="107000"/>
              </a:lnSpc>
              <a:spcAft>
                <a:spcPts val="800"/>
              </a:spcAft>
              <a:buNone/>
            </a:pPr>
            <a:r>
              <a:rPr lang="en-US" sz="1400" dirty="0">
                <a:effectLst/>
                <a:latin typeface="Calibri" panose="020F0502020204030204" pitchFamily="34" charset="0"/>
                <a:ea typeface="Calibri" panose="020F0502020204030204" pitchFamily="34" charset="0"/>
                <a:cs typeface="Times New Roman" panose="02020603050405020304" pitchFamily="18" charset="0"/>
              </a:rPr>
              <a:t>	</a:t>
            </a:r>
            <a:r>
              <a:rPr lang="en-US" sz="1400" dirty="0" err="1">
                <a:effectLst/>
                <a:latin typeface="Calibri" panose="020F0502020204030204" pitchFamily="34" charset="0"/>
                <a:ea typeface="Calibri" panose="020F0502020204030204" pitchFamily="34" charset="0"/>
                <a:cs typeface="Times New Roman" panose="02020603050405020304" pitchFamily="18" charset="0"/>
              </a:rPr>
              <a:t>example.local</a:t>
            </a:r>
            <a:r>
              <a:rPr lang="en-US" sz="1400" dirty="0">
                <a:effectLst/>
                <a:latin typeface="Calibri" panose="020F0502020204030204" pitchFamily="34" charset="0"/>
                <a:ea typeface="Calibri" panose="020F0502020204030204" pitchFamily="34" charset="0"/>
                <a:cs typeface="Times New Roman" panose="02020603050405020304" pitchFamily="18" charset="0"/>
              </a:rPr>
              <a:t>  = Root Domain o Top Level Domain  </a:t>
            </a:r>
            <a:endParaRPr lang="it-IT" sz="1400" dirty="0">
              <a:effectLst/>
              <a:latin typeface="Calibri" panose="020F0502020204030204" pitchFamily="34" charset="0"/>
              <a:ea typeface="Calibri" panose="020F0502020204030204" pitchFamily="34" charset="0"/>
              <a:cs typeface="Times New Roman" panose="02020603050405020304" pitchFamily="18" charset="0"/>
            </a:endParaRPr>
          </a:p>
          <a:p>
            <a:pPr lvl="1">
              <a:lnSpc>
                <a:spcPct val="107000"/>
              </a:lnSpc>
              <a:spcAft>
                <a:spcPts val="800"/>
              </a:spcAft>
            </a:pPr>
            <a:r>
              <a:rPr lang="it-IT" sz="1400" dirty="0">
                <a:effectLst/>
                <a:latin typeface="Calibri" panose="020F0502020204030204" pitchFamily="34" charset="0"/>
                <a:ea typeface="Calibri" panose="020F0502020204030204" pitchFamily="34" charset="0"/>
                <a:cs typeface="Times New Roman" panose="02020603050405020304" pitchFamily="18" charset="0"/>
              </a:rPr>
              <a:t>La combinazione dei nomi del dominio figlio insieme al dominio padre formano il nome DNS. Il top </a:t>
            </a:r>
            <a:r>
              <a:rPr lang="it-IT" sz="1400" dirty="0" err="1">
                <a:effectLst/>
                <a:latin typeface="Calibri" panose="020F0502020204030204" pitchFamily="34" charset="0"/>
                <a:ea typeface="Calibri" panose="020F0502020204030204" pitchFamily="34" charset="0"/>
                <a:cs typeface="Times New Roman" panose="02020603050405020304" pitchFamily="18" charset="0"/>
              </a:rPr>
              <a:t>level</a:t>
            </a:r>
            <a:r>
              <a:rPr lang="it-IT" sz="1400" dirty="0">
                <a:effectLst/>
                <a:latin typeface="Calibri" panose="020F0502020204030204" pitchFamily="34" charset="0"/>
                <a:ea typeface="Calibri" panose="020F0502020204030204" pitchFamily="34" charset="0"/>
                <a:cs typeface="Times New Roman" panose="02020603050405020304" pitchFamily="18" charset="0"/>
              </a:rPr>
              <a:t> domain è chiamato Root Domain.</a:t>
            </a:r>
          </a:p>
          <a:p>
            <a:endParaRPr lang="it-IT" dirty="0"/>
          </a:p>
        </p:txBody>
      </p:sp>
    </p:spTree>
    <p:extLst>
      <p:ext uri="{BB962C8B-B14F-4D97-AF65-F5344CB8AC3E}">
        <p14:creationId xmlns:p14="http://schemas.microsoft.com/office/powerpoint/2010/main" val="5633797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C26327E-0E03-45A7-AB15-1B0887C3FD92}"/>
              </a:ext>
            </a:extLst>
          </p:cNvPr>
          <p:cNvSpPr>
            <a:spLocks noGrp="1"/>
          </p:cNvSpPr>
          <p:nvPr>
            <p:ph type="title"/>
          </p:nvPr>
        </p:nvSpPr>
        <p:spPr/>
        <p:txBody>
          <a:bodyPr/>
          <a:lstStyle/>
          <a:p>
            <a:r>
              <a:rPr lang="it-IT" dirty="0">
                <a:solidFill>
                  <a:srgbClr val="0070C0"/>
                </a:solidFill>
                <a:effectLst/>
                <a:latin typeface="Coli"/>
                <a:ea typeface="Times New Roman" panose="02020603050405020304" pitchFamily="18" charset="0"/>
              </a:rPr>
              <a:t>La struttura logica di Active Directory 2/4</a:t>
            </a:r>
            <a:endParaRPr lang="it-IT" dirty="0"/>
          </a:p>
        </p:txBody>
      </p:sp>
      <p:sp>
        <p:nvSpPr>
          <p:cNvPr id="3" name="Segnaposto contenuto 2">
            <a:extLst>
              <a:ext uri="{FF2B5EF4-FFF2-40B4-BE49-F238E27FC236}">
                <a16:creationId xmlns:a16="http://schemas.microsoft.com/office/drawing/2014/main" id="{2FECA45A-1C9C-4880-981E-0F2A9FF7C3BC}"/>
              </a:ext>
            </a:extLst>
          </p:cNvPr>
          <p:cNvSpPr>
            <a:spLocks noGrp="1"/>
          </p:cNvSpPr>
          <p:nvPr>
            <p:ph idx="1"/>
          </p:nvPr>
        </p:nvSpPr>
        <p:spPr>
          <a:xfrm>
            <a:off x="838200" y="1825625"/>
            <a:ext cx="3535680" cy="4351338"/>
          </a:xfrm>
        </p:spPr>
        <p:txBody>
          <a:bodyPr/>
          <a:lstStyle/>
          <a:p>
            <a:pPr>
              <a:lnSpc>
                <a:spcPct val="107000"/>
              </a:lnSpc>
              <a:spcAft>
                <a:spcPts val="800"/>
              </a:spcAft>
            </a:pPr>
            <a:r>
              <a:rPr lang="it-IT" sz="1800" b="1" dirty="0">
                <a:effectLst/>
                <a:latin typeface="Calibri" panose="020F0502020204030204" pitchFamily="34" charset="0"/>
                <a:ea typeface="Calibri" panose="020F0502020204030204" pitchFamily="34" charset="0"/>
                <a:cs typeface="Times New Roman" panose="02020603050405020304" pitchFamily="18" charset="0"/>
              </a:rPr>
              <a:t>Foresta</a:t>
            </a:r>
            <a:endParaRPr lang="it-IT" sz="1800" dirty="0">
              <a:effectLst/>
              <a:latin typeface="Calibri" panose="020F0502020204030204" pitchFamily="34" charset="0"/>
              <a:ea typeface="Calibri" panose="020F0502020204030204" pitchFamily="34" charset="0"/>
              <a:cs typeface="Times New Roman" panose="02020603050405020304" pitchFamily="18" charset="0"/>
            </a:endParaRPr>
          </a:p>
          <a:p>
            <a:pPr lvl="1">
              <a:lnSpc>
                <a:spcPct val="107000"/>
              </a:lnSpc>
              <a:spcAft>
                <a:spcPts val="800"/>
              </a:spcAft>
            </a:pPr>
            <a:r>
              <a:rPr lang="it-IT" sz="1400" dirty="0">
                <a:effectLst/>
                <a:latin typeface="Calibri" panose="020F0502020204030204" pitchFamily="34" charset="0"/>
                <a:ea typeface="Calibri" panose="020F0502020204030204" pitchFamily="34" charset="0"/>
                <a:cs typeface="Times New Roman" panose="02020603050405020304" pitchFamily="18" charset="0"/>
              </a:rPr>
              <a:t>Una foresta rappresenta uno più domini che condividono una configurazione, uno schema o un catalogo globale comuni. In pratica è un insieme di più alberi che non condividono lo stesso spazio dei nomi.</a:t>
            </a:r>
          </a:p>
          <a:p>
            <a:endParaRPr lang="it-IT" dirty="0"/>
          </a:p>
        </p:txBody>
      </p:sp>
      <p:pic>
        <p:nvPicPr>
          <p:cNvPr id="4" name="Immagine 3">
            <a:extLst>
              <a:ext uri="{FF2B5EF4-FFF2-40B4-BE49-F238E27FC236}">
                <a16:creationId xmlns:a16="http://schemas.microsoft.com/office/drawing/2014/main" id="{99B9EA33-BB11-4152-900C-57A2D207424B}"/>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5174766" y="2043972"/>
            <a:ext cx="5723884" cy="3811756"/>
          </a:xfrm>
          <a:prstGeom prst="rect">
            <a:avLst/>
          </a:prstGeom>
        </p:spPr>
      </p:pic>
    </p:spTree>
    <p:extLst>
      <p:ext uri="{BB962C8B-B14F-4D97-AF65-F5344CB8AC3E}">
        <p14:creationId xmlns:p14="http://schemas.microsoft.com/office/powerpoint/2010/main" val="29768113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C26327E-0E03-45A7-AB15-1B0887C3FD92}"/>
              </a:ext>
            </a:extLst>
          </p:cNvPr>
          <p:cNvSpPr>
            <a:spLocks noGrp="1"/>
          </p:cNvSpPr>
          <p:nvPr>
            <p:ph type="title"/>
          </p:nvPr>
        </p:nvSpPr>
        <p:spPr/>
        <p:txBody>
          <a:bodyPr/>
          <a:lstStyle/>
          <a:p>
            <a:r>
              <a:rPr lang="it-IT" dirty="0">
                <a:solidFill>
                  <a:srgbClr val="0070C0"/>
                </a:solidFill>
                <a:effectLst/>
                <a:latin typeface="Coli"/>
                <a:ea typeface="Times New Roman" panose="02020603050405020304" pitchFamily="18" charset="0"/>
              </a:rPr>
              <a:t>La struttura logica di Active Directory 3/4</a:t>
            </a:r>
            <a:endParaRPr lang="it-IT" dirty="0"/>
          </a:p>
        </p:txBody>
      </p:sp>
      <p:sp>
        <p:nvSpPr>
          <p:cNvPr id="3" name="Segnaposto contenuto 2">
            <a:extLst>
              <a:ext uri="{FF2B5EF4-FFF2-40B4-BE49-F238E27FC236}">
                <a16:creationId xmlns:a16="http://schemas.microsoft.com/office/drawing/2014/main" id="{2FECA45A-1C9C-4880-981E-0F2A9FF7C3BC}"/>
              </a:ext>
            </a:extLst>
          </p:cNvPr>
          <p:cNvSpPr>
            <a:spLocks noGrp="1"/>
          </p:cNvSpPr>
          <p:nvPr>
            <p:ph idx="1"/>
          </p:nvPr>
        </p:nvSpPr>
        <p:spPr>
          <a:xfrm>
            <a:off x="838200" y="1825625"/>
            <a:ext cx="10149840" cy="4351338"/>
          </a:xfrm>
        </p:spPr>
        <p:txBody>
          <a:bodyPr>
            <a:normAutofit/>
          </a:bodyPr>
          <a:lstStyle/>
          <a:p>
            <a:pPr>
              <a:lnSpc>
                <a:spcPct val="107000"/>
              </a:lnSpc>
              <a:spcAft>
                <a:spcPts val="800"/>
              </a:spcAft>
            </a:pPr>
            <a:r>
              <a:rPr lang="it-IT" sz="1800" b="1" dirty="0">
                <a:effectLst/>
                <a:latin typeface="Calibri" panose="020F0502020204030204" pitchFamily="34" charset="0"/>
                <a:ea typeface="Calibri" panose="020F0502020204030204" pitchFamily="34" charset="0"/>
                <a:cs typeface="Times New Roman" panose="02020603050405020304" pitchFamily="18" charset="0"/>
              </a:rPr>
              <a:t>Unità organizzativa (OU, </a:t>
            </a:r>
            <a:r>
              <a:rPr lang="it-IT" sz="1800" b="1" dirty="0" err="1">
                <a:effectLst/>
                <a:latin typeface="Calibri" panose="020F0502020204030204" pitchFamily="34" charset="0"/>
                <a:ea typeface="Calibri" panose="020F0502020204030204" pitchFamily="34" charset="0"/>
                <a:cs typeface="Times New Roman" panose="02020603050405020304" pitchFamily="18" charset="0"/>
              </a:rPr>
              <a:t>organizational</a:t>
            </a:r>
            <a:r>
              <a:rPr lang="it-IT" sz="1800" b="1" dirty="0">
                <a:effectLst/>
                <a:latin typeface="Calibri" panose="020F0502020204030204" pitchFamily="34" charset="0"/>
                <a:ea typeface="Calibri" panose="020F0502020204030204" pitchFamily="34" charset="0"/>
                <a:cs typeface="Times New Roman" panose="02020603050405020304" pitchFamily="18" charset="0"/>
              </a:rPr>
              <a:t> </a:t>
            </a:r>
            <a:r>
              <a:rPr lang="it-IT" sz="1800" b="1" dirty="0" err="1">
                <a:effectLst/>
                <a:latin typeface="Calibri" panose="020F0502020204030204" pitchFamily="34" charset="0"/>
                <a:ea typeface="Calibri" panose="020F0502020204030204" pitchFamily="34" charset="0"/>
                <a:cs typeface="Times New Roman" panose="02020603050405020304" pitchFamily="18" charset="0"/>
              </a:rPr>
              <a:t>unit</a:t>
            </a:r>
            <a:r>
              <a:rPr lang="it-IT" sz="1800" b="1" dirty="0">
                <a:effectLst/>
                <a:latin typeface="Calibri" panose="020F0502020204030204" pitchFamily="34" charset="0"/>
                <a:ea typeface="Calibri" panose="020F0502020204030204" pitchFamily="34" charset="0"/>
                <a:cs typeface="Times New Roman" panose="02020603050405020304" pitchFamily="18" charset="0"/>
              </a:rPr>
              <a:t>)</a:t>
            </a:r>
            <a:endParaRPr lang="it-IT" sz="1800" dirty="0">
              <a:effectLst/>
              <a:latin typeface="Calibri" panose="020F0502020204030204" pitchFamily="34" charset="0"/>
              <a:ea typeface="Calibri" panose="020F0502020204030204" pitchFamily="34" charset="0"/>
              <a:cs typeface="Times New Roman" panose="02020603050405020304" pitchFamily="18" charset="0"/>
            </a:endParaRPr>
          </a:p>
          <a:p>
            <a:pPr lvl="1">
              <a:lnSpc>
                <a:spcPct val="107000"/>
              </a:lnSpc>
              <a:spcAft>
                <a:spcPts val="800"/>
              </a:spcAft>
            </a:pPr>
            <a:r>
              <a:rPr lang="it-IT" sz="1400" dirty="0">
                <a:effectLst/>
                <a:latin typeface="Calibri" panose="020F0502020204030204" pitchFamily="34" charset="0"/>
                <a:ea typeface="Calibri" panose="020F0502020204030204" pitchFamily="34" charset="0"/>
                <a:cs typeface="Times New Roman" panose="02020603050405020304" pitchFamily="18" charset="0"/>
              </a:rPr>
              <a:t>È un contenitore di oggetti utilizzato per organizzare gli oggetti stessi dentro un dominio. L'unità organizzativa può essere usata per organizzare oggetti come utenti, gruppi, computer, stampanti, e altre unità organizzative.</a:t>
            </a:r>
          </a:p>
          <a:p>
            <a:pPr>
              <a:lnSpc>
                <a:spcPct val="107000"/>
              </a:lnSpc>
              <a:spcAft>
                <a:spcPts val="800"/>
              </a:spcAft>
            </a:pPr>
            <a:r>
              <a:rPr lang="it-IT" sz="1800" b="1" dirty="0">
                <a:effectLst/>
                <a:latin typeface="Calibri" panose="020F0502020204030204" pitchFamily="34" charset="0"/>
                <a:ea typeface="Calibri" panose="020F0502020204030204" pitchFamily="34" charset="0"/>
                <a:cs typeface="Times New Roman" panose="02020603050405020304" pitchFamily="18" charset="0"/>
              </a:rPr>
              <a:t>Global </a:t>
            </a:r>
            <a:r>
              <a:rPr lang="it-IT" sz="1800" b="1" dirty="0" err="1">
                <a:effectLst/>
                <a:latin typeface="Calibri" panose="020F0502020204030204" pitchFamily="34" charset="0"/>
                <a:ea typeface="Calibri" panose="020F0502020204030204" pitchFamily="34" charset="0"/>
                <a:cs typeface="Times New Roman" panose="02020603050405020304" pitchFamily="18" charset="0"/>
              </a:rPr>
              <a:t>Catalog</a:t>
            </a:r>
            <a:r>
              <a:rPr lang="it-IT" sz="1800" b="1" dirty="0">
                <a:effectLst/>
                <a:latin typeface="Calibri" panose="020F0502020204030204" pitchFamily="34" charset="0"/>
                <a:ea typeface="Calibri" panose="020F0502020204030204" pitchFamily="34" charset="0"/>
                <a:cs typeface="Times New Roman" panose="02020603050405020304" pitchFamily="18" charset="0"/>
              </a:rPr>
              <a:t> (GC)</a:t>
            </a:r>
            <a:endParaRPr lang="it-IT" sz="1800" dirty="0">
              <a:effectLst/>
              <a:latin typeface="Calibri" panose="020F0502020204030204" pitchFamily="34" charset="0"/>
              <a:ea typeface="Calibri" panose="020F0502020204030204" pitchFamily="34" charset="0"/>
              <a:cs typeface="Times New Roman" panose="02020603050405020304" pitchFamily="18" charset="0"/>
            </a:endParaRPr>
          </a:p>
          <a:p>
            <a:pPr lvl="1">
              <a:lnSpc>
                <a:spcPct val="107000"/>
              </a:lnSpc>
              <a:spcAft>
                <a:spcPts val="800"/>
              </a:spcAft>
            </a:pPr>
            <a:r>
              <a:rPr lang="it-IT" sz="1400" dirty="0">
                <a:effectLst/>
                <a:latin typeface="Calibri" panose="020F0502020204030204" pitchFamily="34" charset="0"/>
                <a:ea typeface="Calibri" panose="020F0502020204030204" pitchFamily="34" charset="0"/>
                <a:cs typeface="Times New Roman" panose="02020603050405020304" pitchFamily="18" charset="0"/>
              </a:rPr>
              <a:t>Contiene le informazioni relative agli oggetti presenti in Active directory, informazioni costituite da una replica completa di tutti gli oggetti di directory nel dominio </a:t>
            </a:r>
            <a:r>
              <a:rPr lang="it-IT" sz="1400" dirty="0" err="1">
                <a:effectLst/>
                <a:latin typeface="Calibri" panose="020F0502020204030204" pitchFamily="34" charset="0"/>
                <a:ea typeface="Calibri" panose="020F0502020204030204" pitchFamily="34" charset="0"/>
                <a:cs typeface="Times New Roman" panose="02020603050405020304" pitchFamily="18" charset="0"/>
              </a:rPr>
              <a:t>host</a:t>
            </a:r>
            <a:r>
              <a:rPr lang="it-IT" sz="1400" dirty="0">
                <a:effectLst/>
                <a:latin typeface="Calibri" panose="020F0502020204030204" pitchFamily="34" charset="0"/>
                <a:ea typeface="Calibri" panose="020F0502020204030204" pitchFamily="34" charset="0"/>
                <a:cs typeface="Times New Roman" panose="02020603050405020304" pitchFamily="18" charset="0"/>
              </a:rPr>
              <a:t> e una parziale di tutti gli oggetti di directory in tutti i domini della struttura. Il global </a:t>
            </a:r>
            <a:r>
              <a:rPr lang="it-IT" sz="1400" dirty="0" err="1">
                <a:effectLst/>
                <a:latin typeface="Calibri" panose="020F0502020204030204" pitchFamily="34" charset="0"/>
                <a:ea typeface="Calibri" panose="020F0502020204030204" pitchFamily="34" charset="0"/>
                <a:cs typeface="Times New Roman" panose="02020603050405020304" pitchFamily="18" charset="0"/>
              </a:rPr>
              <a:t>catalog</a:t>
            </a:r>
            <a:r>
              <a:rPr lang="it-IT" sz="1400" dirty="0">
                <a:effectLst/>
                <a:latin typeface="Calibri" panose="020F0502020204030204" pitchFamily="34" charset="0"/>
                <a:ea typeface="Calibri" panose="020F0502020204030204" pitchFamily="34" charset="0"/>
                <a:cs typeface="Times New Roman" panose="02020603050405020304" pitchFamily="18" charset="0"/>
              </a:rPr>
              <a:t> permette all'utente di autenticarsi ed accedere alla rete e al dominio. Poiché contiene informazioni sugli oggetti in tutto l'insieme di strutture, consente la ricerca di oggetti fornendo informazioni sulle ubicazioni in cui è possibile trovare l'oggetto.</a:t>
            </a:r>
          </a:p>
          <a:p>
            <a:pPr lvl="1">
              <a:lnSpc>
                <a:spcPct val="107000"/>
              </a:lnSpc>
              <a:spcAft>
                <a:spcPts val="800"/>
              </a:spcAft>
            </a:pPr>
            <a:r>
              <a:rPr lang="it-IT" sz="1400" dirty="0">
                <a:effectLst/>
                <a:latin typeface="Calibri" panose="020F0502020204030204" pitchFamily="34" charset="0"/>
                <a:ea typeface="Calibri" panose="020F0502020204030204" pitchFamily="34" charset="0"/>
                <a:cs typeface="Times New Roman" panose="02020603050405020304" pitchFamily="18" charset="0"/>
              </a:rPr>
              <a:t>In ogni domino è necessario avere almeno un GC e per impostazione predefinita al primo DC del dominio è assegnato automaticamente tale ruolo. E' possibile configurare un DC come GC e aggiungere altri GC ad un dominio per accelerare i tempi di risposta per le richieste di accesso e di ricerca.</a:t>
            </a:r>
          </a:p>
          <a:p>
            <a:endParaRPr lang="it-IT" dirty="0"/>
          </a:p>
        </p:txBody>
      </p:sp>
    </p:spTree>
    <p:extLst>
      <p:ext uri="{BB962C8B-B14F-4D97-AF65-F5344CB8AC3E}">
        <p14:creationId xmlns:p14="http://schemas.microsoft.com/office/powerpoint/2010/main" val="13200220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C26327E-0E03-45A7-AB15-1B0887C3FD92}"/>
              </a:ext>
            </a:extLst>
          </p:cNvPr>
          <p:cNvSpPr>
            <a:spLocks noGrp="1"/>
          </p:cNvSpPr>
          <p:nvPr>
            <p:ph type="title"/>
          </p:nvPr>
        </p:nvSpPr>
        <p:spPr/>
        <p:txBody>
          <a:bodyPr/>
          <a:lstStyle/>
          <a:p>
            <a:r>
              <a:rPr lang="it-IT" dirty="0">
                <a:solidFill>
                  <a:srgbClr val="0070C0"/>
                </a:solidFill>
                <a:effectLst/>
                <a:latin typeface="Coli"/>
                <a:ea typeface="Times New Roman" panose="02020603050405020304" pitchFamily="18" charset="0"/>
              </a:rPr>
              <a:t>La struttura logica di Active Directory 4/4</a:t>
            </a:r>
            <a:endParaRPr lang="it-IT" dirty="0"/>
          </a:p>
        </p:txBody>
      </p:sp>
      <p:sp>
        <p:nvSpPr>
          <p:cNvPr id="3" name="Segnaposto contenuto 2">
            <a:extLst>
              <a:ext uri="{FF2B5EF4-FFF2-40B4-BE49-F238E27FC236}">
                <a16:creationId xmlns:a16="http://schemas.microsoft.com/office/drawing/2014/main" id="{2FECA45A-1C9C-4880-981E-0F2A9FF7C3BC}"/>
              </a:ext>
            </a:extLst>
          </p:cNvPr>
          <p:cNvSpPr>
            <a:spLocks noGrp="1"/>
          </p:cNvSpPr>
          <p:nvPr>
            <p:ph idx="1"/>
          </p:nvPr>
        </p:nvSpPr>
        <p:spPr>
          <a:xfrm>
            <a:off x="838200" y="1825625"/>
            <a:ext cx="10149840" cy="4351338"/>
          </a:xfrm>
        </p:spPr>
        <p:txBody>
          <a:bodyPr>
            <a:normAutofit/>
          </a:bodyPr>
          <a:lstStyle/>
          <a:p>
            <a:pPr marL="0" indent="0">
              <a:lnSpc>
                <a:spcPct val="107000"/>
              </a:lnSpc>
              <a:spcAft>
                <a:spcPts val="800"/>
              </a:spcAft>
              <a:buNone/>
            </a:pPr>
            <a:r>
              <a:rPr lang="it-IT" sz="1800" dirty="0">
                <a:effectLst/>
                <a:latin typeface="Calibri" panose="020F0502020204030204" pitchFamily="34" charset="0"/>
                <a:ea typeface="Calibri" panose="020F0502020204030204" pitchFamily="34" charset="0"/>
                <a:cs typeface="Times New Roman" panose="02020603050405020304" pitchFamily="18" charset="0"/>
              </a:rPr>
              <a:t>Il Global </a:t>
            </a:r>
            <a:r>
              <a:rPr lang="it-IT" sz="1800" dirty="0" err="1">
                <a:effectLst/>
                <a:latin typeface="Calibri" panose="020F0502020204030204" pitchFamily="34" charset="0"/>
                <a:ea typeface="Calibri" panose="020F0502020204030204" pitchFamily="34" charset="0"/>
                <a:cs typeface="Times New Roman" panose="02020603050405020304" pitchFamily="18" charset="0"/>
              </a:rPr>
              <a:t>Catalog</a:t>
            </a:r>
            <a:r>
              <a:rPr lang="it-IT" sz="1800" dirty="0">
                <a:effectLst/>
                <a:latin typeface="Calibri" panose="020F0502020204030204" pitchFamily="34" charset="0"/>
                <a:ea typeface="Calibri" panose="020F0502020204030204" pitchFamily="34" charset="0"/>
                <a:cs typeface="Times New Roman" panose="02020603050405020304" pitchFamily="18" charset="0"/>
              </a:rPr>
              <a:t>:  ha le seguenti caratteristiche (molte letture, scritture dagli amministratori di sistema) </a:t>
            </a:r>
          </a:p>
          <a:p>
            <a:pPr marL="800100" lvl="1" indent="-342900">
              <a:lnSpc>
                <a:spcPct val="107000"/>
              </a:lnSpc>
              <a:buFont typeface="Wingdings" panose="05000000000000000000" pitchFamily="2" charset="2"/>
              <a:buChar char=""/>
            </a:pPr>
            <a:r>
              <a:rPr lang="it-IT" sz="1400" dirty="0">
                <a:effectLst/>
                <a:latin typeface="Calibri" panose="020F0502020204030204" pitchFamily="34" charset="0"/>
                <a:ea typeface="Calibri" panose="020F0502020204030204" pitchFamily="34" charset="0"/>
                <a:cs typeface="Times New Roman" panose="02020603050405020304" pitchFamily="18" charset="0"/>
              </a:rPr>
              <a:t>ottimizzate in lettura</a:t>
            </a:r>
          </a:p>
          <a:p>
            <a:pPr marL="800100" lvl="1" indent="-342900">
              <a:lnSpc>
                <a:spcPct val="107000"/>
              </a:lnSpc>
              <a:buFont typeface="Wingdings" panose="05000000000000000000" pitchFamily="2" charset="2"/>
              <a:buChar char=""/>
            </a:pPr>
            <a:r>
              <a:rPr lang="it-IT" sz="1400" dirty="0">
                <a:effectLst/>
                <a:latin typeface="Calibri" panose="020F0502020204030204" pitchFamily="34" charset="0"/>
                <a:ea typeface="Calibri" panose="020F0502020204030204" pitchFamily="34" charset="0"/>
                <a:cs typeface="Times New Roman" panose="02020603050405020304" pitchFamily="18" charset="0"/>
              </a:rPr>
              <a:t>Informazioni poco aggiornate</a:t>
            </a:r>
          </a:p>
          <a:p>
            <a:pPr marL="800100" lvl="1" indent="-342900">
              <a:lnSpc>
                <a:spcPct val="107000"/>
              </a:lnSpc>
              <a:buFont typeface="Wingdings" panose="05000000000000000000" pitchFamily="2" charset="2"/>
              <a:buChar char=""/>
            </a:pPr>
            <a:r>
              <a:rPr lang="it-IT" sz="1400" dirty="0">
                <a:effectLst/>
                <a:latin typeface="Calibri" panose="020F0502020204030204" pitchFamily="34" charset="0"/>
                <a:ea typeface="Calibri" panose="020F0502020204030204" pitchFamily="34" charset="0"/>
                <a:cs typeface="Times New Roman" panose="02020603050405020304" pitchFamily="18" charset="0"/>
              </a:rPr>
              <a:t>comunicazione client/server (porte 389 e 636 crittografa LDAP v3)</a:t>
            </a:r>
          </a:p>
          <a:p>
            <a:pPr marL="800100" lvl="1" indent="-342900">
              <a:lnSpc>
                <a:spcPct val="107000"/>
              </a:lnSpc>
              <a:buFont typeface="Wingdings" panose="05000000000000000000" pitchFamily="2" charset="2"/>
              <a:buChar char=""/>
            </a:pPr>
            <a:r>
              <a:rPr lang="it-IT" sz="1400" dirty="0">
                <a:effectLst/>
                <a:latin typeface="Calibri" panose="020F0502020204030204" pitchFamily="34" charset="0"/>
                <a:ea typeface="Calibri" panose="020F0502020204030204" pitchFamily="34" charset="0"/>
                <a:cs typeface="Times New Roman" panose="02020603050405020304" pitchFamily="18" charset="0"/>
              </a:rPr>
              <a:t>Replica delle directory</a:t>
            </a:r>
          </a:p>
          <a:p>
            <a:pPr marL="800100" lvl="1" indent="-342900">
              <a:lnSpc>
                <a:spcPct val="107000"/>
              </a:lnSpc>
              <a:buFont typeface="Wingdings" panose="05000000000000000000" pitchFamily="2" charset="2"/>
              <a:buChar char=""/>
            </a:pPr>
            <a:r>
              <a:rPr lang="it-IT" sz="1400" dirty="0">
                <a:effectLst/>
                <a:latin typeface="Calibri" panose="020F0502020204030204" pitchFamily="34" charset="0"/>
                <a:ea typeface="Calibri" panose="020F0502020204030204" pitchFamily="34" charset="0"/>
                <a:cs typeface="Times New Roman" panose="02020603050405020304" pitchFamily="18" charset="0"/>
              </a:rPr>
              <a:t>Struttura gerarchica &lt;&gt; database relazionale</a:t>
            </a:r>
          </a:p>
          <a:p>
            <a:pPr marL="800100" lvl="1" indent="-342900">
              <a:lnSpc>
                <a:spcPct val="107000"/>
              </a:lnSpc>
              <a:spcAft>
                <a:spcPts val="800"/>
              </a:spcAft>
              <a:buFont typeface="Wingdings" panose="05000000000000000000" pitchFamily="2" charset="2"/>
              <a:buChar char=""/>
            </a:pPr>
            <a:r>
              <a:rPr lang="it-IT" sz="1400" dirty="0">
                <a:effectLst/>
                <a:latin typeface="Calibri" panose="020F0502020204030204" pitchFamily="34" charset="0"/>
                <a:ea typeface="Calibri" panose="020F0502020204030204" pitchFamily="34" charset="0"/>
                <a:cs typeface="Times New Roman" panose="02020603050405020304" pitchFamily="18" charset="0"/>
              </a:rPr>
              <a:t>Schema</a:t>
            </a:r>
            <a:endParaRPr lang="it-IT" sz="1400" b="1"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it-IT" sz="1800" b="1"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it-IT" sz="1800" b="1" dirty="0">
                <a:effectLst/>
                <a:latin typeface="Calibri" panose="020F0502020204030204" pitchFamily="34" charset="0"/>
                <a:ea typeface="Calibri" panose="020F0502020204030204" pitchFamily="34" charset="0"/>
                <a:cs typeface="Times New Roman" panose="02020603050405020304" pitchFamily="18" charset="0"/>
              </a:rPr>
              <a:t>Siti</a:t>
            </a:r>
            <a:endParaRPr lang="it-IT"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it-IT" sz="1800" dirty="0">
                <a:effectLst/>
                <a:latin typeface="Calibri" panose="020F0502020204030204" pitchFamily="34" charset="0"/>
                <a:ea typeface="Calibri" panose="020F0502020204030204" pitchFamily="34" charset="0"/>
                <a:cs typeface="Times New Roman" panose="02020603050405020304" pitchFamily="18" charset="0"/>
              </a:rPr>
              <a:t>I siti sono un raggruppamento logico di PC o server in base al loro indirizzo IP e alla sottorete di appartenenza.</a:t>
            </a:r>
          </a:p>
          <a:p>
            <a:pPr>
              <a:lnSpc>
                <a:spcPct val="107000"/>
              </a:lnSpc>
              <a:spcAft>
                <a:spcPts val="800"/>
              </a:spcAft>
            </a:pPr>
            <a:endParaRPr lang="it-IT"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it-IT" dirty="0"/>
          </a:p>
        </p:txBody>
      </p:sp>
    </p:spTree>
    <p:extLst>
      <p:ext uri="{BB962C8B-B14F-4D97-AF65-F5344CB8AC3E}">
        <p14:creationId xmlns:p14="http://schemas.microsoft.com/office/powerpoint/2010/main" val="26910572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C26327E-0E03-45A7-AB15-1B0887C3FD92}"/>
              </a:ext>
            </a:extLst>
          </p:cNvPr>
          <p:cNvSpPr>
            <a:spLocks noGrp="1"/>
          </p:cNvSpPr>
          <p:nvPr>
            <p:ph type="title"/>
          </p:nvPr>
        </p:nvSpPr>
        <p:spPr/>
        <p:txBody>
          <a:bodyPr/>
          <a:lstStyle/>
          <a:p>
            <a:r>
              <a:rPr lang="it-IT" dirty="0">
                <a:solidFill>
                  <a:srgbClr val="0070C0"/>
                </a:solidFill>
                <a:effectLst/>
                <a:latin typeface="Coli"/>
                <a:ea typeface="Times New Roman" panose="02020603050405020304" pitchFamily="18" charset="0"/>
              </a:rPr>
              <a:t>Il protocollo LDAP  1/2</a:t>
            </a:r>
            <a:endParaRPr lang="it-IT" dirty="0"/>
          </a:p>
        </p:txBody>
      </p:sp>
      <p:sp>
        <p:nvSpPr>
          <p:cNvPr id="3" name="Segnaposto contenuto 2">
            <a:extLst>
              <a:ext uri="{FF2B5EF4-FFF2-40B4-BE49-F238E27FC236}">
                <a16:creationId xmlns:a16="http://schemas.microsoft.com/office/drawing/2014/main" id="{2FECA45A-1C9C-4880-981E-0F2A9FF7C3BC}"/>
              </a:ext>
            </a:extLst>
          </p:cNvPr>
          <p:cNvSpPr>
            <a:spLocks noGrp="1"/>
          </p:cNvSpPr>
          <p:nvPr>
            <p:ph idx="1"/>
          </p:nvPr>
        </p:nvSpPr>
        <p:spPr>
          <a:xfrm>
            <a:off x="838200" y="1690688"/>
            <a:ext cx="7193280" cy="4486275"/>
          </a:xfrm>
        </p:spPr>
        <p:txBody>
          <a:bodyPr>
            <a:normAutofit fontScale="85000" lnSpcReduction="20000"/>
          </a:bodyPr>
          <a:lstStyle/>
          <a:p>
            <a:pPr>
              <a:lnSpc>
                <a:spcPct val="107000"/>
              </a:lnSpc>
              <a:spcAft>
                <a:spcPts val="800"/>
              </a:spcAft>
            </a:pPr>
            <a:r>
              <a:rPr lang="it-IT" sz="1800" dirty="0">
                <a:effectLst/>
                <a:latin typeface="Calibri" panose="020F0502020204030204" pitchFamily="34" charset="0"/>
                <a:ea typeface="Calibri" panose="020F0502020204030204" pitchFamily="34" charset="0"/>
                <a:cs typeface="Times New Roman" panose="02020603050405020304" pitchFamily="18" charset="0"/>
              </a:rPr>
              <a:t>Protocollo per l’interrogazione e la modifica dei servizi di directory.  Lo standard di riferimento è l’X500 ma è stato sviluppato uno standard </a:t>
            </a:r>
            <a:r>
              <a:rPr lang="it-IT" sz="1800" dirty="0" err="1">
                <a:effectLst/>
                <a:latin typeface="Calibri" panose="020F0502020204030204" pitchFamily="34" charset="0"/>
                <a:ea typeface="Calibri" panose="020F0502020204030204" pitchFamily="34" charset="0"/>
                <a:cs typeface="Times New Roman" panose="02020603050405020304" pitchFamily="18" charset="0"/>
              </a:rPr>
              <a:t>piu’</a:t>
            </a:r>
            <a:r>
              <a:rPr lang="it-IT" sz="1800" dirty="0">
                <a:effectLst/>
                <a:latin typeface="Calibri" panose="020F0502020204030204" pitchFamily="34" charset="0"/>
                <a:ea typeface="Calibri" panose="020F0502020204030204" pitchFamily="34" charset="0"/>
                <a:cs typeface="Times New Roman" panose="02020603050405020304" pitchFamily="18" charset="0"/>
              </a:rPr>
              <a:t> leggero chiamato LDAP (Light Directory Access </a:t>
            </a:r>
            <a:r>
              <a:rPr lang="it-IT" sz="1800" dirty="0" err="1">
                <a:effectLst/>
                <a:latin typeface="Calibri" panose="020F0502020204030204" pitchFamily="34" charset="0"/>
                <a:ea typeface="Calibri" panose="020F0502020204030204" pitchFamily="34" charset="0"/>
                <a:cs typeface="Times New Roman" panose="02020603050405020304" pitchFamily="18" charset="0"/>
              </a:rPr>
              <a:t>Protocol</a:t>
            </a:r>
            <a:r>
              <a:rPr lang="it-IT" sz="1800" dirty="0">
                <a:effectLst/>
                <a:latin typeface="Calibri" panose="020F0502020204030204" pitchFamily="34" charset="0"/>
                <a:ea typeface="Calibri" panose="020F0502020204030204" pitchFamily="34" charset="0"/>
                <a:cs typeface="Times New Roman" panose="02020603050405020304" pitchFamily="18" charset="0"/>
              </a:rPr>
              <a:t>)</a:t>
            </a:r>
          </a:p>
          <a:p>
            <a:pPr>
              <a:lnSpc>
                <a:spcPct val="107000"/>
              </a:lnSpc>
              <a:spcAft>
                <a:spcPts val="800"/>
              </a:spcAft>
            </a:pPr>
            <a:r>
              <a:rPr lang="it-IT" sz="1800" dirty="0">
                <a:effectLst/>
                <a:latin typeface="Calibri" panose="020F0502020204030204" pitchFamily="34" charset="0"/>
                <a:ea typeface="Calibri" panose="020F0502020204030204" pitchFamily="34" charset="0"/>
                <a:cs typeface="Times New Roman" panose="02020603050405020304" pitchFamily="18" charset="0"/>
              </a:rPr>
              <a:t>LDAP è il protocollo di accesso alla directory.</a:t>
            </a:r>
          </a:p>
          <a:p>
            <a:pPr>
              <a:lnSpc>
                <a:spcPct val="107000"/>
              </a:lnSpc>
              <a:spcAft>
                <a:spcPts val="800"/>
              </a:spcAft>
            </a:pPr>
            <a:r>
              <a:rPr lang="it-IT" sz="1800" dirty="0">
                <a:effectLst/>
                <a:latin typeface="Calibri" panose="020F0502020204030204" pitchFamily="34" charset="0"/>
                <a:ea typeface="Calibri" panose="020F0502020204030204" pitchFamily="34" charset="0"/>
                <a:cs typeface="Times New Roman" panose="02020603050405020304" pitchFamily="18" charset="0"/>
              </a:rPr>
              <a:t>Il client può richiedere le seguenti operazioni:</a:t>
            </a:r>
          </a:p>
          <a:p>
            <a:pPr marL="800100" lvl="1" indent="-342900">
              <a:lnSpc>
                <a:spcPct val="107000"/>
              </a:lnSpc>
              <a:buFont typeface="Calibri" panose="020F0502020204030204" pitchFamily="34" charset="0"/>
              <a:buChar char="-"/>
            </a:pPr>
            <a:r>
              <a:rPr lang="it-IT" sz="1400" dirty="0" err="1">
                <a:effectLst/>
                <a:latin typeface="Calibri" panose="020F0502020204030204" pitchFamily="34" charset="0"/>
                <a:ea typeface="Calibri" panose="020F0502020204030204" pitchFamily="34" charset="0"/>
                <a:cs typeface="Times New Roman" panose="02020603050405020304" pitchFamily="18" charset="0"/>
              </a:rPr>
              <a:t>Bind</a:t>
            </a:r>
            <a:r>
              <a:rPr lang="it-IT" sz="1400" dirty="0">
                <a:effectLst/>
                <a:latin typeface="Calibri" panose="020F0502020204030204" pitchFamily="34" charset="0"/>
                <a:ea typeface="Calibri" panose="020F0502020204030204" pitchFamily="34" charset="0"/>
                <a:cs typeface="Times New Roman" panose="02020603050405020304" pitchFamily="18" charset="0"/>
              </a:rPr>
              <a:t> — esegue l'autenticazione</a:t>
            </a:r>
          </a:p>
          <a:p>
            <a:pPr marL="800100" lvl="1" indent="-342900">
              <a:lnSpc>
                <a:spcPct val="107000"/>
              </a:lnSpc>
              <a:buFont typeface="Calibri" panose="020F0502020204030204" pitchFamily="34" charset="0"/>
              <a:buChar char="-"/>
            </a:pPr>
            <a:r>
              <a:rPr lang="it-IT" sz="1400" dirty="0" err="1">
                <a:effectLst/>
                <a:latin typeface="Calibri" panose="020F0502020204030204" pitchFamily="34" charset="0"/>
                <a:ea typeface="Calibri" panose="020F0502020204030204" pitchFamily="34" charset="0"/>
                <a:cs typeface="Times New Roman" panose="02020603050405020304" pitchFamily="18" charset="0"/>
              </a:rPr>
              <a:t>Search</a:t>
            </a:r>
            <a:r>
              <a:rPr lang="it-IT" sz="1400" dirty="0">
                <a:effectLst/>
                <a:latin typeface="Calibri" panose="020F0502020204030204" pitchFamily="34" charset="0"/>
                <a:ea typeface="Calibri" panose="020F0502020204030204" pitchFamily="34" charset="0"/>
                <a:cs typeface="Times New Roman" panose="02020603050405020304" pitchFamily="18" charset="0"/>
              </a:rPr>
              <a:t> — esegue una ricerca </a:t>
            </a:r>
          </a:p>
          <a:p>
            <a:pPr marL="800100" lvl="1" indent="-342900">
              <a:lnSpc>
                <a:spcPct val="107000"/>
              </a:lnSpc>
              <a:buFont typeface="Calibri" panose="020F0502020204030204" pitchFamily="34" charset="0"/>
              <a:buChar char="-"/>
            </a:pPr>
            <a:r>
              <a:rPr lang="it-IT" sz="1400" dirty="0">
                <a:effectLst/>
                <a:latin typeface="Calibri" panose="020F0502020204030204" pitchFamily="34" charset="0"/>
                <a:ea typeface="Calibri" panose="020F0502020204030204" pitchFamily="34" charset="0"/>
                <a:cs typeface="Times New Roman" panose="02020603050405020304" pitchFamily="18" charset="0"/>
              </a:rPr>
              <a:t>Compare — esegue un test di confronto tra un valore e il valore assegnato ad un attributo</a:t>
            </a:r>
          </a:p>
          <a:p>
            <a:pPr marL="800100" lvl="1" indent="-342900">
              <a:lnSpc>
                <a:spcPct val="107000"/>
              </a:lnSpc>
              <a:buFont typeface="Calibri" panose="020F0502020204030204" pitchFamily="34" charset="0"/>
              <a:buChar char="-"/>
            </a:pPr>
            <a:r>
              <a:rPr lang="it-IT" sz="1400" dirty="0" err="1">
                <a:effectLst/>
                <a:latin typeface="Calibri" panose="020F0502020204030204" pitchFamily="34" charset="0"/>
                <a:ea typeface="Calibri" panose="020F0502020204030204" pitchFamily="34" charset="0"/>
                <a:cs typeface="Times New Roman" panose="02020603050405020304" pitchFamily="18" charset="0"/>
              </a:rPr>
              <a:t>Add</a:t>
            </a:r>
            <a:r>
              <a:rPr lang="it-IT" sz="1400" dirty="0">
                <a:effectLst/>
                <a:latin typeface="Calibri" panose="020F0502020204030204" pitchFamily="34" charset="0"/>
                <a:ea typeface="Calibri" panose="020F0502020204030204" pitchFamily="34" charset="0"/>
                <a:cs typeface="Times New Roman" panose="02020603050405020304" pitchFamily="18" charset="0"/>
              </a:rPr>
              <a:t> - aggiunge un nuovo oggetto</a:t>
            </a:r>
          </a:p>
          <a:p>
            <a:pPr marL="800100" lvl="1" indent="-342900">
              <a:lnSpc>
                <a:spcPct val="107000"/>
              </a:lnSpc>
              <a:buFont typeface="Calibri" panose="020F0502020204030204" pitchFamily="34" charset="0"/>
              <a:buChar char="-"/>
            </a:pPr>
            <a:r>
              <a:rPr lang="it-IT" sz="1400" dirty="0">
                <a:effectLst/>
                <a:latin typeface="Calibri" panose="020F0502020204030204" pitchFamily="34" charset="0"/>
                <a:ea typeface="Calibri" panose="020F0502020204030204" pitchFamily="34" charset="0"/>
                <a:cs typeface="Times New Roman" panose="02020603050405020304" pitchFamily="18" charset="0"/>
              </a:rPr>
              <a:t>Delete - cancella un oggetto</a:t>
            </a:r>
          </a:p>
          <a:p>
            <a:pPr marL="800100" lvl="1" indent="-342900">
              <a:lnSpc>
                <a:spcPct val="107000"/>
              </a:lnSpc>
              <a:buFont typeface="Calibri" panose="020F0502020204030204" pitchFamily="34" charset="0"/>
              <a:buChar char="-"/>
            </a:pPr>
            <a:r>
              <a:rPr lang="it-IT" sz="1400" dirty="0" err="1">
                <a:effectLst/>
                <a:latin typeface="Calibri" panose="020F0502020204030204" pitchFamily="34" charset="0"/>
                <a:ea typeface="Calibri" panose="020F0502020204030204" pitchFamily="34" charset="0"/>
                <a:cs typeface="Times New Roman" panose="02020603050405020304" pitchFamily="18" charset="0"/>
              </a:rPr>
              <a:t>Modify</a:t>
            </a:r>
            <a:r>
              <a:rPr lang="it-IT" sz="1400" dirty="0">
                <a:effectLst/>
                <a:latin typeface="Calibri" panose="020F0502020204030204" pitchFamily="34" charset="0"/>
                <a:ea typeface="Calibri" panose="020F0502020204030204" pitchFamily="34" charset="0"/>
                <a:cs typeface="Times New Roman" panose="02020603050405020304" pitchFamily="18" charset="0"/>
              </a:rPr>
              <a:t> - modifica gli attributi di un oggetto</a:t>
            </a:r>
          </a:p>
          <a:p>
            <a:pPr marL="800100" lvl="1" indent="-342900">
              <a:lnSpc>
                <a:spcPct val="107000"/>
              </a:lnSpc>
              <a:buFont typeface="Calibri" panose="020F0502020204030204" pitchFamily="34" charset="0"/>
              <a:buChar char="-"/>
            </a:pPr>
            <a:r>
              <a:rPr lang="it-IT" sz="1400" dirty="0" err="1">
                <a:effectLst/>
                <a:latin typeface="Calibri" panose="020F0502020204030204" pitchFamily="34" charset="0"/>
                <a:ea typeface="Calibri" panose="020F0502020204030204" pitchFamily="34" charset="0"/>
                <a:cs typeface="Times New Roman" panose="02020603050405020304" pitchFamily="18" charset="0"/>
              </a:rPr>
              <a:t>Modify</a:t>
            </a:r>
            <a:r>
              <a:rPr lang="it-IT" sz="1400" dirty="0">
                <a:effectLst/>
                <a:latin typeface="Calibri" panose="020F0502020204030204" pitchFamily="34" charset="0"/>
                <a:ea typeface="Calibri" panose="020F0502020204030204" pitchFamily="34" charset="0"/>
                <a:cs typeface="Times New Roman" panose="02020603050405020304" pitchFamily="18" charset="0"/>
              </a:rPr>
              <a:t> </a:t>
            </a:r>
            <a:r>
              <a:rPr lang="it-IT" sz="1400" dirty="0" err="1">
                <a:effectLst/>
                <a:latin typeface="Calibri" panose="020F0502020204030204" pitchFamily="34" charset="0"/>
                <a:ea typeface="Calibri" panose="020F0502020204030204" pitchFamily="34" charset="0"/>
                <a:cs typeface="Times New Roman" panose="02020603050405020304" pitchFamily="18" charset="0"/>
              </a:rPr>
              <a:t>Distinguished</a:t>
            </a:r>
            <a:r>
              <a:rPr lang="it-IT" sz="1400" dirty="0">
                <a:effectLst/>
                <a:latin typeface="Calibri" panose="020F0502020204030204" pitchFamily="34" charset="0"/>
                <a:ea typeface="Calibri" panose="020F0502020204030204" pitchFamily="34" charset="0"/>
                <a:cs typeface="Times New Roman" panose="02020603050405020304" pitchFamily="18" charset="0"/>
              </a:rPr>
              <a:t> Name (DN) — sposta o rinomina un oggetto</a:t>
            </a:r>
          </a:p>
          <a:p>
            <a:pPr marL="800100" lvl="1" indent="-342900">
              <a:lnSpc>
                <a:spcPct val="107000"/>
              </a:lnSpc>
              <a:buFont typeface="Calibri" panose="020F0502020204030204" pitchFamily="34" charset="0"/>
              <a:buChar char="-"/>
            </a:pPr>
            <a:r>
              <a:rPr lang="it-IT" sz="1400" dirty="0" err="1">
                <a:effectLst/>
                <a:latin typeface="Calibri" panose="020F0502020204030204" pitchFamily="34" charset="0"/>
                <a:ea typeface="Calibri" panose="020F0502020204030204" pitchFamily="34" charset="0"/>
                <a:cs typeface="Times New Roman" panose="02020603050405020304" pitchFamily="18" charset="0"/>
              </a:rPr>
              <a:t>Abandon</a:t>
            </a:r>
            <a:r>
              <a:rPr lang="it-IT" sz="1400" dirty="0">
                <a:effectLst/>
                <a:latin typeface="Calibri" panose="020F0502020204030204" pitchFamily="34" charset="0"/>
                <a:ea typeface="Calibri" panose="020F0502020204030204" pitchFamily="34" charset="0"/>
                <a:cs typeface="Times New Roman" panose="02020603050405020304" pitchFamily="18" charset="0"/>
              </a:rPr>
              <a:t> — annulla una richiesta inviata in precedenza</a:t>
            </a:r>
          </a:p>
          <a:p>
            <a:pPr marL="800100" lvl="1" indent="-342900">
              <a:lnSpc>
                <a:spcPct val="107000"/>
              </a:lnSpc>
              <a:buFont typeface="Calibri" panose="020F0502020204030204" pitchFamily="34" charset="0"/>
              <a:buChar char="-"/>
            </a:pPr>
            <a:r>
              <a:rPr lang="it-IT" sz="1400" dirty="0">
                <a:effectLst/>
                <a:latin typeface="Calibri" panose="020F0502020204030204" pitchFamily="34" charset="0"/>
                <a:ea typeface="Calibri" panose="020F0502020204030204" pitchFamily="34" charset="0"/>
                <a:cs typeface="Times New Roman" panose="02020603050405020304" pitchFamily="18" charset="0"/>
              </a:rPr>
              <a:t>Extended </a:t>
            </a:r>
            <a:r>
              <a:rPr lang="it-IT" sz="1400" dirty="0" err="1">
                <a:effectLst/>
                <a:latin typeface="Calibri" panose="020F0502020204030204" pitchFamily="34" charset="0"/>
                <a:ea typeface="Calibri" panose="020F0502020204030204" pitchFamily="34" charset="0"/>
                <a:cs typeface="Times New Roman" panose="02020603050405020304" pitchFamily="18" charset="0"/>
              </a:rPr>
              <a:t>Operation</a:t>
            </a:r>
            <a:r>
              <a:rPr lang="it-IT" sz="1400" dirty="0">
                <a:effectLst/>
                <a:latin typeface="Calibri" panose="020F0502020204030204" pitchFamily="34" charset="0"/>
                <a:ea typeface="Calibri" panose="020F0502020204030204" pitchFamily="34" charset="0"/>
                <a:cs typeface="Times New Roman" panose="02020603050405020304" pitchFamily="18" charset="0"/>
              </a:rPr>
              <a:t> — richiesta di operazioni estese (definite in altre RFC)</a:t>
            </a:r>
          </a:p>
          <a:p>
            <a:pPr marL="800100" lvl="1" indent="-342900">
              <a:lnSpc>
                <a:spcPct val="107000"/>
              </a:lnSpc>
              <a:buFont typeface="Calibri" panose="020F0502020204030204" pitchFamily="34" charset="0"/>
              <a:buChar char="-"/>
            </a:pPr>
            <a:r>
              <a:rPr lang="it-IT" sz="1400" dirty="0" err="1">
                <a:effectLst/>
                <a:latin typeface="Calibri" panose="020F0502020204030204" pitchFamily="34" charset="0"/>
                <a:ea typeface="Calibri" panose="020F0502020204030204" pitchFamily="34" charset="0"/>
                <a:cs typeface="Times New Roman" panose="02020603050405020304" pitchFamily="18" charset="0"/>
              </a:rPr>
              <a:t>Unbind</a:t>
            </a:r>
            <a:r>
              <a:rPr lang="it-IT" sz="1400" dirty="0">
                <a:effectLst/>
                <a:latin typeface="Calibri" panose="020F0502020204030204" pitchFamily="34" charset="0"/>
                <a:ea typeface="Calibri" panose="020F0502020204030204" pitchFamily="34" charset="0"/>
                <a:cs typeface="Times New Roman" panose="02020603050405020304" pitchFamily="18" charset="0"/>
              </a:rPr>
              <a:t> — indica al server di chiudere la connessione (non è esattamente l'inverso della </a:t>
            </a:r>
            <a:r>
              <a:rPr lang="it-IT" sz="1400" dirty="0" err="1">
                <a:effectLst/>
                <a:latin typeface="Calibri" panose="020F0502020204030204" pitchFamily="34" charset="0"/>
                <a:ea typeface="Calibri" panose="020F0502020204030204" pitchFamily="34" charset="0"/>
                <a:cs typeface="Times New Roman" panose="02020603050405020304" pitchFamily="18" charset="0"/>
              </a:rPr>
              <a:t>Bind</a:t>
            </a:r>
            <a:r>
              <a:rPr lang="it-IT" sz="1400" dirty="0">
                <a:effectLst/>
                <a:latin typeface="Calibri" panose="020F0502020204030204" pitchFamily="34" charset="0"/>
                <a:ea typeface="Calibri" panose="020F0502020204030204" pitchFamily="34" charset="0"/>
                <a:cs typeface="Times New Roman" panose="02020603050405020304" pitchFamily="18" charset="0"/>
              </a:rPr>
              <a:t>)</a:t>
            </a:r>
          </a:p>
          <a:p>
            <a:pPr marL="800100" lvl="1" indent="-342900">
              <a:lnSpc>
                <a:spcPct val="107000"/>
              </a:lnSpc>
              <a:spcAft>
                <a:spcPts val="800"/>
              </a:spcAft>
              <a:buFont typeface="Calibri" panose="020F0502020204030204" pitchFamily="34" charset="0"/>
              <a:buChar char="-"/>
            </a:pPr>
            <a:r>
              <a:rPr lang="it-IT" sz="1400" u="none" strike="noStrike" dirty="0" err="1">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2" tooltip="StartTLS"/>
              </a:rPr>
              <a:t>StartTLS</a:t>
            </a:r>
            <a:r>
              <a:rPr lang="it-IT" sz="1400" dirty="0">
                <a:effectLst/>
                <a:latin typeface="Calibri" panose="020F0502020204030204" pitchFamily="34" charset="0"/>
                <a:ea typeface="Calibri" panose="020F0502020204030204" pitchFamily="34" charset="0"/>
                <a:cs typeface="Times New Roman" panose="02020603050405020304" pitchFamily="18" charset="0"/>
              </a:rPr>
              <a:t> — estensione per utilizzare </a:t>
            </a:r>
            <a:r>
              <a:rPr lang="it-IT" sz="1400" u="none" strike="noStrike" dirty="0" err="1">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3" tooltip="Transport Layer Security"/>
              </a:rPr>
              <a:t>Transport</a:t>
            </a:r>
            <a:r>
              <a:rPr lang="it-IT" sz="1400" u="none" strike="noStrike"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3" tooltip="Transport Layer Security"/>
              </a:rPr>
              <a:t> Layer Security</a:t>
            </a:r>
            <a:r>
              <a:rPr lang="it-IT" sz="1400" dirty="0">
                <a:effectLst/>
                <a:latin typeface="Calibri" panose="020F0502020204030204" pitchFamily="34" charset="0"/>
                <a:ea typeface="Calibri" panose="020F0502020204030204" pitchFamily="34" charset="0"/>
                <a:cs typeface="Times New Roman" panose="02020603050405020304" pitchFamily="18" charset="0"/>
              </a:rPr>
              <a:t> (TLS) per eseguire la </a:t>
            </a:r>
            <a:r>
              <a:rPr lang="it-IT" sz="1400" dirty="0" err="1">
                <a:effectLst/>
                <a:latin typeface="Calibri" panose="020F0502020204030204" pitchFamily="34" charset="0"/>
                <a:ea typeface="Calibri" panose="020F0502020204030204" pitchFamily="34" charset="0"/>
                <a:cs typeface="Times New Roman" panose="02020603050405020304" pitchFamily="18" charset="0"/>
              </a:rPr>
              <a:t>Bind</a:t>
            </a:r>
            <a:endParaRPr lang="it-IT" sz="1400" dirty="0">
              <a:effectLst/>
              <a:latin typeface="Calibri" panose="020F0502020204030204" pitchFamily="34" charset="0"/>
              <a:ea typeface="Calibri" panose="020F0502020204030204" pitchFamily="34" charset="0"/>
              <a:cs typeface="Times New Roman" panose="02020603050405020304" pitchFamily="18" charset="0"/>
            </a:endParaRPr>
          </a:p>
          <a:p>
            <a:endParaRPr lang="it-IT" dirty="0"/>
          </a:p>
        </p:txBody>
      </p:sp>
      <p:pic>
        <p:nvPicPr>
          <p:cNvPr id="6" name="Immagine 5">
            <a:extLst>
              <a:ext uri="{FF2B5EF4-FFF2-40B4-BE49-F238E27FC236}">
                <a16:creationId xmlns:a16="http://schemas.microsoft.com/office/drawing/2014/main" id="{3809967B-39EC-4498-A9AF-1EA94892E9B6}"/>
              </a:ext>
            </a:extLst>
          </p:cNvPr>
          <p:cNvPicPr>
            <a:picLocks noChangeAspect="1"/>
          </p:cNvPicPr>
          <p:nvPr/>
        </p:nvPicPr>
        <p:blipFill>
          <a:blip r:embed="rId4"/>
          <a:stretch>
            <a:fillRect/>
          </a:stretch>
        </p:blipFill>
        <p:spPr>
          <a:xfrm>
            <a:off x="8031480" y="1374618"/>
            <a:ext cx="3883276" cy="4802345"/>
          </a:xfrm>
          <a:prstGeom prst="rect">
            <a:avLst/>
          </a:prstGeom>
        </p:spPr>
      </p:pic>
    </p:spTree>
    <p:extLst>
      <p:ext uri="{BB962C8B-B14F-4D97-AF65-F5344CB8AC3E}">
        <p14:creationId xmlns:p14="http://schemas.microsoft.com/office/powerpoint/2010/main" val="413200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C26327E-0E03-45A7-AB15-1B0887C3FD92}"/>
              </a:ext>
            </a:extLst>
          </p:cNvPr>
          <p:cNvSpPr>
            <a:spLocks noGrp="1"/>
          </p:cNvSpPr>
          <p:nvPr>
            <p:ph type="title"/>
          </p:nvPr>
        </p:nvSpPr>
        <p:spPr/>
        <p:txBody>
          <a:bodyPr/>
          <a:lstStyle/>
          <a:p>
            <a:r>
              <a:rPr lang="it-IT" dirty="0">
                <a:solidFill>
                  <a:srgbClr val="0070C0"/>
                </a:solidFill>
                <a:effectLst/>
                <a:latin typeface="Coli"/>
                <a:ea typeface="Times New Roman" panose="02020603050405020304" pitchFamily="18" charset="0"/>
              </a:rPr>
              <a:t>Il protocollo LDAP  2/2</a:t>
            </a:r>
            <a:endParaRPr lang="it-IT" dirty="0"/>
          </a:p>
        </p:txBody>
      </p:sp>
      <p:sp>
        <p:nvSpPr>
          <p:cNvPr id="3" name="Segnaposto contenuto 2">
            <a:extLst>
              <a:ext uri="{FF2B5EF4-FFF2-40B4-BE49-F238E27FC236}">
                <a16:creationId xmlns:a16="http://schemas.microsoft.com/office/drawing/2014/main" id="{2FECA45A-1C9C-4880-981E-0F2A9FF7C3BC}"/>
              </a:ext>
            </a:extLst>
          </p:cNvPr>
          <p:cNvSpPr>
            <a:spLocks noGrp="1"/>
          </p:cNvSpPr>
          <p:nvPr>
            <p:ph idx="1"/>
          </p:nvPr>
        </p:nvSpPr>
        <p:spPr>
          <a:xfrm>
            <a:off x="838200" y="1690688"/>
            <a:ext cx="7193280" cy="4486275"/>
          </a:xfrm>
        </p:spPr>
        <p:txBody>
          <a:bodyPr>
            <a:normAutofit fontScale="85000" lnSpcReduction="10000"/>
          </a:bodyPr>
          <a:lstStyle/>
          <a:p>
            <a:pPr>
              <a:lnSpc>
                <a:spcPct val="107000"/>
              </a:lnSpc>
              <a:spcAft>
                <a:spcPts val="800"/>
              </a:spcAft>
            </a:pPr>
            <a:r>
              <a:rPr lang="it-IT" sz="1800" dirty="0">
                <a:effectLst/>
                <a:latin typeface="Calibri" panose="020F0502020204030204" pitchFamily="34" charset="0"/>
                <a:ea typeface="Calibri" panose="020F0502020204030204" pitchFamily="34" charset="0"/>
                <a:cs typeface="Times New Roman" panose="02020603050405020304" pitchFamily="18" charset="0"/>
              </a:rPr>
              <a:t>Un entry è indicata con il suo </a:t>
            </a:r>
            <a:r>
              <a:rPr lang="it-IT" sz="1800" dirty="0" err="1">
                <a:effectLst/>
                <a:latin typeface="Calibri" panose="020F0502020204030204" pitchFamily="34" charset="0"/>
                <a:ea typeface="Calibri" panose="020F0502020204030204" pitchFamily="34" charset="0"/>
                <a:cs typeface="Times New Roman" panose="02020603050405020304" pitchFamily="18" charset="0"/>
              </a:rPr>
              <a:t>distinguished</a:t>
            </a:r>
            <a:r>
              <a:rPr lang="it-IT" sz="1800" dirty="0">
                <a:effectLst/>
                <a:latin typeface="Calibri" panose="020F0502020204030204" pitchFamily="34" charset="0"/>
                <a:ea typeface="Calibri" panose="020F0502020204030204" pitchFamily="34" charset="0"/>
                <a:cs typeface="Times New Roman" panose="02020603050405020304" pitchFamily="18" charset="0"/>
              </a:rPr>
              <a:t> name</a:t>
            </a:r>
          </a:p>
          <a:p>
            <a:pPr lvl="1">
              <a:lnSpc>
                <a:spcPct val="107000"/>
              </a:lnSpc>
              <a:spcAft>
                <a:spcPts val="800"/>
              </a:spcAft>
            </a:pPr>
            <a:r>
              <a:rPr lang="en-US" sz="1400" i="1" dirty="0">
                <a:effectLst/>
                <a:latin typeface="Calibri" panose="020F0502020204030204" pitchFamily="34" charset="0"/>
                <a:ea typeface="Calibri" panose="020F0502020204030204" pitchFamily="34" charset="0"/>
                <a:cs typeface="Times New Roman" panose="02020603050405020304" pitchFamily="18" charset="0"/>
              </a:rPr>
              <a:t>distinguished name (DN): "</a:t>
            </a:r>
            <a:r>
              <a:rPr lang="en-US" sz="1400" i="1" dirty="0" err="1">
                <a:effectLst/>
                <a:latin typeface="Calibri" panose="020F0502020204030204" pitchFamily="34" charset="0"/>
                <a:ea typeface="Calibri" panose="020F0502020204030204" pitchFamily="34" charset="0"/>
                <a:cs typeface="Times New Roman" panose="02020603050405020304" pitchFamily="18" charset="0"/>
              </a:rPr>
              <a:t>cn</a:t>
            </a:r>
            <a:r>
              <a:rPr lang="en-US" sz="1400" i="1" dirty="0">
                <a:effectLst/>
                <a:latin typeface="Calibri" panose="020F0502020204030204" pitchFamily="34" charset="0"/>
                <a:ea typeface="Calibri" panose="020F0502020204030204" pitchFamily="34" charset="0"/>
                <a:cs typeface="Times New Roman" panose="02020603050405020304" pitchFamily="18" charset="0"/>
              </a:rPr>
              <a:t>= </a:t>
            </a:r>
            <a:r>
              <a:rPr lang="en-US" sz="1400" i="1" dirty="0" err="1">
                <a:effectLst/>
                <a:latin typeface="Calibri" panose="020F0502020204030204" pitchFamily="34" charset="0"/>
                <a:ea typeface="Calibri" panose="020F0502020204030204" pitchFamily="34" charset="0"/>
                <a:cs typeface="Times New Roman" panose="02020603050405020304" pitchFamily="18" charset="0"/>
              </a:rPr>
              <a:t>Administrator,CN</a:t>
            </a:r>
            <a:r>
              <a:rPr lang="en-US" sz="1400" i="1" dirty="0">
                <a:effectLst/>
                <a:latin typeface="Calibri" panose="020F0502020204030204" pitchFamily="34" charset="0"/>
                <a:ea typeface="Calibri" panose="020F0502020204030204" pitchFamily="34" charset="0"/>
                <a:cs typeface="Times New Roman" panose="02020603050405020304" pitchFamily="18" charset="0"/>
              </a:rPr>
              <a:t>=</a:t>
            </a:r>
            <a:r>
              <a:rPr lang="en-US" sz="1400" i="1" dirty="0" err="1">
                <a:effectLst/>
                <a:latin typeface="Calibri" panose="020F0502020204030204" pitchFamily="34" charset="0"/>
                <a:ea typeface="Calibri" panose="020F0502020204030204" pitchFamily="34" charset="0"/>
                <a:cs typeface="Times New Roman" panose="02020603050405020304" pitchFamily="18" charset="0"/>
              </a:rPr>
              <a:t>Users,dc</a:t>
            </a:r>
            <a:r>
              <a:rPr lang="en-US" sz="1400" i="1" dirty="0">
                <a:effectLst/>
                <a:latin typeface="Calibri" panose="020F0502020204030204" pitchFamily="34" charset="0"/>
                <a:ea typeface="Calibri" panose="020F0502020204030204" pitchFamily="34" charset="0"/>
                <a:cs typeface="Times New Roman" panose="02020603050405020304" pitchFamily="18" charset="0"/>
              </a:rPr>
              <a:t>=</a:t>
            </a:r>
            <a:r>
              <a:rPr lang="en-US" sz="1400" i="1" dirty="0" err="1">
                <a:effectLst/>
                <a:latin typeface="Calibri" panose="020F0502020204030204" pitchFamily="34" charset="0"/>
                <a:ea typeface="Calibri" panose="020F0502020204030204" pitchFamily="34" charset="0"/>
                <a:cs typeface="Times New Roman" panose="02020603050405020304" pitchFamily="18" charset="0"/>
              </a:rPr>
              <a:t>example,dc</a:t>
            </a:r>
            <a:r>
              <a:rPr lang="en-US" sz="1400" i="1" dirty="0">
                <a:effectLst/>
                <a:latin typeface="Calibri" panose="020F0502020204030204" pitchFamily="34" charset="0"/>
                <a:ea typeface="Calibri" panose="020F0502020204030204" pitchFamily="34" charset="0"/>
                <a:cs typeface="Times New Roman" panose="02020603050405020304" pitchFamily="18" charset="0"/>
              </a:rPr>
              <a:t>=local"</a:t>
            </a:r>
            <a:endParaRPr lang="it-IT"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it-IT" sz="1800" dirty="0">
                <a:effectLst/>
                <a:latin typeface="Times New Roman" panose="02020603050405020304" pitchFamily="18" charset="0"/>
                <a:ea typeface="Times New Roman" panose="02020603050405020304" pitchFamily="18" charset="0"/>
                <a:cs typeface="Times New Roman" panose="02020603050405020304" pitchFamily="18" charset="0"/>
              </a:rPr>
              <a:t>Un </a:t>
            </a:r>
            <a:r>
              <a:rPr lang="it-IT" sz="1800" dirty="0" err="1">
                <a:effectLst/>
                <a:latin typeface="Times New Roman" panose="02020603050405020304" pitchFamily="18" charset="0"/>
                <a:ea typeface="Times New Roman" panose="02020603050405020304" pitchFamily="18" charset="0"/>
                <a:cs typeface="Times New Roman" panose="02020603050405020304" pitchFamily="18" charset="0"/>
              </a:rPr>
              <a:t>distinguished</a:t>
            </a:r>
            <a:r>
              <a:rPr lang="it-IT" sz="1800" dirty="0">
                <a:effectLst/>
                <a:latin typeface="Times New Roman" panose="02020603050405020304" pitchFamily="18" charset="0"/>
                <a:ea typeface="Times New Roman" panose="02020603050405020304" pitchFamily="18" charset="0"/>
                <a:cs typeface="Times New Roman" panose="02020603050405020304" pitchFamily="18" charset="0"/>
              </a:rPr>
              <a:t> name o </a:t>
            </a:r>
            <a:r>
              <a:rPr lang="it-IT" sz="1800" b="1" dirty="0">
                <a:effectLst/>
                <a:latin typeface="Times New Roman" panose="02020603050405020304" pitchFamily="18" charset="0"/>
                <a:ea typeface="Times New Roman" panose="02020603050405020304" pitchFamily="18" charset="0"/>
                <a:cs typeface="Times New Roman" panose="02020603050405020304" pitchFamily="18" charset="0"/>
              </a:rPr>
              <a:t>DN</a:t>
            </a:r>
            <a:r>
              <a:rPr lang="it-IT" sz="1800" dirty="0">
                <a:effectLst/>
                <a:latin typeface="Times New Roman" panose="02020603050405020304" pitchFamily="18" charset="0"/>
                <a:ea typeface="Times New Roman" panose="02020603050405020304" pitchFamily="18" charset="0"/>
                <a:cs typeface="Times New Roman" panose="02020603050405020304" pitchFamily="18" charset="0"/>
              </a:rPr>
              <a:t> è una sequenza di </a:t>
            </a:r>
            <a:r>
              <a:rPr lang="it-IT" sz="1800" dirty="0" err="1">
                <a:effectLst/>
                <a:latin typeface="Times New Roman" panose="02020603050405020304" pitchFamily="18" charset="0"/>
                <a:ea typeface="Times New Roman" panose="02020603050405020304" pitchFamily="18" charset="0"/>
                <a:cs typeface="Times New Roman" panose="02020603050405020304" pitchFamily="18" charset="0"/>
              </a:rPr>
              <a:t>distinguished</a:t>
            </a:r>
            <a:r>
              <a:rPr lang="it-IT" sz="1800" dirty="0">
                <a:effectLst/>
                <a:latin typeface="Times New Roman" panose="02020603050405020304" pitchFamily="18" charset="0"/>
                <a:ea typeface="Times New Roman" panose="02020603050405020304" pitchFamily="18" charset="0"/>
                <a:cs typeface="Times New Roman" panose="02020603050405020304" pitchFamily="18" charset="0"/>
              </a:rPr>
              <a:t> names relative (RDN) collegati dalla virgola.</a:t>
            </a:r>
            <a:endParaRPr lang="it-IT"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it-IT" sz="1800" dirty="0">
                <a:effectLst/>
                <a:latin typeface="Times New Roman" panose="02020603050405020304" pitchFamily="18" charset="0"/>
                <a:ea typeface="Times New Roman" panose="02020603050405020304" pitchFamily="18" charset="0"/>
                <a:cs typeface="Times New Roman" panose="02020603050405020304" pitchFamily="18" charset="0"/>
              </a:rPr>
              <a:t>Un RDN è un attributo con un valore associato. Gli attributi possono essere i seguenti:</a:t>
            </a:r>
            <a:endParaRPr lang="it-IT" sz="1800" dirty="0">
              <a:effectLst/>
              <a:latin typeface="Calibri" panose="020F0502020204030204" pitchFamily="34" charset="0"/>
              <a:ea typeface="Calibri" panose="020F0502020204030204" pitchFamily="34" charset="0"/>
              <a:cs typeface="Times New Roman" panose="02020603050405020304" pitchFamily="18" charset="0"/>
            </a:endParaRPr>
          </a:p>
          <a:p>
            <a:pPr lvl="1"/>
            <a:r>
              <a:rPr lang="en-US" sz="1400" i="1" dirty="0">
                <a:effectLst/>
                <a:latin typeface="Calibri" panose="020F0502020204030204" pitchFamily="34" charset="0"/>
                <a:ea typeface="Calibri" panose="020F0502020204030204" pitchFamily="34" charset="0"/>
                <a:cs typeface="Times New Roman" panose="02020603050405020304" pitchFamily="18" charset="0"/>
              </a:rPr>
              <a:t>String	Attribute type</a:t>
            </a:r>
            <a:endParaRPr lang="it-IT" sz="1400" dirty="0">
              <a:effectLst/>
              <a:latin typeface="Calibri" panose="020F0502020204030204" pitchFamily="34" charset="0"/>
              <a:ea typeface="Calibri" panose="020F0502020204030204" pitchFamily="34" charset="0"/>
              <a:cs typeface="Times New Roman" panose="02020603050405020304" pitchFamily="18" charset="0"/>
            </a:endParaRPr>
          </a:p>
          <a:p>
            <a:pPr lvl="1"/>
            <a:r>
              <a:rPr lang="en-US" sz="1400" i="1" dirty="0">
                <a:effectLst/>
                <a:latin typeface="Calibri" panose="020F0502020204030204" pitchFamily="34" charset="0"/>
                <a:ea typeface="Calibri" panose="020F0502020204030204" pitchFamily="34" charset="0"/>
                <a:cs typeface="Times New Roman" panose="02020603050405020304" pitchFamily="18" charset="0"/>
              </a:rPr>
              <a:t>DC	</a:t>
            </a:r>
            <a:r>
              <a:rPr lang="en-US" sz="1400" i="1" dirty="0" err="1">
                <a:effectLst/>
                <a:latin typeface="Calibri" panose="020F0502020204030204" pitchFamily="34" charset="0"/>
                <a:ea typeface="Calibri" panose="020F0502020204030204" pitchFamily="34" charset="0"/>
                <a:cs typeface="Times New Roman" panose="02020603050405020304" pitchFamily="18" charset="0"/>
              </a:rPr>
              <a:t>domainComponent</a:t>
            </a:r>
            <a:endParaRPr lang="it-IT" sz="1400" dirty="0">
              <a:effectLst/>
              <a:latin typeface="Calibri" panose="020F0502020204030204" pitchFamily="34" charset="0"/>
              <a:ea typeface="Calibri" panose="020F0502020204030204" pitchFamily="34" charset="0"/>
              <a:cs typeface="Times New Roman" panose="02020603050405020304" pitchFamily="18" charset="0"/>
            </a:endParaRPr>
          </a:p>
          <a:p>
            <a:pPr lvl="1"/>
            <a:r>
              <a:rPr lang="en-US" sz="1400" i="1" dirty="0">
                <a:effectLst/>
                <a:latin typeface="Calibri" panose="020F0502020204030204" pitchFamily="34" charset="0"/>
                <a:ea typeface="Calibri" panose="020F0502020204030204" pitchFamily="34" charset="0"/>
                <a:cs typeface="Times New Roman" panose="02020603050405020304" pitchFamily="18" charset="0"/>
              </a:rPr>
              <a:t>CN	</a:t>
            </a:r>
            <a:r>
              <a:rPr lang="en-US" sz="1400" i="1" dirty="0" err="1">
                <a:effectLst/>
                <a:latin typeface="Calibri" panose="020F0502020204030204" pitchFamily="34" charset="0"/>
                <a:ea typeface="Calibri" panose="020F0502020204030204" pitchFamily="34" charset="0"/>
                <a:cs typeface="Times New Roman" panose="02020603050405020304" pitchFamily="18" charset="0"/>
              </a:rPr>
              <a:t>commonName</a:t>
            </a:r>
            <a:endParaRPr lang="it-IT" sz="1400" dirty="0">
              <a:effectLst/>
              <a:latin typeface="Calibri" panose="020F0502020204030204" pitchFamily="34" charset="0"/>
              <a:ea typeface="Calibri" panose="020F0502020204030204" pitchFamily="34" charset="0"/>
              <a:cs typeface="Times New Roman" panose="02020603050405020304" pitchFamily="18" charset="0"/>
            </a:endParaRPr>
          </a:p>
          <a:p>
            <a:pPr lvl="1"/>
            <a:r>
              <a:rPr lang="en-US" sz="1400" i="1" dirty="0">
                <a:effectLst/>
                <a:latin typeface="Calibri" panose="020F0502020204030204" pitchFamily="34" charset="0"/>
                <a:ea typeface="Calibri" panose="020F0502020204030204" pitchFamily="34" charset="0"/>
                <a:cs typeface="Times New Roman" panose="02020603050405020304" pitchFamily="18" charset="0"/>
              </a:rPr>
              <a:t>OU	</a:t>
            </a:r>
            <a:r>
              <a:rPr lang="en-US" sz="1400" i="1" dirty="0" err="1">
                <a:effectLst/>
                <a:latin typeface="Calibri" panose="020F0502020204030204" pitchFamily="34" charset="0"/>
                <a:ea typeface="Calibri" panose="020F0502020204030204" pitchFamily="34" charset="0"/>
                <a:cs typeface="Times New Roman" panose="02020603050405020304" pitchFamily="18" charset="0"/>
              </a:rPr>
              <a:t>organizationalUnitName</a:t>
            </a:r>
            <a:endParaRPr lang="it-IT" sz="1400" dirty="0">
              <a:effectLst/>
              <a:latin typeface="Calibri" panose="020F0502020204030204" pitchFamily="34" charset="0"/>
              <a:ea typeface="Calibri" panose="020F0502020204030204" pitchFamily="34" charset="0"/>
              <a:cs typeface="Times New Roman" panose="02020603050405020304" pitchFamily="18" charset="0"/>
            </a:endParaRPr>
          </a:p>
          <a:p>
            <a:pPr lvl="1"/>
            <a:r>
              <a:rPr lang="en-US" sz="1400" i="1" dirty="0">
                <a:effectLst/>
                <a:latin typeface="Calibri" panose="020F0502020204030204" pitchFamily="34" charset="0"/>
                <a:ea typeface="Calibri" panose="020F0502020204030204" pitchFamily="34" charset="0"/>
                <a:cs typeface="Times New Roman" panose="02020603050405020304" pitchFamily="18" charset="0"/>
              </a:rPr>
              <a:t>O	</a:t>
            </a:r>
            <a:r>
              <a:rPr lang="en-US" sz="1400" i="1" dirty="0" err="1">
                <a:effectLst/>
                <a:latin typeface="Calibri" panose="020F0502020204030204" pitchFamily="34" charset="0"/>
                <a:ea typeface="Calibri" panose="020F0502020204030204" pitchFamily="34" charset="0"/>
                <a:cs typeface="Times New Roman" panose="02020603050405020304" pitchFamily="18" charset="0"/>
              </a:rPr>
              <a:t>organizationName</a:t>
            </a:r>
            <a:endParaRPr lang="it-IT" sz="1400" dirty="0">
              <a:effectLst/>
              <a:latin typeface="Calibri" panose="020F0502020204030204" pitchFamily="34" charset="0"/>
              <a:ea typeface="Calibri" panose="020F0502020204030204" pitchFamily="34" charset="0"/>
              <a:cs typeface="Times New Roman" panose="02020603050405020304" pitchFamily="18" charset="0"/>
            </a:endParaRPr>
          </a:p>
          <a:p>
            <a:pPr lvl="1"/>
            <a:r>
              <a:rPr lang="en-US" sz="1400" i="1" dirty="0">
                <a:effectLst/>
                <a:latin typeface="Calibri" panose="020F0502020204030204" pitchFamily="34" charset="0"/>
                <a:ea typeface="Calibri" panose="020F0502020204030204" pitchFamily="34" charset="0"/>
                <a:cs typeface="Times New Roman" panose="02020603050405020304" pitchFamily="18" charset="0"/>
              </a:rPr>
              <a:t>STREET	</a:t>
            </a:r>
            <a:r>
              <a:rPr lang="en-US" sz="1400" i="1" dirty="0" err="1">
                <a:effectLst/>
                <a:latin typeface="Calibri" panose="020F0502020204030204" pitchFamily="34" charset="0"/>
                <a:ea typeface="Calibri" panose="020F0502020204030204" pitchFamily="34" charset="0"/>
                <a:cs typeface="Times New Roman" panose="02020603050405020304" pitchFamily="18" charset="0"/>
              </a:rPr>
              <a:t>streetAddress</a:t>
            </a:r>
            <a:endParaRPr lang="it-IT" sz="1400" dirty="0">
              <a:effectLst/>
              <a:latin typeface="Calibri" panose="020F0502020204030204" pitchFamily="34" charset="0"/>
              <a:ea typeface="Calibri" panose="020F0502020204030204" pitchFamily="34" charset="0"/>
              <a:cs typeface="Times New Roman" panose="02020603050405020304" pitchFamily="18" charset="0"/>
            </a:endParaRPr>
          </a:p>
          <a:p>
            <a:pPr lvl="1"/>
            <a:r>
              <a:rPr lang="en-US" sz="1400" i="1" dirty="0">
                <a:effectLst/>
                <a:latin typeface="Calibri" panose="020F0502020204030204" pitchFamily="34" charset="0"/>
                <a:ea typeface="Calibri" panose="020F0502020204030204" pitchFamily="34" charset="0"/>
                <a:cs typeface="Times New Roman" panose="02020603050405020304" pitchFamily="18" charset="0"/>
              </a:rPr>
              <a:t>L	</a:t>
            </a:r>
            <a:r>
              <a:rPr lang="en-US" sz="1400" i="1" dirty="0" err="1">
                <a:effectLst/>
                <a:latin typeface="Calibri" panose="020F0502020204030204" pitchFamily="34" charset="0"/>
                <a:ea typeface="Calibri" panose="020F0502020204030204" pitchFamily="34" charset="0"/>
                <a:cs typeface="Times New Roman" panose="02020603050405020304" pitchFamily="18" charset="0"/>
              </a:rPr>
              <a:t>localityName</a:t>
            </a:r>
            <a:endParaRPr lang="it-IT" sz="1400" dirty="0">
              <a:effectLst/>
              <a:latin typeface="Calibri" panose="020F0502020204030204" pitchFamily="34" charset="0"/>
              <a:ea typeface="Calibri" panose="020F0502020204030204" pitchFamily="34" charset="0"/>
              <a:cs typeface="Times New Roman" panose="02020603050405020304" pitchFamily="18" charset="0"/>
            </a:endParaRPr>
          </a:p>
          <a:p>
            <a:pPr lvl="1"/>
            <a:r>
              <a:rPr lang="en-US" sz="1400" i="1" dirty="0">
                <a:effectLst/>
                <a:latin typeface="Calibri" panose="020F0502020204030204" pitchFamily="34" charset="0"/>
                <a:ea typeface="Calibri" panose="020F0502020204030204" pitchFamily="34" charset="0"/>
                <a:cs typeface="Times New Roman" panose="02020603050405020304" pitchFamily="18" charset="0"/>
              </a:rPr>
              <a:t>ST	</a:t>
            </a:r>
            <a:r>
              <a:rPr lang="en-US" sz="1400" i="1" dirty="0" err="1">
                <a:effectLst/>
                <a:latin typeface="Calibri" panose="020F0502020204030204" pitchFamily="34" charset="0"/>
                <a:ea typeface="Calibri" panose="020F0502020204030204" pitchFamily="34" charset="0"/>
                <a:cs typeface="Times New Roman" panose="02020603050405020304" pitchFamily="18" charset="0"/>
              </a:rPr>
              <a:t>stateOrProvinceName</a:t>
            </a:r>
            <a:endParaRPr lang="it-IT" sz="1400" dirty="0">
              <a:effectLst/>
              <a:latin typeface="Calibri" panose="020F0502020204030204" pitchFamily="34" charset="0"/>
              <a:ea typeface="Calibri" panose="020F0502020204030204" pitchFamily="34" charset="0"/>
              <a:cs typeface="Times New Roman" panose="02020603050405020304" pitchFamily="18" charset="0"/>
            </a:endParaRPr>
          </a:p>
          <a:p>
            <a:pPr lvl="1"/>
            <a:r>
              <a:rPr lang="en-US" sz="1400" i="1" dirty="0">
                <a:effectLst/>
                <a:latin typeface="Calibri" panose="020F0502020204030204" pitchFamily="34" charset="0"/>
                <a:ea typeface="Calibri" panose="020F0502020204030204" pitchFamily="34" charset="0"/>
                <a:cs typeface="Times New Roman" panose="02020603050405020304" pitchFamily="18" charset="0"/>
              </a:rPr>
              <a:t>C	</a:t>
            </a:r>
            <a:r>
              <a:rPr lang="en-US" sz="1400" i="1" dirty="0" err="1">
                <a:effectLst/>
                <a:latin typeface="Calibri" panose="020F0502020204030204" pitchFamily="34" charset="0"/>
                <a:ea typeface="Calibri" panose="020F0502020204030204" pitchFamily="34" charset="0"/>
                <a:cs typeface="Times New Roman" panose="02020603050405020304" pitchFamily="18" charset="0"/>
              </a:rPr>
              <a:t>countryName</a:t>
            </a:r>
            <a:endParaRPr lang="it-IT" sz="1400" dirty="0">
              <a:effectLst/>
              <a:latin typeface="Calibri" panose="020F0502020204030204" pitchFamily="34" charset="0"/>
              <a:ea typeface="Calibri" panose="020F0502020204030204" pitchFamily="34" charset="0"/>
              <a:cs typeface="Times New Roman" panose="02020603050405020304" pitchFamily="18" charset="0"/>
            </a:endParaRPr>
          </a:p>
          <a:p>
            <a:pPr lvl="1"/>
            <a:r>
              <a:rPr lang="it-IT" sz="1400" i="1" dirty="0">
                <a:effectLst/>
                <a:latin typeface="Calibri" panose="020F0502020204030204" pitchFamily="34" charset="0"/>
                <a:ea typeface="Calibri" panose="020F0502020204030204" pitchFamily="34" charset="0"/>
                <a:cs typeface="Times New Roman" panose="02020603050405020304" pitchFamily="18" charset="0"/>
              </a:rPr>
              <a:t>UID	Userid</a:t>
            </a:r>
            <a:endParaRPr lang="it-IT" sz="14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it-IT" sz="1800" dirty="0">
                <a:effectLst/>
                <a:latin typeface="Calibri" panose="020F0502020204030204" pitchFamily="34" charset="0"/>
                <a:ea typeface="Calibri" panose="020F0502020204030204" pitchFamily="34" charset="0"/>
                <a:cs typeface="Times New Roman" panose="02020603050405020304" pitchFamily="18" charset="0"/>
              </a:rPr>
              <a:t>Un entry contiene un insieme di informazioni.</a:t>
            </a:r>
          </a:p>
          <a:p>
            <a:endParaRPr lang="it-IT" dirty="0"/>
          </a:p>
        </p:txBody>
      </p:sp>
      <p:pic>
        <p:nvPicPr>
          <p:cNvPr id="5" name="Immagine 4">
            <a:extLst>
              <a:ext uri="{FF2B5EF4-FFF2-40B4-BE49-F238E27FC236}">
                <a16:creationId xmlns:a16="http://schemas.microsoft.com/office/drawing/2014/main" id="{B0A79795-5DDC-43A7-998E-042E7C0FD25A}"/>
              </a:ext>
            </a:extLst>
          </p:cNvPr>
          <p:cNvPicPr/>
          <p:nvPr/>
        </p:nvPicPr>
        <p:blipFill>
          <a:blip r:embed="rId2"/>
          <a:stretch>
            <a:fillRect/>
          </a:stretch>
        </p:blipFill>
        <p:spPr>
          <a:xfrm>
            <a:off x="8243252" y="866775"/>
            <a:ext cx="2898775" cy="2562225"/>
          </a:xfrm>
          <a:prstGeom prst="rect">
            <a:avLst/>
          </a:prstGeom>
        </p:spPr>
      </p:pic>
      <p:pic>
        <p:nvPicPr>
          <p:cNvPr id="7" name="Immagine 6">
            <a:extLst>
              <a:ext uri="{FF2B5EF4-FFF2-40B4-BE49-F238E27FC236}">
                <a16:creationId xmlns:a16="http://schemas.microsoft.com/office/drawing/2014/main" id="{3D81549D-407E-4DCB-A960-079EFCFD2A19}"/>
              </a:ext>
            </a:extLst>
          </p:cNvPr>
          <p:cNvPicPr/>
          <p:nvPr/>
        </p:nvPicPr>
        <p:blipFill>
          <a:blip r:embed="rId3"/>
          <a:stretch>
            <a:fillRect/>
          </a:stretch>
        </p:blipFill>
        <p:spPr>
          <a:xfrm>
            <a:off x="5114014" y="3654524"/>
            <a:ext cx="5762625" cy="2892425"/>
          </a:xfrm>
          <a:prstGeom prst="rect">
            <a:avLst/>
          </a:prstGeom>
        </p:spPr>
      </p:pic>
    </p:spTree>
    <p:extLst>
      <p:ext uri="{BB962C8B-B14F-4D97-AF65-F5344CB8AC3E}">
        <p14:creationId xmlns:p14="http://schemas.microsoft.com/office/powerpoint/2010/main" val="31948390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C26327E-0E03-45A7-AB15-1B0887C3FD92}"/>
              </a:ext>
            </a:extLst>
          </p:cNvPr>
          <p:cNvSpPr>
            <a:spLocks noGrp="1"/>
          </p:cNvSpPr>
          <p:nvPr>
            <p:ph type="title"/>
          </p:nvPr>
        </p:nvSpPr>
        <p:spPr/>
        <p:txBody>
          <a:bodyPr/>
          <a:lstStyle/>
          <a:p>
            <a:r>
              <a:rPr lang="it-IT" dirty="0">
                <a:solidFill>
                  <a:srgbClr val="0070C0"/>
                </a:solidFill>
                <a:effectLst/>
                <a:latin typeface="Coli"/>
                <a:ea typeface="Times New Roman" panose="02020603050405020304" pitchFamily="18" charset="0"/>
              </a:rPr>
              <a:t>Il protocollo Kerberos  1/2</a:t>
            </a:r>
            <a:endParaRPr lang="it-IT" dirty="0"/>
          </a:p>
        </p:txBody>
      </p:sp>
      <p:sp>
        <p:nvSpPr>
          <p:cNvPr id="3" name="Segnaposto contenuto 2">
            <a:extLst>
              <a:ext uri="{FF2B5EF4-FFF2-40B4-BE49-F238E27FC236}">
                <a16:creationId xmlns:a16="http://schemas.microsoft.com/office/drawing/2014/main" id="{2FECA45A-1C9C-4880-981E-0F2A9FF7C3BC}"/>
              </a:ext>
            </a:extLst>
          </p:cNvPr>
          <p:cNvSpPr>
            <a:spLocks noGrp="1"/>
          </p:cNvSpPr>
          <p:nvPr>
            <p:ph idx="1"/>
          </p:nvPr>
        </p:nvSpPr>
        <p:spPr>
          <a:xfrm>
            <a:off x="838200" y="1690688"/>
            <a:ext cx="4710830" cy="4486275"/>
          </a:xfrm>
        </p:spPr>
        <p:txBody>
          <a:bodyPr>
            <a:normAutofit fontScale="85000" lnSpcReduction="10000"/>
          </a:bodyPr>
          <a:lstStyle/>
          <a:p>
            <a:pPr>
              <a:lnSpc>
                <a:spcPct val="107000"/>
              </a:lnSpc>
              <a:spcAft>
                <a:spcPts val="800"/>
              </a:spcAft>
            </a:pPr>
            <a:r>
              <a:rPr lang="it-IT" sz="1800" dirty="0">
                <a:effectLst/>
                <a:latin typeface="Calibri" panose="020F0502020204030204" pitchFamily="34" charset="0"/>
                <a:ea typeface="Calibri" panose="020F0502020204030204" pitchFamily="34" charset="0"/>
                <a:cs typeface="Times New Roman" panose="02020603050405020304" pitchFamily="18" charset="0"/>
              </a:rPr>
              <a:t>Kerberos è un </a:t>
            </a:r>
            <a:r>
              <a:rPr lang="it-IT" sz="1800" u="none" strike="noStrike"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3" tooltip="Protocollo di rete"/>
              </a:rPr>
              <a:t>protocollo di rete</a:t>
            </a:r>
            <a:r>
              <a:rPr lang="it-IT" sz="1800" dirty="0">
                <a:effectLst/>
                <a:latin typeface="Calibri" panose="020F0502020204030204" pitchFamily="34" charset="0"/>
                <a:ea typeface="Calibri" panose="020F0502020204030204" pitchFamily="34" charset="0"/>
                <a:cs typeface="Times New Roman" panose="02020603050405020304" pitchFamily="18" charset="0"/>
              </a:rPr>
              <a:t> per l'</a:t>
            </a:r>
            <a:r>
              <a:rPr lang="it-IT" sz="1800" u="none" strike="noStrike"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4" tooltip="Autenticazione"/>
              </a:rPr>
              <a:t>autenticazione</a:t>
            </a:r>
            <a:r>
              <a:rPr lang="it-IT" sz="1800" dirty="0">
                <a:effectLst/>
                <a:latin typeface="Calibri" panose="020F0502020204030204" pitchFamily="34" charset="0"/>
                <a:ea typeface="Calibri" panose="020F0502020204030204" pitchFamily="34" charset="0"/>
                <a:cs typeface="Times New Roman" panose="02020603050405020304" pitchFamily="18" charset="0"/>
              </a:rPr>
              <a:t> tramite </a:t>
            </a:r>
            <a:r>
              <a:rPr lang="it-IT" sz="1800" u="none" strike="noStrike"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5" tooltip="Crittografia"/>
              </a:rPr>
              <a:t>crittografia</a:t>
            </a:r>
            <a:r>
              <a:rPr lang="it-IT" sz="1800" dirty="0">
                <a:effectLst/>
                <a:latin typeface="Calibri" panose="020F0502020204030204" pitchFamily="34" charset="0"/>
                <a:ea typeface="Calibri" panose="020F0502020204030204" pitchFamily="34" charset="0"/>
                <a:cs typeface="Times New Roman" panose="02020603050405020304" pitchFamily="18" charset="0"/>
              </a:rPr>
              <a:t> modello </a:t>
            </a:r>
            <a:r>
              <a:rPr lang="it-IT" sz="1800" u="none" strike="noStrike" dirty="0" err="1">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6" tooltip="Sistema client/server"/>
              </a:rPr>
              <a:t>client-server</a:t>
            </a:r>
            <a:endParaRPr lang="it-IT"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it-IT" sz="1800" dirty="0">
                <a:effectLst/>
                <a:latin typeface="Calibri" panose="020F0502020204030204" pitchFamily="34" charset="0"/>
                <a:ea typeface="Calibri" panose="020F0502020204030204" pitchFamily="34" charset="0"/>
                <a:cs typeface="Times New Roman" panose="02020603050405020304" pitchFamily="18" charset="0"/>
              </a:rPr>
              <a:t>Si basa sulla crittografia simmetrica in cui sia il client che il fornitore di servizio possono verificare l’identità dell’altro tramite una terza parte affidabile (il domain controller)</a:t>
            </a:r>
          </a:p>
          <a:p>
            <a:pPr>
              <a:lnSpc>
                <a:spcPct val="107000"/>
              </a:lnSpc>
              <a:spcAft>
                <a:spcPts val="800"/>
              </a:spcAft>
            </a:pPr>
            <a:r>
              <a:rPr lang="it-IT" sz="1800" dirty="0">
                <a:effectLst/>
                <a:latin typeface="Calibri" panose="020F0502020204030204" pitchFamily="34" charset="0"/>
                <a:ea typeface="Calibri" panose="020F0502020204030204" pitchFamily="34" charset="0"/>
                <a:cs typeface="Times New Roman" panose="02020603050405020304" pitchFamily="18" charset="0"/>
              </a:rPr>
              <a:t>Kerberos si basa sul </a:t>
            </a:r>
            <a:r>
              <a:rPr lang="it-IT" sz="1800" u="none" strike="noStrike"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7" tooltip="Protocollo di Needham-Schroeder"/>
              </a:rPr>
              <a:t>protocollo di Needham-Schroeder</a:t>
            </a:r>
            <a:r>
              <a:rPr lang="it-IT" sz="1800" dirty="0">
                <a:effectLst/>
                <a:latin typeface="Calibri" panose="020F0502020204030204" pitchFamily="34" charset="0"/>
                <a:ea typeface="Calibri" panose="020F0502020204030204" pitchFamily="34" charset="0"/>
                <a:cs typeface="Times New Roman" panose="02020603050405020304" pitchFamily="18" charset="0"/>
              </a:rPr>
              <a:t>. Utilizza una terza parte affidabile per centralizzare la distribuzione delle chiavi detta Key Distribution Center (KDC), che consiste di due parti separate logicamente: l'Authentication Server (AS) e il Ticket </a:t>
            </a:r>
            <a:r>
              <a:rPr lang="it-IT" sz="1800" dirty="0" err="1">
                <a:effectLst/>
                <a:latin typeface="Calibri" panose="020F0502020204030204" pitchFamily="34" charset="0"/>
                <a:ea typeface="Calibri" panose="020F0502020204030204" pitchFamily="34" charset="0"/>
                <a:cs typeface="Times New Roman" panose="02020603050405020304" pitchFamily="18" charset="0"/>
              </a:rPr>
              <a:t>Granting</a:t>
            </a:r>
            <a:r>
              <a:rPr lang="it-IT" sz="1800" dirty="0">
                <a:effectLst/>
                <a:latin typeface="Calibri" panose="020F0502020204030204" pitchFamily="34" charset="0"/>
                <a:ea typeface="Calibri" panose="020F0502020204030204" pitchFamily="34" charset="0"/>
                <a:cs typeface="Times New Roman" panose="02020603050405020304" pitchFamily="18" charset="0"/>
              </a:rPr>
              <a:t> Server (TGS). Kerberos funziona utilizzando dei "biglietti" (detti ticket) che servono per provare l'identità degli utenti.</a:t>
            </a:r>
          </a:p>
          <a:p>
            <a:pPr>
              <a:lnSpc>
                <a:spcPct val="107000"/>
              </a:lnSpc>
              <a:spcAft>
                <a:spcPts val="800"/>
              </a:spcAft>
            </a:pPr>
            <a:r>
              <a:rPr lang="it-IT" sz="1800" dirty="0">
                <a:latin typeface="Calibri" panose="020F0502020204030204" pitchFamily="34" charset="0"/>
                <a:ea typeface="Calibri" panose="020F0502020204030204" pitchFamily="34" charset="0"/>
                <a:cs typeface="Times New Roman" panose="02020603050405020304" pitchFamily="18" charset="0"/>
              </a:rPr>
              <a:t>Vulnerabilità </a:t>
            </a:r>
            <a:r>
              <a:rPr lang="it-IT" sz="1800" b="1" dirty="0">
                <a:latin typeface="Calibri" panose="020F0502020204030204" pitchFamily="34" charset="0"/>
                <a:ea typeface="Calibri" panose="020F0502020204030204" pitchFamily="34" charset="0"/>
                <a:cs typeface="Times New Roman" panose="02020603050405020304" pitchFamily="18" charset="0"/>
              </a:rPr>
              <a:t>Golden Ticket</a:t>
            </a:r>
          </a:p>
          <a:p>
            <a:endParaRPr lang="it-IT" dirty="0"/>
          </a:p>
        </p:txBody>
      </p:sp>
      <p:pic>
        <p:nvPicPr>
          <p:cNvPr id="9" name="Immagine 8">
            <a:extLst>
              <a:ext uri="{FF2B5EF4-FFF2-40B4-BE49-F238E27FC236}">
                <a16:creationId xmlns:a16="http://schemas.microsoft.com/office/drawing/2014/main" id="{779905FA-8532-4DEE-B344-CA75C30DAD3C}"/>
              </a:ext>
            </a:extLst>
          </p:cNvPr>
          <p:cNvPicPr/>
          <p:nvPr/>
        </p:nvPicPr>
        <p:blipFill>
          <a:blip r:embed="rId8">
            <a:extLst>
              <a:ext uri="{28A0092B-C50C-407E-A947-70E740481C1C}">
                <a14:useLocalDpi xmlns:a14="http://schemas.microsoft.com/office/drawing/2010/main" val="0"/>
              </a:ext>
            </a:extLst>
          </a:blip>
          <a:srcRect/>
          <a:stretch>
            <a:fillRect/>
          </a:stretch>
        </p:blipFill>
        <p:spPr bwMode="auto">
          <a:xfrm>
            <a:off x="5716505" y="1690688"/>
            <a:ext cx="6120130" cy="3502025"/>
          </a:xfrm>
          <a:prstGeom prst="rect">
            <a:avLst/>
          </a:prstGeom>
          <a:noFill/>
          <a:ln>
            <a:noFill/>
          </a:ln>
        </p:spPr>
      </p:pic>
    </p:spTree>
    <p:extLst>
      <p:ext uri="{BB962C8B-B14F-4D97-AF65-F5344CB8AC3E}">
        <p14:creationId xmlns:p14="http://schemas.microsoft.com/office/powerpoint/2010/main" val="26154121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C26327E-0E03-45A7-AB15-1B0887C3FD92}"/>
              </a:ext>
            </a:extLst>
          </p:cNvPr>
          <p:cNvSpPr>
            <a:spLocks noGrp="1"/>
          </p:cNvSpPr>
          <p:nvPr>
            <p:ph type="title"/>
          </p:nvPr>
        </p:nvSpPr>
        <p:spPr/>
        <p:txBody>
          <a:bodyPr/>
          <a:lstStyle/>
          <a:p>
            <a:r>
              <a:rPr lang="it-IT" dirty="0">
                <a:solidFill>
                  <a:srgbClr val="0070C0"/>
                </a:solidFill>
                <a:effectLst/>
                <a:latin typeface="Coli"/>
                <a:ea typeface="Times New Roman" panose="02020603050405020304" pitchFamily="18" charset="0"/>
              </a:rPr>
              <a:t>Il protocollo Kerberos  2/2</a:t>
            </a:r>
            <a:endParaRPr lang="it-IT" dirty="0"/>
          </a:p>
        </p:txBody>
      </p:sp>
      <p:sp>
        <p:nvSpPr>
          <p:cNvPr id="3" name="Segnaposto contenuto 2">
            <a:extLst>
              <a:ext uri="{FF2B5EF4-FFF2-40B4-BE49-F238E27FC236}">
                <a16:creationId xmlns:a16="http://schemas.microsoft.com/office/drawing/2014/main" id="{2FECA45A-1C9C-4880-981E-0F2A9FF7C3BC}"/>
              </a:ext>
            </a:extLst>
          </p:cNvPr>
          <p:cNvSpPr>
            <a:spLocks noGrp="1"/>
          </p:cNvSpPr>
          <p:nvPr>
            <p:ph idx="1"/>
          </p:nvPr>
        </p:nvSpPr>
        <p:spPr>
          <a:xfrm>
            <a:off x="838199" y="1690688"/>
            <a:ext cx="10447751" cy="4486275"/>
          </a:xfrm>
        </p:spPr>
        <p:txBody>
          <a:bodyPr>
            <a:normAutofit fontScale="62500" lnSpcReduction="20000"/>
          </a:bodyPr>
          <a:lstStyle/>
          <a:p>
            <a:pPr marL="0" indent="0">
              <a:lnSpc>
                <a:spcPct val="107000"/>
              </a:lnSpc>
              <a:spcAft>
                <a:spcPts val="800"/>
              </a:spcAft>
              <a:buNone/>
            </a:pPr>
            <a:r>
              <a:rPr lang="it-IT" sz="1800" b="1" dirty="0">
                <a:effectLst/>
                <a:latin typeface="Times New Roman" panose="02020603050405020304" pitchFamily="18" charset="0"/>
                <a:ea typeface="Times New Roman" panose="02020603050405020304" pitchFamily="18" charset="0"/>
                <a:cs typeface="Times New Roman" panose="02020603050405020304" pitchFamily="18" charset="0"/>
              </a:rPr>
              <a:t>Cos’è il </a:t>
            </a:r>
            <a:r>
              <a:rPr lang="it-IT" sz="1800" b="1" dirty="0" err="1">
                <a:effectLst/>
                <a:latin typeface="Times New Roman" panose="02020603050405020304" pitchFamily="18" charset="0"/>
                <a:ea typeface="Times New Roman" panose="02020603050405020304" pitchFamily="18" charset="0"/>
                <a:cs typeface="Times New Roman" panose="02020603050405020304" pitchFamily="18" charset="0"/>
              </a:rPr>
              <a:t>realm</a:t>
            </a:r>
            <a:r>
              <a:rPr lang="it-IT" sz="1800" b="1" dirty="0">
                <a:effectLst/>
                <a:latin typeface="Times New Roman" panose="02020603050405020304" pitchFamily="18" charset="0"/>
                <a:ea typeface="Times New Roman" panose="02020603050405020304" pitchFamily="18" charset="0"/>
                <a:cs typeface="Times New Roman" panose="02020603050405020304" pitchFamily="18" charset="0"/>
              </a:rPr>
              <a:t> in Kerberos?</a:t>
            </a:r>
            <a:endParaRPr lang="it-IT"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it-IT" sz="1800" dirty="0">
                <a:effectLst/>
                <a:latin typeface="Calibri" panose="020F0502020204030204" pitchFamily="34" charset="0"/>
                <a:ea typeface="Calibri" panose="020F0502020204030204" pitchFamily="34" charset="0"/>
                <a:cs typeface="Times New Roman" panose="02020603050405020304" pitchFamily="18" charset="0"/>
              </a:rPr>
              <a:t>Con il termine </a:t>
            </a:r>
            <a:r>
              <a:rPr lang="it-IT" sz="1800" dirty="0" err="1">
                <a:effectLst/>
                <a:latin typeface="Calibri" panose="020F0502020204030204" pitchFamily="34" charset="0"/>
                <a:ea typeface="Calibri" panose="020F0502020204030204" pitchFamily="34" charset="0"/>
                <a:cs typeface="Times New Roman" panose="02020603050405020304" pitchFamily="18" charset="0"/>
              </a:rPr>
              <a:t>realm</a:t>
            </a:r>
            <a:r>
              <a:rPr lang="it-IT" sz="1800" dirty="0">
                <a:effectLst/>
                <a:latin typeface="Calibri" panose="020F0502020204030204" pitchFamily="34" charset="0"/>
                <a:ea typeface="Calibri" panose="020F0502020204030204" pitchFamily="34" charset="0"/>
                <a:cs typeface="Times New Roman" panose="02020603050405020304" pitchFamily="18" charset="0"/>
              </a:rPr>
              <a:t> si indica un dominio amministrativo di autenticazione. Si intende cioè fissare i confini entro cui un server di autenticazione è autoritario nell'autenticare un utente, un </a:t>
            </a:r>
            <a:r>
              <a:rPr lang="it-IT" sz="1800" dirty="0" err="1">
                <a:effectLst/>
                <a:latin typeface="Calibri" panose="020F0502020204030204" pitchFamily="34" charset="0"/>
                <a:ea typeface="Calibri" panose="020F0502020204030204" pitchFamily="34" charset="0"/>
                <a:cs typeface="Times New Roman" panose="02020603050405020304" pitchFamily="18" charset="0"/>
              </a:rPr>
              <a:t>host</a:t>
            </a:r>
            <a:r>
              <a:rPr lang="it-IT" sz="1800" dirty="0">
                <a:effectLst/>
                <a:latin typeface="Calibri" panose="020F0502020204030204" pitchFamily="34" charset="0"/>
                <a:ea typeface="Calibri" panose="020F0502020204030204" pitchFamily="34" charset="0"/>
                <a:cs typeface="Times New Roman" panose="02020603050405020304" pitchFamily="18" charset="0"/>
              </a:rPr>
              <a:t> o un servizio.</a:t>
            </a:r>
          </a:p>
          <a:p>
            <a:r>
              <a:rPr lang="it-IT" sz="1800" dirty="0">
                <a:effectLst/>
                <a:latin typeface="Calibri" panose="020F0502020204030204" pitchFamily="34" charset="0"/>
                <a:ea typeface="Calibri" panose="020F0502020204030204" pitchFamily="34" charset="0"/>
                <a:cs typeface="Times New Roman" panose="02020603050405020304" pitchFamily="18" charset="0"/>
              </a:rPr>
              <a:t>Il nome di un </a:t>
            </a:r>
            <a:r>
              <a:rPr lang="it-IT" sz="1800" dirty="0" err="1">
                <a:effectLst/>
                <a:latin typeface="Calibri" panose="020F0502020204030204" pitchFamily="34" charset="0"/>
                <a:ea typeface="Calibri" panose="020F0502020204030204" pitchFamily="34" charset="0"/>
                <a:cs typeface="Times New Roman" panose="02020603050405020304" pitchFamily="18" charset="0"/>
              </a:rPr>
              <a:t>realm</a:t>
            </a:r>
            <a:r>
              <a:rPr lang="it-IT" sz="1800" dirty="0">
                <a:effectLst/>
                <a:latin typeface="Calibri" panose="020F0502020204030204" pitchFamily="34" charset="0"/>
                <a:ea typeface="Calibri" panose="020F0502020204030204" pitchFamily="34" charset="0"/>
                <a:cs typeface="Times New Roman" panose="02020603050405020304" pitchFamily="18" charset="0"/>
              </a:rPr>
              <a:t> è case sensitive, cioè fa differenza tra maiuscole e minuscole; tuttavia, per consuetudine, i </a:t>
            </a:r>
            <a:r>
              <a:rPr lang="it-IT" sz="1800" dirty="0" err="1">
                <a:effectLst/>
                <a:latin typeface="Calibri" panose="020F0502020204030204" pitchFamily="34" charset="0"/>
                <a:ea typeface="Calibri" panose="020F0502020204030204" pitchFamily="34" charset="0"/>
                <a:cs typeface="Times New Roman" panose="02020603050405020304" pitchFamily="18" charset="0"/>
              </a:rPr>
              <a:t>realm</a:t>
            </a:r>
            <a:r>
              <a:rPr lang="it-IT" sz="1800" dirty="0">
                <a:effectLst/>
                <a:latin typeface="Calibri" panose="020F0502020204030204" pitchFamily="34" charset="0"/>
                <a:ea typeface="Calibri" panose="020F0502020204030204" pitchFamily="34" charset="0"/>
                <a:cs typeface="Times New Roman" panose="02020603050405020304" pitchFamily="18" charset="0"/>
              </a:rPr>
              <a:t> sono sempre in maiuscolo</a:t>
            </a:r>
          </a:p>
          <a:p>
            <a:pPr marL="0" indent="0">
              <a:buNone/>
            </a:pPr>
            <a:r>
              <a:rPr lang="it-IT" sz="1800" b="1" dirty="0">
                <a:effectLst/>
                <a:latin typeface="Times New Roman" panose="02020603050405020304" pitchFamily="18" charset="0"/>
                <a:ea typeface="Times New Roman" panose="02020603050405020304" pitchFamily="18" charset="0"/>
              </a:rPr>
              <a:t>Kerberos e NTLM</a:t>
            </a:r>
          </a:p>
          <a:p>
            <a:pPr>
              <a:lnSpc>
                <a:spcPct val="107000"/>
              </a:lnSpc>
              <a:spcAft>
                <a:spcPts val="800"/>
              </a:spcAft>
            </a:pPr>
            <a:r>
              <a:rPr lang="it-IT" sz="1800" dirty="0">
                <a:effectLst/>
                <a:latin typeface="Calibri" panose="020F0502020204030204" pitchFamily="34" charset="0"/>
                <a:ea typeface="Calibri" panose="020F0502020204030204" pitchFamily="34" charset="0"/>
                <a:cs typeface="Times New Roman" panose="02020603050405020304" pitchFamily="18" charset="0"/>
              </a:rPr>
              <a:t>Microsoft ha adottato </a:t>
            </a:r>
            <a:r>
              <a:rPr lang="it-IT" sz="1800" u="none" strike="noStrike"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3" tooltip="Kerberos"/>
              </a:rPr>
              <a:t>Kerberos</a:t>
            </a:r>
            <a:r>
              <a:rPr lang="it-IT" sz="1800" dirty="0">
                <a:effectLst/>
                <a:latin typeface="Calibri" panose="020F0502020204030204" pitchFamily="34" charset="0"/>
                <a:ea typeface="Calibri" panose="020F0502020204030204" pitchFamily="34" charset="0"/>
                <a:cs typeface="Times New Roman" panose="02020603050405020304" pitchFamily="18" charset="0"/>
              </a:rPr>
              <a:t> come protocollo di autenticazione preferito per Windows 2000 e per i domini Active Directory. Kerberos è usato solitamente quando un server appartiene ad un dominio Windows oppure se viene stabilito un trust con un dominio (come ad esempio accade nell'autenticazione tra Linux e Windows Active Directory). </a:t>
            </a:r>
          </a:p>
          <a:p>
            <a:pPr>
              <a:lnSpc>
                <a:spcPct val="107000"/>
              </a:lnSpc>
              <a:spcAft>
                <a:spcPts val="800"/>
              </a:spcAft>
            </a:pPr>
            <a:r>
              <a:rPr lang="it-IT" sz="1800" dirty="0">
                <a:effectLst/>
                <a:latin typeface="Calibri" panose="020F0502020204030204" pitchFamily="34" charset="0"/>
                <a:ea typeface="Calibri" panose="020F0502020204030204" pitchFamily="34" charset="0"/>
                <a:cs typeface="Times New Roman" panose="02020603050405020304" pitchFamily="18" charset="0"/>
              </a:rPr>
              <a:t>NTLM (NT LAN Manager) è una suite di protocolli di sicurezza </a:t>
            </a:r>
            <a:r>
              <a:rPr lang="it-IT" sz="1800" u="none" strike="noStrike"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4" tooltip="Microsoft"/>
              </a:rPr>
              <a:t>Microsoft</a:t>
            </a:r>
            <a:r>
              <a:rPr lang="it-IT" sz="1800" dirty="0">
                <a:effectLst/>
                <a:latin typeface="Calibri" panose="020F0502020204030204" pitchFamily="34" charset="0"/>
                <a:ea typeface="Calibri" panose="020F0502020204030204" pitchFamily="34" charset="0"/>
                <a:cs typeface="Times New Roman" panose="02020603050405020304" pitchFamily="18" charset="0"/>
              </a:rPr>
              <a:t> che forniscono autenticazione, integrità e confidenzialità agli utenti</a:t>
            </a:r>
          </a:p>
          <a:p>
            <a:pPr>
              <a:lnSpc>
                <a:spcPct val="107000"/>
              </a:lnSpc>
              <a:spcAft>
                <a:spcPts val="800"/>
              </a:spcAft>
            </a:pPr>
            <a:r>
              <a:rPr lang="it-IT" sz="1800" dirty="0">
                <a:effectLst/>
                <a:latin typeface="Calibri" panose="020F0502020204030204" pitchFamily="34" charset="0"/>
                <a:ea typeface="Calibri" panose="020F0502020204030204" pitchFamily="34" charset="0"/>
                <a:cs typeface="Times New Roman" panose="02020603050405020304" pitchFamily="18" charset="0"/>
              </a:rPr>
              <a:t>NTLM è utilizzato nelle seguenti situazioni: </a:t>
            </a:r>
          </a:p>
          <a:p>
            <a:pPr lvl="1">
              <a:lnSpc>
                <a:spcPct val="107000"/>
              </a:lnSpc>
              <a:spcAft>
                <a:spcPts val="800"/>
              </a:spcAft>
            </a:pPr>
            <a:r>
              <a:rPr lang="it-IT" sz="1400" dirty="0">
                <a:effectLst/>
                <a:latin typeface="Calibri" panose="020F0502020204030204" pitchFamily="34" charset="0"/>
                <a:ea typeface="Calibri" panose="020F0502020204030204" pitchFamily="34" charset="0"/>
                <a:cs typeface="Times New Roman" panose="02020603050405020304" pitchFamily="18" charset="0"/>
              </a:rPr>
              <a:t>I</a:t>
            </a:r>
            <a:r>
              <a:rPr lang="it-IT" sz="1400" dirty="0">
                <a:latin typeface="Calibri" panose="020F0502020204030204" pitchFamily="34" charset="0"/>
                <a:ea typeface="Calibri" panose="020F0502020204030204" pitchFamily="34" charset="0"/>
                <a:cs typeface="Times New Roman" panose="02020603050405020304" pitchFamily="18" charset="0"/>
              </a:rPr>
              <a:t>l client si sta autenticando ad un server utilizzando un </a:t>
            </a:r>
            <a:r>
              <a:rPr lang="it-IT" sz="1400" dirty="0">
                <a:latin typeface="Calibri" panose="020F0502020204030204" pitchFamily="34" charset="0"/>
                <a:ea typeface="Calibri" panose="020F0502020204030204" pitchFamily="34" charset="0"/>
                <a:cs typeface="Times New Roman" panose="02020603050405020304" pitchFamily="18" charset="0"/>
                <a:hlinkClick r:id="rId5" tooltip="Indirizzo IP">
                  <a:extLst>
                    <a:ext uri="{A12FA001-AC4F-418D-AE19-62706E023703}">
                      <ahyp:hlinkClr xmlns:ahyp="http://schemas.microsoft.com/office/drawing/2018/hyperlinkcolor" val="tx"/>
                    </a:ext>
                  </a:extLst>
                </a:hlinkClick>
              </a:rPr>
              <a:t>indirizzo IP</a:t>
            </a:r>
            <a:endParaRPr lang="it-IT" sz="1400" dirty="0">
              <a:latin typeface="Calibri" panose="020F0502020204030204" pitchFamily="34" charset="0"/>
              <a:ea typeface="Calibri" panose="020F0502020204030204" pitchFamily="34" charset="0"/>
              <a:cs typeface="Times New Roman" panose="02020603050405020304" pitchFamily="18" charset="0"/>
            </a:endParaRPr>
          </a:p>
          <a:p>
            <a:pPr lvl="1">
              <a:lnSpc>
                <a:spcPct val="107000"/>
              </a:lnSpc>
              <a:spcAft>
                <a:spcPts val="800"/>
              </a:spcAft>
            </a:pPr>
            <a:r>
              <a:rPr lang="it-IT" sz="1400" dirty="0">
                <a:latin typeface="Calibri" panose="020F0502020204030204" pitchFamily="34" charset="0"/>
                <a:ea typeface="Calibri" panose="020F0502020204030204" pitchFamily="34" charset="0"/>
                <a:cs typeface="Times New Roman" panose="02020603050405020304" pitchFamily="18" charset="0"/>
              </a:rPr>
              <a:t>Il client si sta autenticando ad un server che appartiene ad una foresta Active Directory differente che ha un legacy trust NTLM invece di un trust inter-foresta</a:t>
            </a:r>
          </a:p>
          <a:p>
            <a:pPr lvl="1">
              <a:lnSpc>
                <a:spcPct val="107000"/>
              </a:lnSpc>
              <a:spcAft>
                <a:spcPts val="800"/>
              </a:spcAft>
            </a:pPr>
            <a:r>
              <a:rPr lang="it-IT" sz="1400" dirty="0">
                <a:latin typeface="Calibri" panose="020F0502020204030204" pitchFamily="34" charset="0"/>
                <a:ea typeface="Calibri" panose="020F0502020204030204" pitchFamily="34" charset="0"/>
                <a:cs typeface="Times New Roman" panose="02020603050405020304" pitchFamily="18" charset="0"/>
              </a:rPr>
              <a:t>Il client si sta autenticando ad un server che non appartiene ad un dominio</a:t>
            </a:r>
          </a:p>
          <a:p>
            <a:pPr lvl="1">
              <a:lnSpc>
                <a:spcPct val="107000"/>
              </a:lnSpc>
              <a:spcAft>
                <a:spcPts val="800"/>
              </a:spcAft>
            </a:pPr>
            <a:r>
              <a:rPr lang="it-IT" sz="1400" dirty="0">
                <a:latin typeface="Calibri" panose="020F0502020204030204" pitchFamily="34" charset="0"/>
                <a:ea typeface="Calibri" panose="020F0502020204030204" pitchFamily="34" charset="0"/>
                <a:cs typeface="Times New Roman" panose="02020603050405020304" pitchFamily="18" charset="0"/>
              </a:rPr>
              <a:t>Non esiste un dominio Active Directory (ovvero quando esiste un workgroup oppure una rete peer-to-peer)</a:t>
            </a:r>
          </a:p>
          <a:p>
            <a:pPr>
              <a:lnSpc>
                <a:spcPct val="107000"/>
              </a:lnSpc>
              <a:spcAft>
                <a:spcPts val="800"/>
              </a:spcAft>
            </a:pPr>
            <a:r>
              <a:rPr lang="it-IT" sz="1800" dirty="0">
                <a:effectLst/>
                <a:latin typeface="Calibri" panose="020F0502020204030204" pitchFamily="34" charset="0"/>
                <a:ea typeface="Calibri" panose="020F0502020204030204" pitchFamily="34" charset="0"/>
                <a:cs typeface="Times New Roman" panose="02020603050405020304" pitchFamily="18" charset="0"/>
              </a:rPr>
              <a:t>NTLM utilizza uno o entrambi i valori di password </a:t>
            </a:r>
            <a:r>
              <a:rPr lang="it-IT" sz="1800" dirty="0" err="1">
                <a:effectLst/>
                <a:latin typeface="Calibri" panose="020F0502020204030204" pitchFamily="34" charset="0"/>
                <a:ea typeface="Calibri" panose="020F0502020204030204" pitchFamily="34" charset="0"/>
                <a:cs typeface="Times New Roman" panose="02020603050405020304" pitchFamily="18" charset="0"/>
              </a:rPr>
              <a:t>hashed</a:t>
            </a:r>
            <a:r>
              <a:rPr lang="it-IT" sz="1800" dirty="0">
                <a:effectLst/>
                <a:latin typeface="Calibri" panose="020F0502020204030204" pitchFamily="34" charset="0"/>
                <a:ea typeface="Calibri" panose="020F0502020204030204" pitchFamily="34" charset="0"/>
                <a:cs typeface="Times New Roman" panose="02020603050405020304" pitchFamily="18" charset="0"/>
              </a:rPr>
              <a:t>, che sono entrambi memorizzati nel server (o nel domain controller) e che sono equivalenti alla password. Questo significa che se si riesce ad ottenere un </a:t>
            </a:r>
            <a:r>
              <a:rPr lang="it-IT" sz="1800" dirty="0" err="1">
                <a:effectLst/>
                <a:latin typeface="Calibri" panose="020F0502020204030204" pitchFamily="34" charset="0"/>
                <a:ea typeface="Calibri" panose="020F0502020204030204" pitchFamily="34" charset="0"/>
                <a:cs typeface="Times New Roman" panose="02020603050405020304" pitchFamily="18" charset="0"/>
              </a:rPr>
              <a:t>hash</a:t>
            </a:r>
            <a:r>
              <a:rPr lang="it-IT" sz="1800" dirty="0">
                <a:effectLst/>
                <a:latin typeface="Calibri" panose="020F0502020204030204" pitchFamily="34" charset="0"/>
                <a:ea typeface="Calibri" panose="020F0502020204030204" pitchFamily="34" charset="0"/>
                <a:cs typeface="Times New Roman" panose="02020603050405020304" pitchFamily="18" charset="0"/>
              </a:rPr>
              <a:t> password dal server, è possibile autenticarsi senza conoscere la password vera.</a:t>
            </a:r>
          </a:p>
          <a:p>
            <a:endParaRPr lang="it-IT" dirty="0"/>
          </a:p>
        </p:txBody>
      </p:sp>
    </p:spTree>
    <p:extLst>
      <p:ext uri="{BB962C8B-B14F-4D97-AF65-F5344CB8AC3E}">
        <p14:creationId xmlns:p14="http://schemas.microsoft.com/office/powerpoint/2010/main" val="2844349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C26327E-0E03-45A7-AB15-1B0887C3FD92}"/>
              </a:ext>
            </a:extLst>
          </p:cNvPr>
          <p:cNvSpPr>
            <a:spLocks noGrp="1"/>
          </p:cNvSpPr>
          <p:nvPr>
            <p:ph type="title"/>
          </p:nvPr>
        </p:nvSpPr>
        <p:spPr/>
        <p:txBody>
          <a:bodyPr/>
          <a:lstStyle/>
          <a:p>
            <a:r>
              <a:rPr lang="it-IT" dirty="0">
                <a:solidFill>
                  <a:srgbClr val="0070C0"/>
                </a:solidFill>
                <a:effectLst/>
                <a:latin typeface="Coli"/>
                <a:ea typeface="Times New Roman" panose="02020603050405020304" pitchFamily="18" charset="0"/>
              </a:rPr>
              <a:t>Virtualizzazione 1/5</a:t>
            </a:r>
            <a:endParaRPr lang="it-IT" dirty="0"/>
          </a:p>
        </p:txBody>
      </p:sp>
      <p:sp>
        <p:nvSpPr>
          <p:cNvPr id="7" name="CasellaDiTesto 6">
            <a:extLst>
              <a:ext uri="{FF2B5EF4-FFF2-40B4-BE49-F238E27FC236}">
                <a16:creationId xmlns:a16="http://schemas.microsoft.com/office/drawing/2014/main" id="{17B09685-86AB-4DAA-889A-6A55A7992F74}"/>
              </a:ext>
            </a:extLst>
          </p:cNvPr>
          <p:cNvSpPr txBox="1"/>
          <p:nvPr/>
        </p:nvSpPr>
        <p:spPr>
          <a:xfrm>
            <a:off x="6347455" y="795292"/>
            <a:ext cx="2476202" cy="584775"/>
          </a:xfrm>
          <a:prstGeom prst="rect">
            <a:avLst/>
          </a:prstGeom>
          <a:noFill/>
        </p:spPr>
        <p:txBody>
          <a:bodyPr wrap="square">
            <a:spAutoFit/>
          </a:bodyPr>
          <a:lstStyle/>
          <a:p>
            <a:r>
              <a:rPr lang="it-IT" sz="3200" dirty="0">
                <a:solidFill>
                  <a:srgbClr val="0070C0"/>
                </a:solidFill>
                <a:effectLst/>
                <a:latin typeface="Coli"/>
                <a:ea typeface="Times New Roman" panose="02020603050405020304" pitchFamily="18" charset="0"/>
              </a:rPr>
              <a:t>Workstation</a:t>
            </a:r>
            <a:endParaRPr lang="it-IT" dirty="0"/>
          </a:p>
        </p:txBody>
      </p:sp>
      <p:graphicFrame>
        <p:nvGraphicFramePr>
          <p:cNvPr id="5" name="Tabella 4">
            <a:extLst>
              <a:ext uri="{FF2B5EF4-FFF2-40B4-BE49-F238E27FC236}">
                <a16:creationId xmlns:a16="http://schemas.microsoft.com/office/drawing/2014/main" id="{E80A0C1C-6014-47FA-8D85-F44A09F69C68}"/>
              </a:ext>
            </a:extLst>
          </p:cNvPr>
          <p:cNvGraphicFramePr>
            <a:graphicFrameLocks noGrp="1"/>
          </p:cNvGraphicFramePr>
          <p:nvPr>
            <p:extLst>
              <p:ext uri="{D42A27DB-BD31-4B8C-83A1-F6EECF244321}">
                <p14:modId xmlns:p14="http://schemas.microsoft.com/office/powerpoint/2010/main" val="864652706"/>
              </p:ext>
            </p:extLst>
          </p:nvPr>
        </p:nvGraphicFramePr>
        <p:xfrm>
          <a:off x="838200" y="1774971"/>
          <a:ext cx="7008222" cy="4660481"/>
        </p:xfrm>
        <a:graphic>
          <a:graphicData uri="http://schemas.openxmlformats.org/drawingml/2006/table">
            <a:tbl>
              <a:tblPr/>
              <a:tblGrid>
                <a:gridCol w="2336074">
                  <a:extLst>
                    <a:ext uri="{9D8B030D-6E8A-4147-A177-3AD203B41FA5}">
                      <a16:colId xmlns:a16="http://schemas.microsoft.com/office/drawing/2014/main" val="1629826239"/>
                    </a:ext>
                  </a:extLst>
                </a:gridCol>
                <a:gridCol w="2336074">
                  <a:extLst>
                    <a:ext uri="{9D8B030D-6E8A-4147-A177-3AD203B41FA5}">
                      <a16:colId xmlns:a16="http://schemas.microsoft.com/office/drawing/2014/main" val="3962360297"/>
                    </a:ext>
                  </a:extLst>
                </a:gridCol>
                <a:gridCol w="2336074">
                  <a:extLst>
                    <a:ext uri="{9D8B030D-6E8A-4147-A177-3AD203B41FA5}">
                      <a16:colId xmlns:a16="http://schemas.microsoft.com/office/drawing/2014/main" val="1235198131"/>
                    </a:ext>
                  </a:extLst>
                </a:gridCol>
              </a:tblGrid>
              <a:tr h="186193">
                <a:tc>
                  <a:txBody>
                    <a:bodyPr/>
                    <a:lstStyle/>
                    <a:p>
                      <a:r>
                        <a:rPr lang="it-IT" sz="1000" b="1" dirty="0"/>
                        <a:t>Caratteristica</a:t>
                      </a:r>
                      <a:endParaRPr lang="it-IT" sz="1000" dirty="0"/>
                    </a:p>
                  </a:txBody>
                  <a:tcPr marL="36566" marR="36566" marT="18283" marB="18283" anchor="ctr">
                    <a:lnL>
                      <a:noFill/>
                    </a:lnL>
                    <a:lnR>
                      <a:noFill/>
                    </a:lnR>
                    <a:lnT>
                      <a:noFill/>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it-IT" sz="1000" b="1" dirty="0"/>
                        <a:t>VMware Workstation</a:t>
                      </a:r>
                      <a:endParaRPr lang="it-IT" sz="1000" dirty="0"/>
                    </a:p>
                  </a:txBody>
                  <a:tcPr marL="36566" marR="36566" marT="18283" marB="18283" anchor="ctr">
                    <a:lnL>
                      <a:noFill/>
                    </a:lnL>
                    <a:lnR>
                      <a:noFill/>
                    </a:lnR>
                    <a:lnT>
                      <a:noFill/>
                    </a:lnT>
                    <a:lnB w="12700" cap="flat" cmpd="sng" algn="ctr">
                      <a:solidFill>
                        <a:schemeClr val="tx1"/>
                      </a:solidFill>
                      <a:prstDash val="solid"/>
                      <a:round/>
                      <a:headEnd type="none" w="med" len="med"/>
                      <a:tailEnd type="none" w="med" len="med"/>
                    </a:lnB>
                    <a:solidFill>
                      <a:schemeClr val="bg2">
                        <a:lumMod val="75000"/>
                      </a:schemeClr>
                    </a:solidFill>
                  </a:tcPr>
                </a:tc>
                <a:tc>
                  <a:txBody>
                    <a:bodyPr/>
                    <a:lstStyle/>
                    <a:p>
                      <a:r>
                        <a:rPr lang="it-IT" sz="1000" b="1" dirty="0" err="1"/>
                        <a:t>VirtualBox</a:t>
                      </a:r>
                      <a:endParaRPr lang="it-IT" sz="1000" dirty="0"/>
                    </a:p>
                  </a:txBody>
                  <a:tcPr marL="36566" marR="36566" marT="18283" marB="18283" anchor="ctr">
                    <a:lnL>
                      <a:noFill/>
                    </a:lnL>
                    <a:lnR>
                      <a:noFill/>
                    </a:lnR>
                    <a:lnT>
                      <a:noFill/>
                    </a:lnT>
                    <a:lnB w="12700" cap="flat" cmpd="sng" algn="ctr">
                      <a:solidFill>
                        <a:schemeClr val="tx1"/>
                      </a:solidFill>
                      <a:prstDash val="solid"/>
                      <a:round/>
                      <a:headEnd type="none" w="med" len="med"/>
                      <a:tailEnd type="none" w="med" len="med"/>
                    </a:lnB>
                    <a:solidFill>
                      <a:schemeClr val="bg2">
                        <a:lumMod val="75000"/>
                      </a:schemeClr>
                    </a:solidFill>
                  </a:tcPr>
                </a:tc>
                <a:extLst>
                  <a:ext uri="{0D108BD9-81ED-4DB2-BD59-A6C34878D82A}">
                    <a16:rowId xmlns:a16="http://schemas.microsoft.com/office/drawing/2014/main" val="3290383236"/>
                  </a:ext>
                </a:extLst>
              </a:tr>
              <a:tr h="186193">
                <a:tc>
                  <a:txBody>
                    <a:bodyPr/>
                    <a:lstStyle/>
                    <a:p>
                      <a:r>
                        <a:rPr lang="it-IT" sz="1000" b="1" dirty="0"/>
                        <a:t>Sviluppatore</a:t>
                      </a:r>
                      <a:endParaRPr lang="it-IT" sz="1000" dirty="0"/>
                    </a:p>
                  </a:txBody>
                  <a:tcPr marL="36566" marR="36566" marT="18283" marB="182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it-IT" sz="1000" dirty="0"/>
                        <a:t>VMware (</a:t>
                      </a:r>
                      <a:r>
                        <a:rPr lang="it-IT" sz="1000" dirty="0" err="1"/>
                        <a:t>Broadcom</a:t>
                      </a:r>
                      <a:r>
                        <a:rPr lang="it-IT" sz="1000" dirty="0"/>
                        <a:t>)</a:t>
                      </a:r>
                    </a:p>
                  </a:txBody>
                  <a:tcPr marL="36566" marR="36566" marT="18283" marB="182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it-IT" sz="1000" dirty="0"/>
                        <a:t>Oracle</a:t>
                      </a:r>
                    </a:p>
                  </a:txBody>
                  <a:tcPr marL="36566" marR="36566" marT="18283" marB="182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4647674"/>
                  </a:ext>
                </a:extLst>
              </a:tr>
              <a:tr h="360293">
                <a:tc>
                  <a:txBody>
                    <a:bodyPr/>
                    <a:lstStyle/>
                    <a:p>
                      <a:r>
                        <a:rPr lang="it-IT" sz="1000" b="1" dirty="0"/>
                        <a:t>Licenza</a:t>
                      </a:r>
                      <a:endParaRPr lang="it-IT" sz="1000" dirty="0"/>
                    </a:p>
                  </a:txBody>
                  <a:tcPr marL="36566" marR="36566" marT="18283" marB="182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it-IT" sz="1000" dirty="0"/>
                        <a:t>Proprietaria</a:t>
                      </a:r>
                    </a:p>
                  </a:txBody>
                  <a:tcPr marL="36566" marR="36566" marT="18283" marB="182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it-IT" sz="1000" dirty="0"/>
                        <a:t>Open-source (GPL) con alcune funzionalità proprietarie (Extension Pack)</a:t>
                      </a:r>
                    </a:p>
                  </a:txBody>
                  <a:tcPr marL="36566" marR="36566" marT="18283" marB="182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0995546"/>
                  </a:ext>
                </a:extLst>
              </a:tr>
              <a:tr h="360293">
                <a:tc>
                  <a:txBody>
                    <a:bodyPr/>
                    <a:lstStyle/>
                    <a:p>
                      <a:r>
                        <a:rPr lang="it-IT" sz="1000" b="1" dirty="0"/>
                        <a:t>Costo</a:t>
                      </a:r>
                      <a:endParaRPr lang="it-IT" sz="1000" dirty="0"/>
                    </a:p>
                  </a:txBody>
                  <a:tcPr marL="36566" marR="36566" marT="18283" marB="182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it-IT" sz="1000" dirty="0"/>
                        <a:t>Workstation Pro è diventata gratuita</a:t>
                      </a:r>
                    </a:p>
                  </a:txBody>
                  <a:tcPr marL="36566" marR="36566" marT="18283" marB="182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it-IT" sz="1000" dirty="0"/>
                        <a:t>Gratuito</a:t>
                      </a:r>
                    </a:p>
                  </a:txBody>
                  <a:tcPr marL="36566" marR="36566" marT="18283" marB="182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82140039"/>
                  </a:ext>
                </a:extLst>
              </a:tr>
              <a:tr h="186193">
                <a:tc>
                  <a:txBody>
                    <a:bodyPr/>
                    <a:lstStyle/>
                    <a:p>
                      <a:r>
                        <a:rPr lang="it-IT" sz="1000" b="1"/>
                        <a:t>Piattaforme supportate</a:t>
                      </a:r>
                      <a:endParaRPr lang="it-IT" sz="1000"/>
                    </a:p>
                  </a:txBody>
                  <a:tcPr marL="36566" marR="36566" marT="18283" marB="182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it-IT" sz="1000" dirty="0"/>
                        <a:t>Windows, Linux</a:t>
                      </a:r>
                    </a:p>
                  </a:txBody>
                  <a:tcPr marL="36566" marR="36566" marT="18283" marB="182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it-IT" sz="1000" dirty="0"/>
                        <a:t>Windows, Linux, </a:t>
                      </a:r>
                      <a:r>
                        <a:rPr lang="it-IT" sz="1000" dirty="0" err="1"/>
                        <a:t>macOS</a:t>
                      </a:r>
                      <a:r>
                        <a:rPr lang="it-IT" sz="1000" dirty="0"/>
                        <a:t>, Solaris</a:t>
                      </a:r>
                    </a:p>
                  </a:txBody>
                  <a:tcPr marL="36566" marR="36566" marT="18283" marB="182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46582655"/>
                  </a:ext>
                </a:extLst>
              </a:tr>
              <a:tr h="360293">
                <a:tc>
                  <a:txBody>
                    <a:bodyPr/>
                    <a:lstStyle/>
                    <a:p>
                      <a:r>
                        <a:rPr lang="it-IT" sz="1000" b="1"/>
                        <a:t>Performance</a:t>
                      </a:r>
                      <a:endParaRPr lang="it-IT" sz="1000"/>
                    </a:p>
                  </a:txBody>
                  <a:tcPr marL="36566" marR="36566" marT="18283" marB="182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it-IT" sz="1000" dirty="0"/>
                        <a:t>Generalmente migliore, più ottimizzata per sistemi Windows e Linux</a:t>
                      </a:r>
                    </a:p>
                  </a:txBody>
                  <a:tcPr marL="36566" marR="36566" marT="18283" marB="182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it-IT" sz="1000" dirty="0"/>
                        <a:t>Buona, ma meno performante su carichi elevati rispetto a VMware</a:t>
                      </a:r>
                    </a:p>
                  </a:txBody>
                  <a:tcPr marL="36566" marR="36566" marT="18283" marB="182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52263880"/>
                  </a:ext>
                </a:extLst>
              </a:tr>
              <a:tr h="252205">
                <a:tc>
                  <a:txBody>
                    <a:bodyPr/>
                    <a:lstStyle/>
                    <a:p>
                      <a:r>
                        <a:rPr lang="it-IT" sz="1000" b="1" dirty="0"/>
                        <a:t>Supporto Hardware</a:t>
                      </a:r>
                      <a:endParaRPr lang="it-IT" sz="1000" dirty="0"/>
                    </a:p>
                  </a:txBody>
                  <a:tcPr marL="36566" marR="36566" marT="18283" marB="182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it-IT" sz="1000"/>
                        <a:t>Ottima ottimizzazione per CPU multi-core e GPU</a:t>
                      </a:r>
                    </a:p>
                  </a:txBody>
                  <a:tcPr marL="36566" marR="36566" marT="18283" marB="182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it-IT" sz="1000" dirty="0"/>
                        <a:t>Buona, ma meno efficiente rispetto a VMware</a:t>
                      </a:r>
                    </a:p>
                  </a:txBody>
                  <a:tcPr marL="36566" marR="36566" marT="18283" marB="182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2995897"/>
                  </a:ext>
                </a:extLst>
              </a:tr>
              <a:tr h="186193">
                <a:tc>
                  <a:txBody>
                    <a:bodyPr/>
                    <a:lstStyle/>
                    <a:p>
                      <a:r>
                        <a:rPr lang="it-IT" sz="1000" b="1"/>
                        <a:t>Snapshot e Cloning</a:t>
                      </a:r>
                      <a:endParaRPr lang="it-IT" sz="1000"/>
                    </a:p>
                  </a:txBody>
                  <a:tcPr marL="36566" marR="36566" marT="18283" marB="182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it-IT" sz="1000" dirty="0"/>
                        <a:t>Supportati</a:t>
                      </a:r>
                    </a:p>
                  </a:txBody>
                  <a:tcPr marL="36566" marR="36566" marT="18283" marB="182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it-IT" sz="1000" dirty="0"/>
                        <a:t>Supportati</a:t>
                      </a:r>
                    </a:p>
                  </a:txBody>
                  <a:tcPr marL="36566" marR="36566" marT="18283" marB="182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15217430"/>
                  </a:ext>
                </a:extLst>
              </a:tr>
              <a:tr h="252205">
                <a:tc>
                  <a:txBody>
                    <a:bodyPr/>
                    <a:lstStyle/>
                    <a:p>
                      <a:r>
                        <a:rPr lang="it-IT" sz="1000" b="1"/>
                        <a:t>Supporto 3D Acceleration</a:t>
                      </a:r>
                      <a:endParaRPr lang="it-IT" sz="1000"/>
                    </a:p>
                  </a:txBody>
                  <a:tcPr marL="36566" marR="36566" marT="18283" marB="182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it-IT" sz="1000"/>
                        <a:t>Migliore, con supporto avanzato per DirectX e OpenGL</a:t>
                      </a:r>
                    </a:p>
                  </a:txBody>
                  <a:tcPr marL="36566" marR="36566" marT="18283" marB="182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it-IT" sz="1000" dirty="0"/>
                        <a:t>Supporto più limitato, meno ottimizzato per DirectX</a:t>
                      </a:r>
                    </a:p>
                  </a:txBody>
                  <a:tcPr marL="36566" marR="36566" marT="18283" marB="182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57044002"/>
                  </a:ext>
                </a:extLst>
              </a:tr>
              <a:tr h="336357">
                <a:tc>
                  <a:txBody>
                    <a:bodyPr/>
                    <a:lstStyle/>
                    <a:p>
                      <a:r>
                        <a:rPr lang="it-IT" sz="1000" b="1"/>
                        <a:t>Compatibilità OS Guest</a:t>
                      </a:r>
                      <a:endParaRPr lang="it-IT" sz="1000"/>
                    </a:p>
                  </a:txBody>
                  <a:tcPr marL="36566" marR="36566" marT="18283" marB="182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it-IT" sz="1000" dirty="0"/>
                        <a:t>Supporto ufficiale per Windows, Linux e </a:t>
                      </a:r>
                      <a:r>
                        <a:rPr lang="it-IT" sz="1000" dirty="0" err="1"/>
                        <a:t>macOS</a:t>
                      </a:r>
                      <a:endParaRPr lang="it-IT" sz="1000" dirty="0"/>
                    </a:p>
                  </a:txBody>
                  <a:tcPr marL="36566" marR="36566" marT="18283" marB="182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it-IT" sz="1000" dirty="0"/>
                        <a:t>Supporto più ampio, ma meno ottimizzato per Windows e </a:t>
                      </a:r>
                      <a:r>
                        <a:rPr lang="it-IT" sz="1000" dirty="0" err="1"/>
                        <a:t>macOS</a:t>
                      </a:r>
                      <a:endParaRPr lang="it-IT" sz="1000" dirty="0"/>
                    </a:p>
                  </a:txBody>
                  <a:tcPr marL="36566" marR="36566" marT="18283" marB="182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55167226"/>
                  </a:ext>
                </a:extLst>
              </a:tr>
              <a:tr h="252205">
                <a:tc>
                  <a:txBody>
                    <a:bodyPr/>
                    <a:lstStyle/>
                    <a:p>
                      <a:r>
                        <a:rPr lang="it-IT" sz="1000" b="1"/>
                        <a:t>USB Passthrough</a:t>
                      </a:r>
                      <a:endParaRPr lang="it-IT" sz="1000"/>
                    </a:p>
                  </a:txBody>
                  <a:tcPr marL="36566" marR="36566" marT="18283" marB="182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it-IT" sz="1000"/>
                        <a:t>Avanzato, supporta più dispositivi</a:t>
                      </a:r>
                    </a:p>
                  </a:txBody>
                  <a:tcPr marL="36566" marR="36566" marT="18283" marB="182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it-IT" sz="1000" dirty="0"/>
                        <a:t>Necessita dell'Extension Pack per USB 2.0/3.0</a:t>
                      </a:r>
                    </a:p>
                  </a:txBody>
                  <a:tcPr marL="36566" marR="36566" marT="18283" marB="182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6564493"/>
                  </a:ext>
                </a:extLst>
              </a:tr>
              <a:tr h="360293">
                <a:tc>
                  <a:txBody>
                    <a:bodyPr/>
                    <a:lstStyle/>
                    <a:p>
                      <a:r>
                        <a:rPr lang="it-IT" sz="1000" b="1"/>
                        <a:t>Networking</a:t>
                      </a:r>
                      <a:endParaRPr lang="it-IT" sz="1000"/>
                    </a:p>
                  </a:txBody>
                  <a:tcPr marL="36566" marR="36566" marT="18283" marB="182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000"/>
                        <a:t>Bridge, NAT, Host-Only, VLAN tagging avanzato</a:t>
                      </a:r>
                    </a:p>
                  </a:txBody>
                  <a:tcPr marL="36566" marR="36566" marT="18283" marB="182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it-IT" sz="1000" dirty="0"/>
                        <a:t>Bridge, NAT, Host-</a:t>
                      </a:r>
                      <a:r>
                        <a:rPr lang="it-IT" sz="1000" dirty="0" err="1"/>
                        <a:t>Only</a:t>
                      </a:r>
                      <a:r>
                        <a:rPr lang="it-IT" sz="1000" dirty="0"/>
                        <a:t> (meno opzioni avanzate rispetto a VMware)</a:t>
                      </a:r>
                    </a:p>
                  </a:txBody>
                  <a:tcPr marL="36566" marR="36566" marT="18283" marB="182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46914493"/>
                  </a:ext>
                </a:extLst>
              </a:tr>
              <a:tr h="252205">
                <a:tc>
                  <a:txBody>
                    <a:bodyPr/>
                    <a:lstStyle/>
                    <a:p>
                      <a:r>
                        <a:rPr lang="it-IT" sz="1000" b="1"/>
                        <a:t>Supporto NVMe e UEFI</a:t>
                      </a:r>
                      <a:endParaRPr lang="it-IT" sz="1000"/>
                    </a:p>
                  </a:txBody>
                  <a:tcPr marL="36566" marR="36566" marT="18283" marB="182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it-IT" sz="1000"/>
                        <a:t>Completo</a:t>
                      </a:r>
                    </a:p>
                  </a:txBody>
                  <a:tcPr marL="36566" marR="36566" marT="18283" marB="182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it-IT" sz="1000" dirty="0"/>
                        <a:t>Presente, ma con meno ottimizzazioni</a:t>
                      </a:r>
                    </a:p>
                  </a:txBody>
                  <a:tcPr marL="36566" marR="36566" marT="18283" marB="182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98898942"/>
                  </a:ext>
                </a:extLst>
              </a:tr>
              <a:tr h="252205">
                <a:tc>
                  <a:txBody>
                    <a:bodyPr/>
                    <a:lstStyle/>
                    <a:p>
                      <a:r>
                        <a:rPr lang="it-IT" sz="1000" b="1"/>
                        <a:t>Facilità d'uso</a:t>
                      </a:r>
                      <a:endParaRPr lang="it-IT" sz="1000"/>
                    </a:p>
                  </a:txBody>
                  <a:tcPr marL="36566" marR="36566" marT="18283" marB="182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it-IT" sz="1000"/>
                        <a:t>Interfaccia professionale, ma più complessa</a:t>
                      </a:r>
                    </a:p>
                  </a:txBody>
                  <a:tcPr marL="36566" marR="36566" marT="18283" marB="182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it-IT" sz="1000" dirty="0"/>
                        <a:t>Più user-friendly e accessibile</a:t>
                      </a:r>
                    </a:p>
                  </a:txBody>
                  <a:tcPr marL="36566" marR="36566" marT="18283" marB="182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3893857"/>
                  </a:ext>
                </a:extLst>
              </a:tr>
              <a:tr h="252205">
                <a:tc>
                  <a:txBody>
                    <a:bodyPr/>
                    <a:lstStyle/>
                    <a:p>
                      <a:r>
                        <a:rPr lang="it-IT" sz="1000" b="1"/>
                        <a:t>Destinazione d'uso</a:t>
                      </a:r>
                      <a:endParaRPr lang="it-IT" sz="1000"/>
                    </a:p>
                  </a:txBody>
                  <a:tcPr marL="36566" marR="36566" marT="18283" marB="182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it-IT" sz="1000"/>
                        <a:t>Ideale per ambienti aziendali e sviluppatori</a:t>
                      </a:r>
                    </a:p>
                  </a:txBody>
                  <a:tcPr marL="36566" marR="36566" marT="18283" marB="182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it-IT" sz="1000" dirty="0"/>
                        <a:t>Ottimo per utenti home e test di laboratorio</a:t>
                      </a:r>
                    </a:p>
                  </a:txBody>
                  <a:tcPr marL="36566" marR="36566" marT="18283" marB="182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00856704"/>
                  </a:ext>
                </a:extLst>
              </a:tr>
              <a:tr h="252205">
                <a:tc>
                  <a:txBody>
                    <a:bodyPr/>
                    <a:lstStyle/>
                    <a:p>
                      <a:r>
                        <a:rPr lang="it-IT" sz="1000" b="1"/>
                        <a:t>Migrazione VM tra piattaforme</a:t>
                      </a:r>
                      <a:endParaRPr lang="it-IT" sz="1000"/>
                    </a:p>
                  </a:txBody>
                  <a:tcPr marL="36566" marR="36566" marT="18283" marB="182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it-IT" sz="1000"/>
                        <a:t>Più complessa, richiede conversioni</a:t>
                      </a:r>
                    </a:p>
                  </a:txBody>
                  <a:tcPr marL="36566" marR="36566" marT="18283" marB="182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it-IT" sz="1000" dirty="0"/>
                        <a:t>Più flessibile grazie al formato aperto VDI</a:t>
                      </a:r>
                    </a:p>
                  </a:txBody>
                  <a:tcPr marL="36566" marR="36566" marT="18283" marB="18283"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38744515"/>
                  </a:ext>
                </a:extLst>
              </a:tr>
            </a:tbl>
          </a:graphicData>
        </a:graphic>
      </p:graphicFrame>
      <p:sp>
        <p:nvSpPr>
          <p:cNvPr id="10" name="Rectangle 1">
            <a:extLst>
              <a:ext uri="{FF2B5EF4-FFF2-40B4-BE49-F238E27FC236}">
                <a16:creationId xmlns:a16="http://schemas.microsoft.com/office/drawing/2014/main" id="{C38450FA-8B34-41AF-AED8-FD9D40A5F3F2}"/>
              </a:ext>
            </a:extLst>
          </p:cNvPr>
          <p:cNvSpPr>
            <a:spLocks noChangeArrowheads="1"/>
          </p:cNvSpPr>
          <p:nvPr/>
        </p:nvSpPr>
        <p:spPr bwMode="auto">
          <a:xfrm>
            <a:off x="3994150" y="182562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it-IT"/>
          </a:p>
        </p:txBody>
      </p:sp>
      <p:pic>
        <p:nvPicPr>
          <p:cNvPr id="15" name="Immagine 14">
            <a:extLst>
              <a:ext uri="{FF2B5EF4-FFF2-40B4-BE49-F238E27FC236}">
                <a16:creationId xmlns:a16="http://schemas.microsoft.com/office/drawing/2014/main" id="{5849254F-F7B6-454F-8421-C7532E9C717F}"/>
              </a:ext>
            </a:extLst>
          </p:cNvPr>
          <p:cNvPicPr>
            <a:picLocks noChangeAspect="1"/>
          </p:cNvPicPr>
          <p:nvPr/>
        </p:nvPicPr>
        <p:blipFill>
          <a:blip r:embed="rId3"/>
          <a:stretch>
            <a:fillRect/>
          </a:stretch>
        </p:blipFill>
        <p:spPr>
          <a:xfrm>
            <a:off x="7924727" y="1988575"/>
            <a:ext cx="8183117" cy="5458587"/>
          </a:xfrm>
          <a:prstGeom prst="rect">
            <a:avLst/>
          </a:prstGeom>
        </p:spPr>
      </p:pic>
    </p:spTree>
    <p:extLst>
      <p:ext uri="{BB962C8B-B14F-4D97-AF65-F5344CB8AC3E}">
        <p14:creationId xmlns:p14="http://schemas.microsoft.com/office/powerpoint/2010/main" val="9906840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C26327E-0E03-45A7-AB15-1B0887C3FD92}"/>
              </a:ext>
            </a:extLst>
          </p:cNvPr>
          <p:cNvSpPr>
            <a:spLocks noGrp="1"/>
          </p:cNvSpPr>
          <p:nvPr>
            <p:ph type="title"/>
          </p:nvPr>
        </p:nvSpPr>
        <p:spPr/>
        <p:txBody>
          <a:bodyPr/>
          <a:lstStyle/>
          <a:p>
            <a:r>
              <a:rPr lang="it-IT" dirty="0">
                <a:solidFill>
                  <a:srgbClr val="0070C0"/>
                </a:solidFill>
                <a:effectLst/>
                <a:latin typeface="Coli"/>
                <a:ea typeface="Times New Roman" panose="02020603050405020304" pitchFamily="18" charset="0"/>
              </a:rPr>
              <a:t>Virtualizzazione 2/5</a:t>
            </a:r>
            <a:endParaRPr lang="it-IT" dirty="0"/>
          </a:p>
        </p:txBody>
      </p:sp>
      <p:sp>
        <p:nvSpPr>
          <p:cNvPr id="5" name="Segnaposto contenuto 4">
            <a:extLst>
              <a:ext uri="{FF2B5EF4-FFF2-40B4-BE49-F238E27FC236}">
                <a16:creationId xmlns:a16="http://schemas.microsoft.com/office/drawing/2014/main" id="{54ECE95F-8840-4F73-98F9-A98CE7B75740}"/>
              </a:ext>
            </a:extLst>
          </p:cNvPr>
          <p:cNvSpPr>
            <a:spLocks noGrp="1"/>
          </p:cNvSpPr>
          <p:nvPr>
            <p:ph idx="1"/>
          </p:nvPr>
        </p:nvSpPr>
        <p:spPr>
          <a:xfrm>
            <a:off x="838200" y="1775362"/>
            <a:ext cx="4891415" cy="1197052"/>
          </a:xfrm>
        </p:spPr>
        <p:txBody>
          <a:bodyPr/>
          <a:lstStyle/>
          <a:p>
            <a:pPr marL="0" indent="0">
              <a:buNone/>
            </a:pPr>
            <a:r>
              <a:rPr lang="it-IT" dirty="0" err="1"/>
              <a:t>Proxmox</a:t>
            </a:r>
            <a:r>
              <a:rPr lang="it-IT" dirty="0"/>
              <a:t> </a:t>
            </a:r>
            <a:r>
              <a:rPr lang="it-IT" dirty="0" err="1"/>
              <a:t>Hypervisor</a:t>
            </a:r>
            <a:endParaRPr lang="it-IT" dirty="0"/>
          </a:p>
        </p:txBody>
      </p:sp>
      <p:pic>
        <p:nvPicPr>
          <p:cNvPr id="11" name="Elemento grafico 10">
            <a:extLst>
              <a:ext uri="{FF2B5EF4-FFF2-40B4-BE49-F238E27FC236}">
                <a16:creationId xmlns:a16="http://schemas.microsoft.com/office/drawing/2014/main" id="{9EBA90BD-EF7C-47CC-AE70-68052531282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9100" y="2246775"/>
            <a:ext cx="5563582" cy="4246100"/>
          </a:xfrm>
          <a:prstGeom prst="rect">
            <a:avLst/>
          </a:prstGeom>
        </p:spPr>
      </p:pic>
      <p:pic>
        <p:nvPicPr>
          <p:cNvPr id="13" name="Immagine 12">
            <a:extLst>
              <a:ext uri="{FF2B5EF4-FFF2-40B4-BE49-F238E27FC236}">
                <a16:creationId xmlns:a16="http://schemas.microsoft.com/office/drawing/2014/main" id="{8AE44B34-A815-4873-8C80-3CB4030F0E8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08432" y="3498339"/>
            <a:ext cx="1905000" cy="1790700"/>
          </a:xfrm>
          <a:prstGeom prst="rect">
            <a:avLst/>
          </a:prstGeom>
        </p:spPr>
      </p:pic>
      <p:sp>
        <p:nvSpPr>
          <p:cNvPr id="14" name="Segnaposto contenuto 4">
            <a:extLst>
              <a:ext uri="{FF2B5EF4-FFF2-40B4-BE49-F238E27FC236}">
                <a16:creationId xmlns:a16="http://schemas.microsoft.com/office/drawing/2014/main" id="{C704BD11-93C6-4FB0-BAE7-09D693A00F7F}"/>
              </a:ext>
            </a:extLst>
          </p:cNvPr>
          <p:cNvSpPr txBox="1">
            <a:spLocks/>
          </p:cNvSpPr>
          <p:nvPr/>
        </p:nvSpPr>
        <p:spPr>
          <a:xfrm>
            <a:off x="7870519" y="2642992"/>
            <a:ext cx="4891415" cy="119705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it-IT" dirty="0" err="1"/>
              <a:t>VMWare</a:t>
            </a:r>
            <a:r>
              <a:rPr lang="it-IT" dirty="0"/>
              <a:t> </a:t>
            </a:r>
            <a:r>
              <a:rPr lang="it-IT" dirty="0" err="1"/>
              <a:t>esxi</a:t>
            </a:r>
            <a:r>
              <a:rPr lang="it-IT" dirty="0"/>
              <a:t>  </a:t>
            </a:r>
            <a:r>
              <a:rPr lang="it-IT" dirty="0" err="1"/>
              <a:t>Hypervisor</a:t>
            </a:r>
            <a:endParaRPr lang="it-IT" dirty="0"/>
          </a:p>
        </p:txBody>
      </p:sp>
      <p:sp>
        <p:nvSpPr>
          <p:cNvPr id="8" name="CasellaDiTesto 7">
            <a:extLst>
              <a:ext uri="{FF2B5EF4-FFF2-40B4-BE49-F238E27FC236}">
                <a16:creationId xmlns:a16="http://schemas.microsoft.com/office/drawing/2014/main" id="{3D732DAF-7C0C-4CF0-B2EF-313D368B0CAF}"/>
              </a:ext>
            </a:extLst>
          </p:cNvPr>
          <p:cNvSpPr txBox="1"/>
          <p:nvPr/>
        </p:nvSpPr>
        <p:spPr>
          <a:xfrm>
            <a:off x="6537769" y="794241"/>
            <a:ext cx="6380298" cy="584775"/>
          </a:xfrm>
          <a:prstGeom prst="rect">
            <a:avLst/>
          </a:prstGeom>
          <a:noFill/>
        </p:spPr>
        <p:txBody>
          <a:bodyPr wrap="square">
            <a:spAutoFit/>
          </a:bodyPr>
          <a:lstStyle/>
          <a:p>
            <a:r>
              <a:rPr lang="it-IT" sz="3200" dirty="0" err="1">
                <a:solidFill>
                  <a:srgbClr val="0070C0"/>
                </a:solidFill>
                <a:effectLst/>
                <a:latin typeface="Coli"/>
                <a:ea typeface="Times New Roman" panose="02020603050405020304" pitchFamily="18" charset="0"/>
              </a:rPr>
              <a:t>HyperVisor</a:t>
            </a:r>
            <a:r>
              <a:rPr lang="it-IT" sz="3200" dirty="0">
                <a:solidFill>
                  <a:srgbClr val="0070C0"/>
                </a:solidFill>
                <a:effectLst/>
                <a:latin typeface="Coli"/>
                <a:ea typeface="Times New Roman" panose="02020603050405020304" pitchFamily="18" charset="0"/>
              </a:rPr>
              <a:t> Server</a:t>
            </a:r>
            <a:endParaRPr lang="it-IT" dirty="0"/>
          </a:p>
        </p:txBody>
      </p:sp>
    </p:spTree>
    <p:extLst>
      <p:ext uri="{BB962C8B-B14F-4D97-AF65-F5344CB8AC3E}">
        <p14:creationId xmlns:p14="http://schemas.microsoft.com/office/powerpoint/2010/main" val="1526960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C26327E-0E03-45A7-AB15-1B0887C3FD92}"/>
              </a:ext>
            </a:extLst>
          </p:cNvPr>
          <p:cNvSpPr>
            <a:spLocks noGrp="1"/>
          </p:cNvSpPr>
          <p:nvPr>
            <p:ph type="title"/>
          </p:nvPr>
        </p:nvSpPr>
        <p:spPr/>
        <p:txBody>
          <a:bodyPr/>
          <a:lstStyle/>
          <a:p>
            <a:r>
              <a:rPr lang="it-IT" dirty="0">
                <a:solidFill>
                  <a:srgbClr val="0070C0"/>
                </a:solidFill>
                <a:effectLst/>
                <a:latin typeface="Coli"/>
                <a:ea typeface="Times New Roman" panose="02020603050405020304" pitchFamily="18" charset="0"/>
              </a:rPr>
              <a:t>Virtualizzazione </a:t>
            </a:r>
            <a:r>
              <a:rPr lang="it-IT" dirty="0">
                <a:solidFill>
                  <a:srgbClr val="0070C0"/>
                </a:solidFill>
                <a:latin typeface="Coli"/>
                <a:ea typeface="Times New Roman" panose="02020603050405020304" pitchFamily="18" charset="0"/>
              </a:rPr>
              <a:t>3</a:t>
            </a:r>
            <a:r>
              <a:rPr lang="it-IT" dirty="0">
                <a:solidFill>
                  <a:srgbClr val="0070C0"/>
                </a:solidFill>
                <a:effectLst/>
                <a:latin typeface="Coli"/>
                <a:ea typeface="Times New Roman" panose="02020603050405020304" pitchFamily="18" charset="0"/>
              </a:rPr>
              <a:t>/5</a:t>
            </a:r>
            <a:endParaRPr lang="it-IT" dirty="0"/>
          </a:p>
        </p:txBody>
      </p:sp>
      <p:pic>
        <p:nvPicPr>
          <p:cNvPr id="8" name="Immagine 7" descr="Figure 5. eBay example to integrate Vagrant &amp; Docker to build their development environment.">
            <a:extLst>
              <a:ext uri="{FF2B5EF4-FFF2-40B4-BE49-F238E27FC236}">
                <a16:creationId xmlns:a16="http://schemas.microsoft.com/office/drawing/2014/main" id="{60B885B1-CD09-4065-B697-288AB38D839B}"/>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91346" y="1586857"/>
            <a:ext cx="4499567" cy="2927737"/>
          </a:xfrm>
          <a:prstGeom prst="rect">
            <a:avLst/>
          </a:prstGeom>
          <a:noFill/>
          <a:ln>
            <a:noFill/>
          </a:ln>
        </p:spPr>
      </p:pic>
      <p:pic>
        <p:nvPicPr>
          <p:cNvPr id="9" name="Immagine 8" descr="Table 1. Comparison of main features between Docker &amp; Vagrant">
            <a:extLst>
              <a:ext uri="{FF2B5EF4-FFF2-40B4-BE49-F238E27FC236}">
                <a16:creationId xmlns:a16="http://schemas.microsoft.com/office/drawing/2014/main" id="{C8C33FE4-ACA8-42F4-B26C-74CF880330F4}"/>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5929191" y="1917693"/>
            <a:ext cx="5153999" cy="3561853"/>
          </a:xfrm>
          <a:prstGeom prst="rect">
            <a:avLst/>
          </a:prstGeom>
          <a:noFill/>
          <a:ln>
            <a:noFill/>
          </a:ln>
        </p:spPr>
      </p:pic>
      <p:sp>
        <p:nvSpPr>
          <p:cNvPr id="7" name="CasellaDiTesto 6">
            <a:extLst>
              <a:ext uri="{FF2B5EF4-FFF2-40B4-BE49-F238E27FC236}">
                <a16:creationId xmlns:a16="http://schemas.microsoft.com/office/drawing/2014/main" id="{17B09685-86AB-4DAA-889A-6A55A7992F74}"/>
              </a:ext>
            </a:extLst>
          </p:cNvPr>
          <p:cNvSpPr txBox="1"/>
          <p:nvPr/>
        </p:nvSpPr>
        <p:spPr>
          <a:xfrm>
            <a:off x="6187558" y="840475"/>
            <a:ext cx="4289069" cy="1077218"/>
          </a:xfrm>
          <a:prstGeom prst="rect">
            <a:avLst/>
          </a:prstGeom>
          <a:noFill/>
        </p:spPr>
        <p:txBody>
          <a:bodyPr wrap="square">
            <a:spAutoFit/>
          </a:bodyPr>
          <a:lstStyle/>
          <a:p>
            <a:r>
              <a:rPr lang="it-IT" sz="3200" dirty="0">
                <a:solidFill>
                  <a:srgbClr val="0070C0"/>
                </a:solidFill>
                <a:effectLst/>
                <a:latin typeface="Coli"/>
                <a:ea typeface="Times New Roman" panose="02020603050405020304" pitchFamily="18" charset="0"/>
              </a:rPr>
              <a:t>Ambiente per Applicazioni</a:t>
            </a:r>
            <a:endParaRPr lang="it-IT" dirty="0"/>
          </a:p>
        </p:txBody>
      </p:sp>
      <p:sp>
        <p:nvSpPr>
          <p:cNvPr id="10" name="CasellaDiTesto 9">
            <a:extLst>
              <a:ext uri="{FF2B5EF4-FFF2-40B4-BE49-F238E27FC236}">
                <a16:creationId xmlns:a16="http://schemas.microsoft.com/office/drawing/2014/main" id="{09A059F2-1762-4DEE-9DBE-1423C6B489A1}"/>
              </a:ext>
            </a:extLst>
          </p:cNvPr>
          <p:cNvSpPr txBox="1"/>
          <p:nvPr/>
        </p:nvSpPr>
        <p:spPr>
          <a:xfrm>
            <a:off x="509480" y="4633999"/>
            <a:ext cx="3865698" cy="1869743"/>
          </a:xfrm>
          <a:prstGeom prst="rect">
            <a:avLst/>
          </a:prstGeom>
          <a:noFill/>
        </p:spPr>
        <p:txBody>
          <a:bodyPr wrap="square">
            <a:spAutoFit/>
          </a:bodyPr>
          <a:lstStyle/>
          <a:p>
            <a:r>
              <a:rPr lang="en-US" sz="1050" i="1" dirty="0" err="1">
                <a:effectLst/>
                <a:latin typeface="Calibri" panose="020F0502020204030204" pitchFamily="34" charset="0"/>
                <a:ea typeface="Calibri" panose="020F0502020204030204" pitchFamily="34" charset="0"/>
                <a:cs typeface="Times New Roman" panose="02020603050405020304" pitchFamily="18" charset="0"/>
              </a:rPr>
              <a:t>Vagrant.configure</a:t>
            </a:r>
            <a:r>
              <a:rPr lang="en-US" sz="1050" i="1" dirty="0">
                <a:effectLst/>
                <a:latin typeface="Calibri" panose="020F0502020204030204" pitchFamily="34" charset="0"/>
                <a:ea typeface="Calibri" panose="020F0502020204030204" pitchFamily="34" charset="0"/>
                <a:cs typeface="Times New Roman" panose="02020603050405020304" pitchFamily="18" charset="0"/>
              </a:rPr>
              <a:t>("2") do |config|</a:t>
            </a:r>
            <a:endParaRPr lang="it-IT" sz="16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050" i="1" dirty="0">
                <a:effectLst/>
                <a:latin typeface="Calibri" panose="020F0502020204030204" pitchFamily="34" charset="0"/>
                <a:ea typeface="Calibri" panose="020F0502020204030204" pitchFamily="34" charset="0"/>
                <a:cs typeface="Times New Roman" panose="02020603050405020304" pitchFamily="18" charset="0"/>
              </a:rPr>
              <a:t>    </a:t>
            </a:r>
            <a:r>
              <a:rPr lang="en-US" sz="1050" i="1" dirty="0" err="1">
                <a:effectLst/>
                <a:latin typeface="Calibri" panose="020F0502020204030204" pitchFamily="34" charset="0"/>
                <a:ea typeface="Calibri" panose="020F0502020204030204" pitchFamily="34" charset="0"/>
                <a:cs typeface="Times New Roman" panose="02020603050405020304" pitchFamily="18" charset="0"/>
              </a:rPr>
              <a:t>config.vm.provider</a:t>
            </a:r>
            <a:r>
              <a:rPr lang="en-US" sz="1050" i="1" dirty="0">
                <a:effectLst/>
                <a:latin typeface="Calibri" panose="020F0502020204030204" pitchFamily="34" charset="0"/>
                <a:ea typeface="Calibri" panose="020F0502020204030204" pitchFamily="34" charset="0"/>
                <a:cs typeface="Times New Roman" panose="02020603050405020304" pitchFamily="18" charset="0"/>
              </a:rPr>
              <a:t> "</a:t>
            </a:r>
            <a:r>
              <a:rPr lang="en-US" sz="1050" i="1" dirty="0" err="1">
                <a:effectLst/>
                <a:latin typeface="Calibri" panose="020F0502020204030204" pitchFamily="34" charset="0"/>
                <a:ea typeface="Calibri" panose="020F0502020204030204" pitchFamily="34" charset="0"/>
                <a:cs typeface="Times New Roman" panose="02020603050405020304" pitchFamily="18" charset="0"/>
              </a:rPr>
              <a:t>virtualbox</a:t>
            </a:r>
            <a:r>
              <a:rPr lang="en-US" sz="1050" i="1" dirty="0">
                <a:effectLst/>
                <a:latin typeface="Calibri" panose="020F0502020204030204" pitchFamily="34" charset="0"/>
                <a:ea typeface="Calibri" panose="020F0502020204030204" pitchFamily="34" charset="0"/>
                <a:cs typeface="Times New Roman" panose="02020603050405020304" pitchFamily="18" charset="0"/>
              </a:rPr>
              <a:t>" do |v|</a:t>
            </a:r>
            <a:endParaRPr lang="it-IT" sz="16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050" i="1" dirty="0">
                <a:effectLst/>
                <a:latin typeface="Calibri" panose="020F0502020204030204" pitchFamily="34" charset="0"/>
                <a:ea typeface="Calibri" panose="020F0502020204030204" pitchFamily="34" charset="0"/>
                <a:cs typeface="Times New Roman" panose="02020603050405020304" pitchFamily="18" charset="0"/>
              </a:rPr>
              <a:t>        </a:t>
            </a:r>
            <a:r>
              <a:rPr lang="en-US" sz="1050" i="1" dirty="0" err="1">
                <a:effectLst/>
                <a:latin typeface="Calibri" panose="020F0502020204030204" pitchFamily="34" charset="0"/>
                <a:ea typeface="Calibri" panose="020F0502020204030204" pitchFamily="34" charset="0"/>
                <a:cs typeface="Times New Roman" panose="02020603050405020304" pitchFamily="18" charset="0"/>
              </a:rPr>
              <a:t>v.memory</a:t>
            </a:r>
            <a:r>
              <a:rPr lang="en-US" sz="1050" i="1" dirty="0">
                <a:effectLst/>
                <a:latin typeface="Calibri" panose="020F0502020204030204" pitchFamily="34" charset="0"/>
                <a:ea typeface="Calibri" panose="020F0502020204030204" pitchFamily="34" charset="0"/>
                <a:cs typeface="Times New Roman" panose="02020603050405020304" pitchFamily="18" charset="0"/>
              </a:rPr>
              <a:t> = 4096</a:t>
            </a:r>
            <a:endParaRPr lang="it-IT" sz="16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050" i="1" dirty="0">
                <a:effectLst/>
                <a:latin typeface="Calibri" panose="020F0502020204030204" pitchFamily="34" charset="0"/>
                <a:ea typeface="Calibri" panose="020F0502020204030204" pitchFamily="34" charset="0"/>
                <a:cs typeface="Times New Roman" panose="02020603050405020304" pitchFamily="18" charset="0"/>
              </a:rPr>
              <a:t>        </a:t>
            </a:r>
            <a:r>
              <a:rPr lang="en-US" sz="1050" i="1" dirty="0" err="1">
                <a:effectLst/>
                <a:latin typeface="Calibri" panose="020F0502020204030204" pitchFamily="34" charset="0"/>
                <a:ea typeface="Calibri" panose="020F0502020204030204" pitchFamily="34" charset="0"/>
                <a:cs typeface="Times New Roman" panose="02020603050405020304" pitchFamily="18" charset="0"/>
              </a:rPr>
              <a:t>v.cpus</a:t>
            </a:r>
            <a:r>
              <a:rPr lang="en-US" sz="1050" i="1" dirty="0">
                <a:effectLst/>
                <a:latin typeface="Calibri" panose="020F0502020204030204" pitchFamily="34" charset="0"/>
                <a:ea typeface="Calibri" panose="020F0502020204030204" pitchFamily="34" charset="0"/>
                <a:cs typeface="Times New Roman" panose="02020603050405020304" pitchFamily="18" charset="0"/>
              </a:rPr>
              <a:t> = 2</a:t>
            </a:r>
            <a:endParaRPr lang="it-IT" sz="16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050" i="1" dirty="0">
                <a:effectLst/>
                <a:latin typeface="Calibri" panose="020F0502020204030204" pitchFamily="34" charset="0"/>
                <a:ea typeface="Calibri" panose="020F0502020204030204" pitchFamily="34" charset="0"/>
                <a:cs typeface="Times New Roman" panose="02020603050405020304" pitchFamily="18" charset="0"/>
              </a:rPr>
              <a:t>    end</a:t>
            </a:r>
            <a:endParaRPr lang="it-IT" sz="16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050" i="1" dirty="0">
                <a:effectLst/>
                <a:latin typeface="Calibri" panose="020F0502020204030204" pitchFamily="34" charset="0"/>
                <a:ea typeface="Calibri" panose="020F0502020204030204" pitchFamily="34" charset="0"/>
                <a:cs typeface="Times New Roman" panose="02020603050405020304" pitchFamily="18" charset="0"/>
              </a:rPr>
              <a:t>    </a:t>
            </a:r>
            <a:r>
              <a:rPr lang="en-US" sz="1050" i="1" dirty="0" err="1">
                <a:effectLst/>
                <a:latin typeface="Calibri" panose="020F0502020204030204" pitchFamily="34" charset="0"/>
                <a:ea typeface="Calibri" panose="020F0502020204030204" pitchFamily="34" charset="0"/>
                <a:cs typeface="Times New Roman" panose="02020603050405020304" pitchFamily="18" charset="0"/>
              </a:rPr>
              <a:t>config.vm.hostname</a:t>
            </a:r>
            <a:r>
              <a:rPr lang="en-US" sz="1050" i="1" dirty="0">
                <a:effectLst/>
                <a:latin typeface="Calibri" panose="020F0502020204030204" pitchFamily="34" charset="0"/>
                <a:ea typeface="Calibri" panose="020F0502020204030204" pitchFamily="34" charset="0"/>
                <a:cs typeface="Times New Roman" panose="02020603050405020304" pitchFamily="18" charset="0"/>
              </a:rPr>
              <a:t> = "LDC01"</a:t>
            </a:r>
            <a:endParaRPr lang="it-IT" sz="16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050" i="1" dirty="0">
                <a:effectLst/>
                <a:latin typeface="Calibri" panose="020F0502020204030204" pitchFamily="34" charset="0"/>
                <a:ea typeface="Calibri" panose="020F0502020204030204" pitchFamily="34" charset="0"/>
                <a:cs typeface="Times New Roman" panose="02020603050405020304" pitchFamily="18" charset="0"/>
              </a:rPr>
              <a:t>    </a:t>
            </a:r>
            <a:r>
              <a:rPr lang="en-US" sz="1050" i="1" dirty="0" err="1">
                <a:effectLst/>
                <a:latin typeface="Calibri" panose="020F0502020204030204" pitchFamily="34" charset="0"/>
                <a:ea typeface="Calibri" panose="020F0502020204030204" pitchFamily="34" charset="0"/>
                <a:cs typeface="Times New Roman" panose="02020603050405020304" pitchFamily="18" charset="0"/>
              </a:rPr>
              <a:t>config.vm.box</a:t>
            </a:r>
            <a:r>
              <a:rPr lang="en-US" sz="1050" i="1" dirty="0">
                <a:effectLst/>
                <a:latin typeface="Calibri" panose="020F0502020204030204" pitchFamily="34" charset="0"/>
                <a:ea typeface="Calibri" panose="020F0502020204030204" pitchFamily="34" charset="0"/>
                <a:cs typeface="Times New Roman" panose="02020603050405020304" pitchFamily="18" charset="0"/>
              </a:rPr>
              <a:t> = "</a:t>
            </a:r>
            <a:r>
              <a:rPr lang="en-US" sz="1050" i="1" dirty="0" err="1">
                <a:effectLst/>
                <a:latin typeface="Calibri" panose="020F0502020204030204" pitchFamily="34" charset="0"/>
                <a:ea typeface="Calibri" panose="020F0502020204030204" pitchFamily="34" charset="0"/>
                <a:cs typeface="Times New Roman" panose="02020603050405020304" pitchFamily="18" charset="0"/>
              </a:rPr>
              <a:t>chenhan</a:t>
            </a:r>
            <a:r>
              <a:rPr lang="en-US" sz="1050" i="1" dirty="0">
                <a:effectLst/>
                <a:latin typeface="Calibri" panose="020F0502020204030204" pitchFamily="34" charset="0"/>
                <a:ea typeface="Calibri" panose="020F0502020204030204" pitchFamily="34" charset="0"/>
                <a:cs typeface="Times New Roman" panose="02020603050405020304" pitchFamily="18" charset="0"/>
              </a:rPr>
              <a:t>/lubuntu-desktop-18.04"</a:t>
            </a:r>
            <a:endParaRPr lang="it-IT" sz="16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050" i="1" dirty="0">
                <a:effectLst/>
                <a:latin typeface="Calibri" panose="020F0502020204030204" pitchFamily="34" charset="0"/>
                <a:ea typeface="Calibri" panose="020F0502020204030204" pitchFamily="34" charset="0"/>
                <a:cs typeface="Times New Roman" panose="02020603050405020304" pitchFamily="18" charset="0"/>
              </a:rPr>
              <a:t>    </a:t>
            </a:r>
            <a:r>
              <a:rPr lang="en-US" sz="1050" i="1" dirty="0" err="1">
                <a:effectLst/>
                <a:latin typeface="Calibri" panose="020F0502020204030204" pitchFamily="34" charset="0"/>
                <a:ea typeface="Calibri" panose="020F0502020204030204" pitchFamily="34" charset="0"/>
                <a:cs typeface="Times New Roman" panose="02020603050405020304" pitchFamily="18" charset="0"/>
              </a:rPr>
              <a:t>config.vm.synced_folder</a:t>
            </a:r>
            <a:r>
              <a:rPr lang="en-US" sz="1050" i="1" dirty="0">
                <a:effectLst/>
                <a:latin typeface="Calibri" panose="020F0502020204030204" pitchFamily="34" charset="0"/>
                <a:ea typeface="Calibri" panose="020F0502020204030204" pitchFamily="34" charset="0"/>
                <a:cs typeface="Times New Roman" panose="02020603050405020304" pitchFamily="18" charset="0"/>
              </a:rPr>
              <a:t> "shared/", "C:/Vagrant/shared"</a:t>
            </a:r>
            <a:endParaRPr lang="it-IT" sz="16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050" i="1" dirty="0" err="1">
                <a:effectLst/>
                <a:latin typeface="Calibri" panose="020F0502020204030204" pitchFamily="34" charset="0"/>
                <a:ea typeface="Calibri" panose="020F0502020204030204" pitchFamily="34" charset="0"/>
                <a:cs typeface="Times New Roman" panose="02020603050405020304" pitchFamily="18" charset="0"/>
              </a:rPr>
              <a:t>config.vm.network</a:t>
            </a:r>
            <a:r>
              <a:rPr lang="en-US" sz="1050" i="1" dirty="0">
                <a:effectLst/>
                <a:latin typeface="Calibri" panose="020F0502020204030204" pitchFamily="34" charset="0"/>
                <a:ea typeface="Calibri" panose="020F0502020204030204" pitchFamily="34" charset="0"/>
                <a:cs typeface="Times New Roman" panose="02020603050405020304" pitchFamily="18" charset="0"/>
              </a:rPr>
              <a:t> :</a:t>
            </a:r>
            <a:r>
              <a:rPr lang="en-US" sz="1050" i="1" dirty="0" err="1">
                <a:effectLst/>
                <a:latin typeface="Calibri" panose="020F0502020204030204" pitchFamily="34" charset="0"/>
                <a:ea typeface="Calibri" panose="020F0502020204030204" pitchFamily="34" charset="0"/>
                <a:cs typeface="Times New Roman" panose="02020603050405020304" pitchFamily="18" charset="0"/>
              </a:rPr>
              <a:t>forwarded_port</a:t>
            </a:r>
            <a:r>
              <a:rPr lang="en-US" sz="1050" i="1" dirty="0">
                <a:effectLst/>
                <a:latin typeface="Calibri" panose="020F0502020204030204" pitchFamily="34" charset="0"/>
                <a:ea typeface="Calibri" panose="020F0502020204030204" pitchFamily="34" charset="0"/>
                <a:cs typeface="Times New Roman" panose="02020603050405020304" pitchFamily="18" charset="0"/>
              </a:rPr>
              <a:t>, guest: 22, host: 11022</a:t>
            </a:r>
            <a:endParaRPr lang="it-IT" sz="16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050" i="1" dirty="0">
                <a:effectLst/>
                <a:latin typeface="Calibri" panose="020F0502020204030204" pitchFamily="34" charset="0"/>
                <a:ea typeface="Calibri" panose="020F0502020204030204" pitchFamily="34" charset="0"/>
                <a:cs typeface="Times New Roman" panose="02020603050405020304" pitchFamily="18" charset="0"/>
              </a:rPr>
              <a:t> </a:t>
            </a:r>
            <a:endParaRPr lang="it-IT" sz="16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050" i="1" dirty="0">
                <a:latin typeface="Calibri" panose="020F0502020204030204" pitchFamily="34" charset="0"/>
                <a:ea typeface="Calibri" panose="020F0502020204030204" pitchFamily="34" charset="0"/>
                <a:cs typeface="Times New Roman" panose="02020603050405020304" pitchFamily="18" charset="0"/>
              </a:rPr>
              <a:t>end</a:t>
            </a:r>
            <a:endParaRPr lang="it-IT" sz="1050" i="1"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411231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C26327E-0E03-45A7-AB15-1B0887C3FD92}"/>
              </a:ext>
            </a:extLst>
          </p:cNvPr>
          <p:cNvSpPr>
            <a:spLocks noGrp="1"/>
          </p:cNvSpPr>
          <p:nvPr>
            <p:ph type="title"/>
          </p:nvPr>
        </p:nvSpPr>
        <p:spPr/>
        <p:txBody>
          <a:bodyPr/>
          <a:lstStyle/>
          <a:p>
            <a:r>
              <a:rPr lang="it-IT" dirty="0">
                <a:solidFill>
                  <a:srgbClr val="0070C0"/>
                </a:solidFill>
                <a:effectLst/>
                <a:latin typeface="Coli"/>
                <a:ea typeface="Times New Roman" panose="02020603050405020304" pitchFamily="18" charset="0"/>
              </a:rPr>
              <a:t>Virtualizzazione 4/5</a:t>
            </a:r>
            <a:endParaRPr lang="it-IT" dirty="0"/>
          </a:p>
        </p:txBody>
      </p:sp>
      <p:sp>
        <p:nvSpPr>
          <p:cNvPr id="7" name="CasellaDiTesto 6">
            <a:extLst>
              <a:ext uri="{FF2B5EF4-FFF2-40B4-BE49-F238E27FC236}">
                <a16:creationId xmlns:a16="http://schemas.microsoft.com/office/drawing/2014/main" id="{17B09685-86AB-4DAA-889A-6A55A7992F74}"/>
              </a:ext>
            </a:extLst>
          </p:cNvPr>
          <p:cNvSpPr txBox="1"/>
          <p:nvPr/>
        </p:nvSpPr>
        <p:spPr>
          <a:xfrm>
            <a:off x="6189726" y="854258"/>
            <a:ext cx="4289069" cy="584775"/>
          </a:xfrm>
          <a:prstGeom prst="rect">
            <a:avLst/>
          </a:prstGeom>
          <a:noFill/>
        </p:spPr>
        <p:txBody>
          <a:bodyPr wrap="square">
            <a:spAutoFit/>
          </a:bodyPr>
          <a:lstStyle/>
          <a:p>
            <a:r>
              <a:rPr lang="it-IT" sz="3200" dirty="0">
                <a:solidFill>
                  <a:srgbClr val="0070C0"/>
                </a:solidFill>
                <a:effectLst/>
                <a:latin typeface="Coli"/>
                <a:ea typeface="Times New Roman" panose="02020603050405020304" pitchFamily="18" charset="0"/>
              </a:rPr>
              <a:t>Container</a:t>
            </a:r>
            <a:endParaRPr lang="it-IT" dirty="0"/>
          </a:p>
        </p:txBody>
      </p:sp>
      <p:sp>
        <p:nvSpPr>
          <p:cNvPr id="6" name="CasellaDiTesto 5">
            <a:extLst>
              <a:ext uri="{FF2B5EF4-FFF2-40B4-BE49-F238E27FC236}">
                <a16:creationId xmlns:a16="http://schemas.microsoft.com/office/drawing/2014/main" id="{2CA4FE62-4019-452D-8C9D-117BDE985900}"/>
              </a:ext>
            </a:extLst>
          </p:cNvPr>
          <p:cNvSpPr txBox="1"/>
          <p:nvPr/>
        </p:nvSpPr>
        <p:spPr>
          <a:xfrm>
            <a:off x="1098549" y="2354065"/>
            <a:ext cx="1346459" cy="584775"/>
          </a:xfrm>
          <a:prstGeom prst="rect">
            <a:avLst/>
          </a:prstGeom>
          <a:noFill/>
        </p:spPr>
        <p:txBody>
          <a:bodyPr wrap="none" rtlCol="0">
            <a:spAutoFit/>
          </a:bodyPr>
          <a:lstStyle/>
          <a:p>
            <a:r>
              <a:rPr lang="it-IT" sz="3200" dirty="0"/>
              <a:t>Docker</a:t>
            </a:r>
          </a:p>
        </p:txBody>
      </p:sp>
      <p:sp>
        <p:nvSpPr>
          <p:cNvPr id="10" name="CasellaDiTesto 9">
            <a:extLst>
              <a:ext uri="{FF2B5EF4-FFF2-40B4-BE49-F238E27FC236}">
                <a16:creationId xmlns:a16="http://schemas.microsoft.com/office/drawing/2014/main" id="{21811808-4E5C-4BE7-BC14-07F3F8B9311F}"/>
              </a:ext>
            </a:extLst>
          </p:cNvPr>
          <p:cNvSpPr txBox="1"/>
          <p:nvPr/>
        </p:nvSpPr>
        <p:spPr>
          <a:xfrm>
            <a:off x="1123107" y="3057932"/>
            <a:ext cx="2643801" cy="369332"/>
          </a:xfrm>
          <a:prstGeom prst="rect">
            <a:avLst/>
          </a:prstGeom>
          <a:noFill/>
        </p:spPr>
        <p:txBody>
          <a:bodyPr wrap="none" rtlCol="0">
            <a:spAutoFit/>
          </a:bodyPr>
          <a:lstStyle/>
          <a:p>
            <a:r>
              <a:rPr lang="it-IT" dirty="0"/>
              <a:t>Isolamento di Applicazioni</a:t>
            </a:r>
          </a:p>
        </p:txBody>
      </p:sp>
      <p:sp>
        <p:nvSpPr>
          <p:cNvPr id="11" name="CasellaDiTesto 10">
            <a:extLst>
              <a:ext uri="{FF2B5EF4-FFF2-40B4-BE49-F238E27FC236}">
                <a16:creationId xmlns:a16="http://schemas.microsoft.com/office/drawing/2014/main" id="{CA49E396-1CBE-4F56-ABBB-A3DD08C3BDEE}"/>
              </a:ext>
            </a:extLst>
          </p:cNvPr>
          <p:cNvSpPr txBox="1"/>
          <p:nvPr/>
        </p:nvSpPr>
        <p:spPr>
          <a:xfrm>
            <a:off x="1123106" y="3553232"/>
            <a:ext cx="2517228" cy="369332"/>
          </a:xfrm>
          <a:prstGeom prst="rect">
            <a:avLst/>
          </a:prstGeom>
          <a:noFill/>
        </p:spPr>
        <p:txBody>
          <a:bodyPr wrap="none" rtlCol="0">
            <a:spAutoFit/>
          </a:bodyPr>
          <a:lstStyle/>
          <a:p>
            <a:r>
              <a:rPr lang="it-IT" dirty="0"/>
              <a:t>Creazione di </a:t>
            </a:r>
            <a:r>
              <a:rPr lang="it-IT" dirty="0" err="1"/>
              <a:t>microservizi</a:t>
            </a:r>
            <a:endParaRPr lang="it-IT" dirty="0"/>
          </a:p>
        </p:txBody>
      </p:sp>
      <p:sp>
        <p:nvSpPr>
          <p:cNvPr id="12" name="CasellaDiTesto 11">
            <a:extLst>
              <a:ext uri="{FF2B5EF4-FFF2-40B4-BE49-F238E27FC236}">
                <a16:creationId xmlns:a16="http://schemas.microsoft.com/office/drawing/2014/main" id="{D5FF8F27-44E3-4EE0-BFE3-C6E3D1A6EE02}"/>
              </a:ext>
            </a:extLst>
          </p:cNvPr>
          <p:cNvSpPr txBox="1"/>
          <p:nvPr/>
        </p:nvSpPr>
        <p:spPr>
          <a:xfrm>
            <a:off x="1123106" y="3994465"/>
            <a:ext cx="3197478" cy="369332"/>
          </a:xfrm>
          <a:prstGeom prst="rect">
            <a:avLst/>
          </a:prstGeom>
          <a:noFill/>
        </p:spPr>
        <p:txBody>
          <a:bodyPr wrap="none" rtlCol="0">
            <a:spAutoFit/>
          </a:bodyPr>
          <a:lstStyle/>
          <a:p>
            <a:r>
              <a:rPr lang="it-IT" dirty="0"/>
              <a:t>Gestore di immagini Docker hub</a:t>
            </a:r>
          </a:p>
        </p:txBody>
      </p:sp>
      <p:sp>
        <p:nvSpPr>
          <p:cNvPr id="13" name="CasellaDiTesto 12">
            <a:extLst>
              <a:ext uri="{FF2B5EF4-FFF2-40B4-BE49-F238E27FC236}">
                <a16:creationId xmlns:a16="http://schemas.microsoft.com/office/drawing/2014/main" id="{2870C6EE-80BB-4FA0-8910-5EB26C382DD4}"/>
              </a:ext>
            </a:extLst>
          </p:cNvPr>
          <p:cNvSpPr txBox="1"/>
          <p:nvPr/>
        </p:nvSpPr>
        <p:spPr>
          <a:xfrm>
            <a:off x="1123106" y="4828585"/>
            <a:ext cx="4070923" cy="646331"/>
          </a:xfrm>
          <a:prstGeom prst="rect">
            <a:avLst/>
          </a:prstGeom>
          <a:noFill/>
        </p:spPr>
        <p:txBody>
          <a:bodyPr wrap="none" rtlCol="0">
            <a:spAutoFit/>
          </a:bodyPr>
          <a:lstStyle/>
          <a:p>
            <a:r>
              <a:rPr lang="it-IT" dirty="0"/>
              <a:t>Orchestrazione fatta con </a:t>
            </a:r>
            <a:r>
              <a:rPr lang="it-IT" dirty="0" err="1"/>
              <a:t>docker</a:t>
            </a:r>
            <a:r>
              <a:rPr lang="it-IT" dirty="0"/>
              <a:t> compose</a:t>
            </a:r>
            <a:br>
              <a:rPr lang="it-IT" dirty="0"/>
            </a:br>
            <a:r>
              <a:rPr lang="it-IT" dirty="0"/>
              <a:t>e </a:t>
            </a:r>
            <a:r>
              <a:rPr lang="it-IT" dirty="0" err="1"/>
              <a:t>docker</a:t>
            </a:r>
            <a:r>
              <a:rPr lang="it-IT" dirty="0"/>
              <a:t> </a:t>
            </a:r>
            <a:r>
              <a:rPr lang="it-IT" dirty="0" err="1"/>
              <a:t>swarm</a:t>
            </a:r>
            <a:endParaRPr lang="it-IT" dirty="0"/>
          </a:p>
        </p:txBody>
      </p:sp>
      <p:sp>
        <p:nvSpPr>
          <p:cNvPr id="14" name="CasellaDiTesto 13">
            <a:extLst>
              <a:ext uri="{FF2B5EF4-FFF2-40B4-BE49-F238E27FC236}">
                <a16:creationId xmlns:a16="http://schemas.microsoft.com/office/drawing/2014/main" id="{C7408F0A-D94C-417F-8B50-B8A76B8692C4}"/>
              </a:ext>
            </a:extLst>
          </p:cNvPr>
          <p:cNvSpPr txBox="1"/>
          <p:nvPr/>
        </p:nvSpPr>
        <p:spPr>
          <a:xfrm>
            <a:off x="5864134" y="2354065"/>
            <a:ext cx="3882858" cy="584775"/>
          </a:xfrm>
          <a:prstGeom prst="rect">
            <a:avLst/>
          </a:prstGeom>
          <a:noFill/>
        </p:spPr>
        <p:txBody>
          <a:bodyPr wrap="none" rtlCol="0">
            <a:spAutoFit/>
          </a:bodyPr>
          <a:lstStyle/>
          <a:p>
            <a:r>
              <a:rPr lang="it-IT" sz="3200" dirty="0"/>
              <a:t>LXC (Linux Containers)</a:t>
            </a:r>
          </a:p>
        </p:txBody>
      </p:sp>
      <p:sp>
        <p:nvSpPr>
          <p:cNvPr id="15" name="CasellaDiTesto 14">
            <a:extLst>
              <a:ext uri="{FF2B5EF4-FFF2-40B4-BE49-F238E27FC236}">
                <a16:creationId xmlns:a16="http://schemas.microsoft.com/office/drawing/2014/main" id="{64279D75-E9BB-4669-9D47-C1EBCD7F73BE}"/>
              </a:ext>
            </a:extLst>
          </p:cNvPr>
          <p:cNvSpPr txBox="1"/>
          <p:nvPr/>
        </p:nvSpPr>
        <p:spPr>
          <a:xfrm>
            <a:off x="5898829" y="3020305"/>
            <a:ext cx="5063694" cy="369332"/>
          </a:xfrm>
          <a:prstGeom prst="rect">
            <a:avLst/>
          </a:prstGeom>
          <a:noFill/>
        </p:spPr>
        <p:txBody>
          <a:bodyPr wrap="none" rtlCol="0">
            <a:spAutoFit/>
          </a:bodyPr>
          <a:lstStyle/>
          <a:p>
            <a:r>
              <a:rPr lang="it-IT" dirty="0"/>
              <a:t>Container a livello di Sistema Operativo (</a:t>
            </a:r>
            <a:r>
              <a:rPr lang="it-IT" dirty="0" err="1"/>
              <a:t>init</a:t>
            </a:r>
            <a:r>
              <a:rPr lang="it-IT" dirty="0"/>
              <a:t> system)</a:t>
            </a:r>
          </a:p>
        </p:txBody>
      </p:sp>
      <p:sp>
        <p:nvSpPr>
          <p:cNvPr id="16" name="CasellaDiTesto 15">
            <a:extLst>
              <a:ext uri="{FF2B5EF4-FFF2-40B4-BE49-F238E27FC236}">
                <a16:creationId xmlns:a16="http://schemas.microsoft.com/office/drawing/2014/main" id="{B3A00E05-9788-4CBA-8565-DB0873F54D38}"/>
              </a:ext>
            </a:extLst>
          </p:cNvPr>
          <p:cNvSpPr txBox="1"/>
          <p:nvPr/>
        </p:nvSpPr>
        <p:spPr>
          <a:xfrm>
            <a:off x="5898829" y="3515605"/>
            <a:ext cx="3159839" cy="369332"/>
          </a:xfrm>
          <a:prstGeom prst="rect">
            <a:avLst/>
          </a:prstGeom>
          <a:noFill/>
        </p:spPr>
        <p:txBody>
          <a:bodyPr wrap="none" rtlCol="0">
            <a:spAutoFit/>
          </a:bodyPr>
          <a:lstStyle/>
          <a:p>
            <a:r>
              <a:rPr lang="it-IT" dirty="0"/>
              <a:t>Simile ad una macchina virtuale</a:t>
            </a:r>
          </a:p>
        </p:txBody>
      </p:sp>
      <p:sp>
        <p:nvSpPr>
          <p:cNvPr id="17" name="CasellaDiTesto 16">
            <a:extLst>
              <a:ext uri="{FF2B5EF4-FFF2-40B4-BE49-F238E27FC236}">
                <a16:creationId xmlns:a16="http://schemas.microsoft.com/office/drawing/2014/main" id="{341CE185-F189-42A8-BD53-6C050F245575}"/>
              </a:ext>
            </a:extLst>
          </p:cNvPr>
          <p:cNvSpPr txBox="1"/>
          <p:nvPr/>
        </p:nvSpPr>
        <p:spPr>
          <a:xfrm>
            <a:off x="5864134" y="4107301"/>
            <a:ext cx="3299749" cy="369332"/>
          </a:xfrm>
          <a:prstGeom prst="rect">
            <a:avLst/>
          </a:prstGeom>
          <a:noFill/>
        </p:spPr>
        <p:txBody>
          <a:bodyPr wrap="none" rtlCol="0">
            <a:spAutoFit/>
          </a:bodyPr>
          <a:lstStyle/>
          <a:p>
            <a:r>
              <a:rPr lang="it-IT" dirty="0"/>
              <a:t>Evoluzione di </a:t>
            </a:r>
            <a:r>
              <a:rPr lang="it-IT" dirty="0" err="1"/>
              <a:t>OpenVZ</a:t>
            </a:r>
            <a:r>
              <a:rPr lang="it-IT" dirty="0"/>
              <a:t> (</a:t>
            </a:r>
            <a:r>
              <a:rPr lang="it-IT" dirty="0" err="1"/>
              <a:t>Virtuozzo</a:t>
            </a:r>
            <a:r>
              <a:rPr lang="it-IT" dirty="0"/>
              <a:t>)</a:t>
            </a:r>
          </a:p>
        </p:txBody>
      </p:sp>
      <p:sp>
        <p:nvSpPr>
          <p:cNvPr id="18" name="CasellaDiTesto 17">
            <a:extLst>
              <a:ext uri="{FF2B5EF4-FFF2-40B4-BE49-F238E27FC236}">
                <a16:creationId xmlns:a16="http://schemas.microsoft.com/office/drawing/2014/main" id="{5BEA4043-5F1F-471D-8964-CCAC2D99A064}"/>
              </a:ext>
            </a:extLst>
          </p:cNvPr>
          <p:cNvSpPr txBox="1"/>
          <p:nvPr/>
        </p:nvSpPr>
        <p:spPr>
          <a:xfrm>
            <a:off x="1123106" y="4411525"/>
            <a:ext cx="1935530" cy="369332"/>
          </a:xfrm>
          <a:prstGeom prst="rect">
            <a:avLst/>
          </a:prstGeom>
          <a:noFill/>
        </p:spPr>
        <p:txBody>
          <a:bodyPr wrap="none" rtlCol="0">
            <a:spAutoFit/>
          </a:bodyPr>
          <a:lstStyle/>
          <a:p>
            <a:r>
              <a:rPr lang="it-IT" dirty="0"/>
              <a:t>Gestore di versioni</a:t>
            </a:r>
          </a:p>
        </p:txBody>
      </p:sp>
      <p:sp>
        <p:nvSpPr>
          <p:cNvPr id="19" name="CasellaDiTesto 18">
            <a:extLst>
              <a:ext uri="{FF2B5EF4-FFF2-40B4-BE49-F238E27FC236}">
                <a16:creationId xmlns:a16="http://schemas.microsoft.com/office/drawing/2014/main" id="{9A68FC36-75BE-47D1-901D-092B8077C9FF}"/>
              </a:ext>
            </a:extLst>
          </p:cNvPr>
          <p:cNvSpPr txBox="1"/>
          <p:nvPr/>
        </p:nvSpPr>
        <p:spPr>
          <a:xfrm>
            <a:off x="5864134" y="4558098"/>
            <a:ext cx="4614661" cy="369332"/>
          </a:xfrm>
          <a:prstGeom prst="rect">
            <a:avLst/>
          </a:prstGeom>
          <a:noFill/>
        </p:spPr>
        <p:txBody>
          <a:bodyPr wrap="none" rtlCol="0">
            <a:spAutoFit/>
          </a:bodyPr>
          <a:lstStyle/>
          <a:p>
            <a:r>
              <a:rPr lang="it-IT" dirty="0"/>
              <a:t>Esiste un repository da cui scaricare l’immagine</a:t>
            </a:r>
          </a:p>
        </p:txBody>
      </p:sp>
    </p:spTree>
    <p:extLst>
      <p:ext uri="{BB962C8B-B14F-4D97-AF65-F5344CB8AC3E}">
        <p14:creationId xmlns:p14="http://schemas.microsoft.com/office/powerpoint/2010/main" val="30768352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C26327E-0E03-45A7-AB15-1B0887C3FD92}"/>
              </a:ext>
            </a:extLst>
          </p:cNvPr>
          <p:cNvSpPr>
            <a:spLocks noGrp="1"/>
          </p:cNvSpPr>
          <p:nvPr>
            <p:ph type="title"/>
          </p:nvPr>
        </p:nvSpPr>
        <p:spPr/>
        <p:txBody>
          <a:bodyPr/>
          <a:lstStyle/>
          <a:p>
            <a:r>
              <a:rPr lang="it-IT" dirty="0">
                <a:solidFill>
                  <a:srgbClr val="0070C0"/>
                </a:solidFill>
                <a:effectLst/>
                <a:latin typeface="Coli"/>
                <a:ea typeface="Times New Roman" panose="02020603050405020304" pitchFamily="18" charset="0"/>
              </a:rPr>
              <a:t>Virtualizzazione 5/5</a:t>
            </a:r>
            <a:endParaRPr lang="it-IT" dirty="0"/>
          </a:p>
        </p:txBody>
      </p:sp>
      <p:graphicFrame>
        <p:nvGraphicFramePr>
          <p:cNvPr id="67" name="Tabella 66">
            <a:extLst>
              <a:ext uri="{FF2B5EF4-FFF2-40B4-BE49-F238E27FC236}">
                <a16:creationId xmlns:a16="http://schemas.microsoft.com/office/drawing/2014/main" id="{64DCFDF4-94A3-4B5C-ADD9-3C2E409C079C}"/>
              </a:ext>
            </a:extLst>
          </p:cNvPr>
          <p:cNvGraphicFramePr>
            <a:graphicFrameLocks noGrp="1"/>
          </p:cNvGraphicFramePr>
          <p:nvPr>
            <p:extLst>
              <p:ext uri="{D42A27DB-BD31-4B8C-83A1-F6EECF244321}">
                <p14:modId xmlns:p14="http://schemas.microsoft.com/office/powerpoint/2010/main" val="1923651939"/>
              </p:ext>
            </p:extLst>
          </p:nvPr>
        </p:nvGraphicFramePr>
        <p:xfrm>
          <a:off x="884964" y="1624240"/>
          <a:ext cx="9120129" cy="4652566"/>
        </p:xfrm>
        <a:graphic>
          <a:graphicData uri="http://schemas.openxmlformats.org/drawingml/2006/table">
            <a:tbl>
              <a:tblPr>
                <a:tableStyleId>{5C22544A-7EE6-4342-B048-85BDC9FD1C3A}</a:tableStyleId>
              </a:tblPr>
              <a:tblGrid>
                <a:gridCol w="2648927">
                  <a:extLst>
                    <a:ext uri="{9D8B030D-6E8A-4147-A177-3AD203B41FA5}">
                      <a16:colId xmlns:a16="http://schemas.microsoft.com/office/drawing/2014/main" val="3401460524"/>
                    </a:ext>
                  </a:extLst>
                </a:gridCol>
                <a:gridCol w="3591161">
                  <a:extLst>
                    <a:ext uri="{9D8B030D-6E8A-4147-A177-3AD203B41FA5}">
                      <a16:colId xmlns:a16="http://schemas.microsoft.com/office/drawing/2014/main" val="401172916"/>
                    </a:ext>
                  </a:extLst>
                </a:gridCol>
                <a:gridCol w="2880041">
                  <a:extLst>
                    <a:ext uri="{9D8B030D-6E8A-4147-A177-3AD203B41FA5}">
                      <a16:colId xmlns:a16="http://schemas.microsoft.com/office/drawing/2014/main" val="3892265883"/>
                    </a:ext>
                  </a:extLst>
                </a:gridCol>
              </a:tblGrid>
              <a:tr h="279979">
                <a:tc>
                  <a:txBody>
                    <a:bodyPr/>
                    <a:lstStyle/>
                    <a:p>
                      <a:pPr algn="ctr" fontAlgn="ctr"/>
                      <a:r>
                        <a:rPr lang="it-IT" sz="1050" u="none" strike="noStrike" dirty="0">
                          <a:effectLst/>
                        </a:rPr>
                        <a:t>Caratteristica</a:t>
                      </a:r>
                      <a:endParaRPr lang="it-IT" sz="1050" b="1" i="0" u="none" strike="noStrike" dirty="0">
                        <a:solidFill>
                          <a:srgbClr val="000000"/>
                        </a:solidFill>
                        <a:effectLst/>
                        <a:latin typeface="Calibri" panose="020F0502020204030204" pitchFamily="34" charset="0"/>
                      </a:endParaRPr>
                    </a:p>
                  </a:txBody>
                  <a:tcPr marL="5833" marR="5833" marT="5833" marB="0" anchor="ctr">
                    <a:solidFill>
                      <a:schemeClr val="bg1">
                        <a:lumMod val="65000"/>
                      </a:schemeClr>
                    </a:solidFill>
                  </a:tcPr>
                </a:tc>
                <a:tc>
                  <a:txBody>
                    <a:bodyPr/>
                    <a:lstStyle/>
                    <a:p>
                      <a:pPr algn="ctr" fontAlgn="ctr"/>
                      <a:r>
                        <a:rPr lang="it-IT" sz="1050" u="none" strike="noStrike" dirty="0">
                          <a:effectLst/>
                        </a:rPr>
                        <a:t>KVM (Kernel-</a:t>
                      </a:r>
                      <a:r>
                        <a:rPr lang="it-IT" sz="1050" u="none" strike="noStrike" dirty="0" err="1">
                          <a:effectLst/>
                        </a:rPr>
                        <a:t>based</a:t>
                      </a:r>
                      <a:r>
                        <a:rPr lang="it-IT" sz="1050" u="none" strike="noStrike" dirty="0">
                          <a:effectLst/>
                        </a:rPr>
                        <a:t> Virtual Machine)</a:t>
                      </a:r>
                      <a:endParaRPr lang="it-IT" sz="1050" b="1" i="0" u="none" strike="noStrike" dirty="0">
                        <a:solidFill>
                          <a:srgbClr val="000000"/>
                        </a:solidFill>
                        <a:effectLst/>
                        <a:latin typeface="Calibri" panose="020F0502020204030204" pitchFamily="34" charset="0"/>
                      </a:endParaRPr>
                    </a:p>
                  </a:txBody>
                  <a:tcPr marL="5833" marR="5833" marT="5833" marB="0" anchor="ctr">
                    <a:solidFill>
                      <a:schemeClr val="bg1">
                        <a:lumMod val="65000"/>
                      </a:schemeClr>
                    </a:solidFill>
                  </a:tcPr>
                </a:tc>
                <a:tc>
                  <a:txBody>
                    <a:bodyPr/>
                    <a:lstStyle/>
                    <a:p>
                      <a:pPr algn="ctr" fontAlgn="ctr"/>
                      <a:r>
                        <a:rPr lang="it-IT" sz="1050" u="none" strike="noStrike" dirty="0">
                          <a:effectLst/>
                        </a:rPr>
                        <a:t>QEMU (Quick Emulator)</a:t>
                      </a:r>
                      <a:endParaRPr lang="it-IT" sz="1050" b="1" i="0" u="none" strike="noStrike" dirty="0">
                        <a:solidFill>
                          <a:srgbClr val="000000"/>
                        </a:solidFill>
                        <a:effectLst/>
                        <a:latin typeface="Calibri" panose="020F0502020204030204" pitchFamily="34" charset="0"/>
                      </a:endParaRPr>
                    </a:p>
                  </a:txBody>
                  <a:tcPr marL="5833" marR="5833" marT="5833" marB="0" anchor="ctr">
                    <a:solidFill>
                      <a:schemeClr val="bg1">
                        <a:lumMod val="65000"/>
                      </a:schemeClr>
                    </a:solidFill>
                  </a:tcPr>
                </a:tc>
                <a:extLst>
                  <a:ext uri="{0D108BD9-81ED-4DB2-BD59-A6C34878D82A}">
                    <a16:rowId xmlns:a16="http://schemas.microsoft.com/office/drawing/2014/main" val="1781303482"/>
                  </a:ext>
                </a:extLst>
              </a:tr>
              <a:tr h="419968">
                <a:tc>
                  <a:txBody>
                    <a:bodyPr/>
                    <a:lstStyle/>
                    <a:p>
                      <a:pPr algn="l" fontAlgn="ctr"/>
                      <a:r>
                        <a:rPr lang="it-IT" sz="1050" u="none" strike="noStrike" dirty="0">
                          <a:effectLst/>
                        </a:rPr>
                        <a:t>Tipo di virtualizzazione</a:t>
                      </a:r>
                      <a:endParaRPr lang="it-IT" sz="1050" b="1" i="0" u="none" strike="noStrike" dirty="0">
                        <a:solidFill>
                          <a:srgbClr val="000000"/>
                        </a:solidFill>
                        <a:effectLst/>
                        <a:latin typeface="Calibri" panose="020F0502020204030204" pitchFamily="34" charset="0"/>
                      </a:endParaRPr>
                    </a:p>
                  </a:txBody>
                  <a:tcPr marL="5833" marR="5833" marT="5833" marB="0" anchor="ctr"/>
                </a:tc>
                <a:tc>
                  <a:txBody>
                    <a:bodyPr/>
                    <a:lstStyle/>
                    <a:p>
                      <a:pPr algn="l" fontAlgn="ctr"/>
                      <a:r>
                        <a:rPr lang="it-IT" sz="1050" u="none" strike="noStrike">
                          <a:effectLst/>
                        </a:rPr>
                        <a:t>Virtualizzazione hardware (basata su CPU con supporto a VT-x/AMD-V)</a:t>
                      </a:r>
                      <a:endParaRPr lang="it-IT" sz="1050" b="0" i="0" u="none" strike="noStrike">
                        <a:solidFill>
                          <a:srgbClr val="000000"/>
                        </a:solidFill>
                        <a:effectLst/>
                        <a:latin typeface="Calibri" panose="020F0502020204030204" pitchFamily="34" charset="0"/>
                      </a:endParaRPr>
                    </a:p>
                  </a:txBody>
                  <a:tcPr marL="5833" marR="5833" marT="5833" marB="0" anchor="ctr"/>
                </a:tc>
                <a:tc>
                  <a:txBody>
                    <a:bodyPr/>
                    <a:lstStyle/>
                    <a:p>
                      <a:pPr algn="l" fontAlgn="ctr"/>
                      <a:r>
                        <a:rPr lang="it-IT" sz="1050" u="none" strike="noStrike">
                          <a:effectLst/>
                        </a:rPr>
                        <a:t>Emulazione completa + virtualizzazione hardware (se usato con KVM)</a:t>
                      </a:r>
                      <a:endParaRPr lang="it-IT" sz="1050" b="0" i="0" u="none" strike="noStrike">
                        <a:solidFill>
                          <a:srgbClr val="000000"/>
                        </a:solidFill>
                        <a:effectLst/>
                        <a:latin typeface="Calibri" panose="020F0502020204030204" pitchFamily="34" charset="0"/>
                      </a:endParaRPr>
                    </a:p>
                  </a:txBody>
                  <a:tcPr marL="5833" marR="5833" marT="5833" marB="0" anchor="ctr"/>
                </a:tc>
                <a:extLst>
                  <a:ext uri="{0D108BD9-81ED-4DB2-BD59-A6C34878D82A}">
                    <a16:rowId xmlns:a16="http://schemas.microsoft.com/office/drawing/2014/main" val="2665547697"/>
                  </a:ext>
                </a:extLst>
              </a:tr>
              <a:tr h="419968">
                <a:tc>
                  <a:txBody>
                    <a:bodyPr/>
                    <a:lstStyle/>
                    <a:p>
                      <a:pPr algn="l" fontAlgn="ctr"/>
                      <a:r>
                        <a:rPr lang="it-IT" sz="1050" u="none" strike="noStrike" dirty="0">
                          <a:effectLst/>
                        </a:rPr>
                        <a:t>Prestazioni</a:t>
                      </a:r>
                      <a:endParaRPr lang="it-IT" sz="1050" b="1" i="0" u="none" strike="noStrike" dirty="0">
                        <a:solidFill>
                          <a:srgbClr val="000000"/>
                        </a:solidFill>
                        <a:effectLst/>
                        <a:latin typeface="Calibri" panose="020F0502020204030204" pitchFamily="34" charset="0"/>
                      </a:endParaRPr>
                    </a:p>
                  </a:txBody>
                  <a:tcPr marL="5833" marR="5833" marT="5833" marB="0" anchor="ctr"/>
                </a:tc>
                <a:tc>
                  <a:txBody>
                    <a:bodyPr/>
                    <a:lstStyle/>
                    <a:p>
                      <a:pPr algn="l" fontAlgn="ctr"/>
                      <a:r>
                        <a:rPr lang="it-IT" sz="1050" u="none" strike="noStrike">
                          <a:effectLst/>
                        </a:rPr>
                        <a:t>Alte, quasi native (grazie alla virtualizzazione hardware)</a:t>
                      </a:r>
                      <a:endParaRPr lang="it-IT" sz="1050" b="0" i="0" u="none" strike="noStrike">
                        <a:solidFill>
                          <a:srgbClr val="000000"/>
                        </a:solidFill>
                        <a:effectLst/>
                        <a:latin typeface="Calibri" panose="020F0502020204030204" pitchFamily="34" charset="0"/>
                      </a:endParaRPr>
                    </a:p>
                  </a:txBody>
                  <a:tcPr marL="5833" marR="5833" marT="5833" marB="0" anchor="ctr"/>
                </a:tc>
                <a:tc>
                  <a:txBody>
                    <a:bodyPr/>
                    <a:lstStyle/>
                    <a:p>
                      <a:pPr algn="l" fontAlgn="ctr"/>
                      <a:r>
                        <a:rPr lang="it-IT" sz="1050" u="none" strike="noStrike">
                          <a:effectLst/>
                        </a:rPr>
                        <a:t>Lento se usato in modalità pura di emulazione, più veloce se usato con KVM</a:t>
                      </a:r>
                      <a:endParaRPr lang="it-IT" sz="1050" b="0" i="0" u="none" strike="noStrike">
                        <a:solidFill>
                          <a:srgbClr val="000000"/>
                        </a:solidFill>
                        <a:effectLst/>
                        <a:latin typeface="Calibri" panose="020F0502020204030204" pitchFamily="34" charset="0"/>
                      </a:endParaRPr>
                    </a:p>
                  </a:txBody>
                  <a:tcPr marL="5833" marR="5833" marT="5833" marB="0" anchor="ctr"/>
                </a:tc>
                <a:extLst>
                  <a:ext uri="{0D108BD9-81ED-4DB2-BD59-A6C34878D82A}">
                    <a16:rowId xmlns:a16="http://schemas.microsoft.com/office/drawing/2014/main" val="269266176"/>
                  </a:ext>
                </a:extLst>
              </a:tr>
              <a:tr h="419968">
                <a:tc>
                  <a:txBody>
                    <a:bodyPr/>
                    <a:lstStyle/>
                    <a:p>
                      <a:pPr algn="l" fontAlgn="ctr"/>
                      <a:r>
                        <a:rPr lang="it-IT" sz="1050" u="none" strike="noStrike">
                          <a:effectLst/>
                        </a:rPr>
                        <a:t>Uso principale</a:t>
                      </a:r>
                      <a:endParaRPr lang="it-IT" sz="1050" b="1" i="0" u="none" strike="noStrike">
                        <a:solidFill>
                          <a:srgbClr val="000000"/>
                        </a:solidFill>
                        <a:effectLst/>
                        <a:latin typeface="Calibri" panose="020F0502020204030204" pitchFamily="34" charset="0"/>
                      </a:endParaRPr>
                    </a:p>
                  </a:txBody>
                  <a:tcPr marL="5833" marR="5833" marT="5833" marB="0" anchor="ctr"/>
                </a:tc>
                <a:tc>
                  <a:txBody>
                    <a:bodyPr/>
                    <a:lstStyle/>
                    <a:p>
                      <a:pPr algn="l" fontAlgn="ctr"/>
                      <a:r>
                        <a:rPr lang="it-IT" sz="1050" u="none" strike="noStrike" dirty="0">
                          <a:effectLst/>
                        </a:rPr>
                        <a:t>Virtualizzazione di macchine virtuali Linux e Windows su </a:t>
                      </a:r>
                      <a:r>
                        <a:rPr lang="it-IT" sz="1050" u="none" strike="noStrike" dirty="0" err="1">
                          <a:effectLst/>
                        </a:rPr>
                        <a:t>host</a:t>
                      </a:r>
                      <a:r>
                        <a:rPr lang="it-IT" sz="1050" u="none" strike="noStrike" dirty="0">
                          <a:effectLst/>
                        </a:rPr>
                        <a:t> Linux</a:t>
                      </a:r>
                      <a:endParaRPr lang="it-IT" sz="1050" b="0" i="0" u="none" strike="noStrike" dirty="0">
                        <a:solidFill>
                          <a:srgbClr val="000000"/>
                        </a:solidFill>
                        <a:effectLst/>
                        <a:latin typeface="Calibri" panose="020F0502020204030204" pitchFamily="34" charset="0"/>
                      </a:endParaRPr>
                    </a:p>
                  </a:txBody>
                  <a:tcPr marL="5833" marR="5833" marT="5833" marB="0" anchor="ctr"/>
                </a:tc>
                <a:tc>
                  <a:txBody>
                    <a:bodyPr/>
                    <a:lstStyle/>
                    <a:p>
                      <a:pPr algn="l" fontAlgn="ctr"/>
                      <a:r>
                        <a:rPr lang="it-IT" sz="1050" u="none" strike="noStrike" dirty="0">
                          <a:effectLst/>
                        </a:rPr>
                        <a:t>Emulazione di architetture diverse (es. ARM su x86) o virtualizzazione con KVM</a:t>
                      </a:r>
                      <a:endParaRPr lang="it-IT" sz="1050" b="0" i="0" u="none" strike="noStrike" dirty="0">
                        <a:solidFill>
                          <a:srgbClr val="000000"/>
                        </a:solidFill>
                        <a:effectLst/>
                        <a:latin typeface="Calibri" panose="020F0502020204030204" pitchFamily="34" charset="0"/>
                      </a:endParaRPr>
                    </a:p>
                  </a:txBody>
                  <a:tcPr marL="5833" marR="5833" marT="5833" marB="0" anchor="ctr"/>
                </a:tc>
                <a:extLst>
                  <a:ext uri="{0D108BD9-81ED-4DB2-BD59-A6C34878D82A}">
                    <a16:rowId xmlns:a16="http://schemas.microsoft.com/office/drawing/2014/main" val="3029134254"/>
                  </a:ext>
                </a:extLst>
              </a:tr>
              <a:tr h="279979">
                <a:tc>
                  <a:txBody>
                    <a:bodyPr/>
                    <a:lstStyle/>
                    <a:p>
                      <a:pPr algn="l" fontAlgn="ctr"/>
                      <a:r>
                        <a:rPr lang="it-IT" sz="1050" u="none" strike="noStrike">
                          <a:effectLst/>
                        </a:rPr>
                        <a:t>Supporto per OS Guest</a:t>
                      </a:r>
                      <a:endParaRPr lang="it-IT" sz="1050" b="1" i="0" u="none" strike="noStrike">
                        <a:solidFill>
                          <a:srgbClr val="000000"/>
                        </a:solidFill>
                        <a:effectLst/>
                        <a:latin typeface="Calibri" panose="020F0502020204030204" pitchFamily="34" charset="0"/>
                      </a:endParaRPr>
                    </a:p>
                  </a:txBody>
                  <a:tcPr marL="5833" marR="5833" marT="5833" marB="0" anchor="ctr"/>
                </a:tc>
                <a:tc>
                  <a:txBody>
                    <a:bodyPr/>
                    <a:lstStyle/>
                    <a:p>
                      <a:pPr algn="l" fontAlgn="ctr"/>
                      <a:r>
                        <a:rPr lang="it-IT" sz="1050" u="none" strike="noStrike">
                          <a:effectLst/>
                        </a:rPr>
                        <a:t>Windows, Linux, BSD</a:t>
                      </a:r>
                      <a:endParaRPr lang="it-IT" sz="1050" b="0" i="0" u="none" strike="noStrike">
                        <a:solidFill>
                          <a:srgbClr val="000000"/>
                        </a:solidFill>
                        <a:effectLst/>
                        <a:latin typeface="Calibri" panose="020F0502020204030204" pitchFamily="34" charset="0"/>
                      </a:endParaRPr>
                    </a:p>
                  </a:txBody>
                  <a:tcPr marL="5833" marR="5833" marT="5833" marB="0" anchor="ctr"/>
                </a:tc>
                <a:tc>
                  <a:txBody>
                    <a:bodyPr/>
                    <a:lstStyle/>
                    <a:p>
                      <a:pPr algn="l" fontAlgn="ctr"/>
                      <a:r>
                        <a:rPr lang="it-IT" sz="1050" u="none" strike="noStrike">
                          <a:effectLst/>
                        </a:rPr>
                        <a:t>Virtualizza ed emula molteplici OS, incluse architetture diverse</a:t>
                      </a:r>
                      <a:endParaRPr lang="it-IT" sz="1050" b="0" i="0" u="none" strike="noStrike">
                        <a:solidFill>
                          <a:srgbClr val="000000"/>
                        </a:solidFill>
                        <a:effectLst/>
                        <a:latin typeface="Calibri" panose="020F0502020204030204" pitchFamily="34" charset="0"/>
                      </a:endParaRPr>
                    </a:p>
                  </a:txBody>
                  <a:tcPr marL="5833" marR="5833" marT="5833" marB="0" anchor="ctr"/>
                </a:tc>
                <a:extLst>
                  <a:ext uri="{0D108BD9-81ED-4DB2-BD59-A6C34878D82A}">
                    <a16:rowId xmlns:a16="http://schemas.microsoft.com/office/drawing/2014/main" val="1656578453"/>
                  </a:ext>
                </a:extLst>
              </a:tr>
              <a:tr h="419968">
                <a:tc>
                  <a:txBody>
                    <a:bodyPr/>
                    <a:lstStyle/>
                    <a:p>
                      <a:pPr algn="l" fontAlgn="ctr"/>
                      <a:r>
                        <a:rPr lang="it-IT" sz="1050" u="none" strike="noStrike">
                          <a:effectLst/>
                        </a:rPr>
                        <a:t>Requisiti hardware</a:t>
                      </a:r>
                      <a:endParaRPr lang="it-IT" sz="1050" b="1" i="0" u="none" strike="noStrike">
                        <a:solidFill>
                          <a:srgbClr val="000000"/>
                        </a:solidFill>
                        <a:effectLst/>
                        <a:latin typeface="Calibri" panose="020F0502020204030204" pitchFamily="34" charset="0"/>
                      </a:endParaRPr>
                    </a:p>
                  </a:txBody>
                  <a:tcPr marL="5833" marR="5833" marT="5833" marB="0" anchor="ctr"/>
                </a:tc>
                <a:tc>
                  <a:txBody>
                    <a:bodyPr/>
                    <a:lstStyle/>
                    <a:p>
                      <a:pPr algn="l" fontAlgn="ctr"/>
                      <a:r>
                        <a:rPr lang="it-IT" sz="1050" u="none" strike="noStrike" dirty="0">
                          <a:effectLst/>
                        </a:rPr>
                        <a:t>CPU con supporto a VT-x (Intel) o AMD-V</a:t>
                      </a:r>
                      <a:endParaRPr lang="it-IT" sz="1050" b="0" i="0" u="none" strike="noStrike" dirty="0">
                        <a:solidFill>
                          <a:srgbClr val="000000"/>
                        </a:solidFill>
                        <a:effectLst/>
                        <a:latin typeface="Calibri" panose="020F0502020204030204" pitchFamily="34" charset="0"/>
                      </a:endParaRPr>
                    </a:p>
                  </a:txBody>
                  <a:tcPr marL="5833" marR="5833" marT="5833" marB="0" anchor="ctr"/>
                </a:tc>
                <a:tc>
                  <a:txBody>
                    <a:bodyPr/>
                    <a:lstStyle/>
                    <a:p>
                      <a:pPr algn="l" fontAlgn="ctr"/>
                      <a:r>
                        <a:rPr lang="it-IT" sz="1050" u="none" strike="noStrike" dirty="0">
                          <a:effectLst/>
                        </a:rPr>
                        <a:t>Nessun requisito hardware speciale per l'emulazione, ma KVM necessita di VT-x/AMD-V</a:t>
                      </a:r>
                      <a:endParaRPr lang="it-IT" sz="1050" b="0" i="0" u="none" strike="noStrike" dirty="0">
                        <a:solidFill>
                          <a:srgbClr val="000000"/>
                        </a:solidFill>
                        <a:effectLst/>
                        <a:latin typeface="Calibri" panose="020F0502020204030204" pitchFamily="34" charset="0"/>
                      </a:endParaRPr>
                    </a:p>
                  </a:txBody>
                  <a:tcPr marL="5833" marR="5833" marT="5833" marB="0" anchor="ctr"/>
                </a:tc>
                <a:extLst>
                  <a:ext uri="{0D108BD9-81ED-4DB2-BD59-A6C34878D82A}">
                    <a16:rowId xmlns:a16="http://schemas.microsoft.com/office/drawing/2014/main" val="2489327740"/>
                  </a:ext>
                </a:extLst>
              </a:tr>
              <a:tr h="279979">
                <a:tc>
                  <a:txBody>
                    <a:bodyPr/>
                    <a:lstStyle/>
                    <a:p>
                      <a:pPr algn="l" fontAlgn="ctr"/>
                      <a:r>
                        <a:rPr lang="it-IT" sz="1050" u="none" strike="noStrike">
                          <a:effectLst/>
                        </a:rPr>
                        <a:t>Gestione delle VM</a:t>
                      </a:r>
                      <a:endParaRPr lang="it-IT" sz="1050" b="1" i="0" u="none" strike="noStrike">
                        <a:solidFill>
                          <a:srgbClr val="000000"/>
                        </a:solidFill>
                        <a:effectLst/>
                        <a:latin typeface="Calibri" panose="020F0502020204030204" pitchFamily="34" charset="0"/>
                      </a:endParaRPr>
                    </a:p>
                  </a:txBody>
                  <a:tcPr marL="5833" marR="5833" marT="5833" marB="0" anchor="ctr"/>
                </a:tc>
                <a:tc>
                  <a:txBody>
                    <a:bodyPr/>
                    <a:lstStyle/>
                    <a:p>
                      <a:pPr algn="l" fontAlgn="ctr"/>
                      <a:r>
                        <a:rPr lang="it-IT" sz="1050" u="none" strike="noStrike">
                          <a:effectLst/>
                        </a:rPr>
                        <a:t>Integrato con libvirt (usato in virt-manager, OpenStack, etc.)</a:t>
                      </a:r>
                      <a:endParaRPr lang="it-IT" sz="1050" b="0" i="0" u="none" strike="noStrike">
                        <a:solidFill>
                          <a:srgbClr val="000000"/>
                        </a:solidFill>
                        <a:effectLst/>
                        <a:latin typeface="Calibri" panose="020F0502020204030204" pitchFamily="34" charset="0"/>
                      </a:endParaRPr>
                    </a:p>
                  </a:txBody>
                  <a:tcPr marL="5833" marR="5833" marT="5833" marB="0" anchor="ctr"/>
                </a:tc>
                <a:tc>
                  <a:txBody>
                    <a:bodyPr/>
                    <a:lstStyle/>
                    <a:p>
                      <a:pPr algn="l" fontAlgn="ctr"/>
                      <a:r>
                        <a:rPr lang="it-IT" sz="1050" u="none" strike="noStrike">
                          <a:effectLst/>
                        </a:rPr>
                        <a:t>Può essere usato da solo o con KVM per accelerazione</a:t>
                      </a:r>
                      <a:endParaRPr lang="it-IT" sz="1050" b="0" i="0" u="none" strike="noStrike">
                        <a:solidFill>
                          <a:srgbClr val="000000"/>
                        </a:solidFill>
                        <a:effectLst/>
                        <a:latin typeface="Calibri" panose="020F0502020204030204" pitchFamily="34" charset="0"/>
                      </a:endParaRPr>
                    </a:p>
                  </a:txBody>
                  <a:tcPr marL="5833" marR="5833" marT="5833" marB="0" anchor="ctr"/>
                </a:tc>
                <a:extLst>
                  <a:ext uri="{0D108BD9-81ED-4DB2-BD59-A6C34878D82A}">
                    <a16:rowId xmlns:a16="http://schemas.microsoft.com/office/drawing/2014/main" val="1325064672"/>
                  </a:ext>
                </a:extLst>
              </a:tr>
              <a:tr h="279979">
                <a:tc>
                  <a:txBody>
                    <a:bodyPr/>
                    <a:lstStyle/>
                    <a:p>
                      <a:pPr algn="l" fontAlgn="ctr"/>
                      <a:r>
                        <a:rPr lang="it-IT" sz="1050" u="none" strike="noStrike">
                          <a:effectLst/>
                        </a:rPr>
                        <a:t>Networking</a:t>
                      </a:r>
                      <a:endParaRPr lang="it-IT" sz="1050" b="1" i="0" u="none" strike="noStrike">
                        <a:solidFill>
                          <a:srgbClr val="000000"/>
                        </a:solidFill>
                        <a:effectLst/>
                        <a:latin typeface="Calibri" panose="020F0502020204030204" pitchFamily="34" charset="0"/>
                      </a:endParaRPr>
                    </a:p>
                  </a:txBody>
                  <a:tcPr marL="5833" marR="5833" marT="5833" marB="0" anchor="ctr"/>
                </a:tc>
                <a:tc>
                  <a:txBody>
                    <a:bodyPr/>
                    <a:lstStyle/>
                    <a:p>
                      <a:pPr algn="l" fontAlgn="ctr"/>
                      <a:r>
                        <a:rPr lang="en-US" sz="1050" u="none" strike="noStrike">
                          <a:effectLst/>
                        </a:rPr>
                        <a:t>Bridge, NAT, Host-Only, Macvtap (attraverso libvirt)</a:t>
                      </a:r>
                      <a:endParaRPr lang="en-US" sz="1050" b="0" i="0" u="none" strike="noStrike">
                        <a:solidFill>
                          <a:srgbClr val="000000"/>
                        </a:solidFill>
                        <a:effectLst/>
                        <a:latin typeface="Calibri" panose="020F0502020204030204" pitchFamily="34" charset="0"/>
                      </a:endParaRPr>
                    </a:p>
                  </a:txBody>
                  <a:tcPr marL="5833" marR="5833" marT="5833" marB="0" anchor="ctr"/>
                </a:tc>
                <a:tc>
                  <a:txBody>
                    <a:bodyPr/>
                    <a:lstStyle/>
                    <a:p>
                      <a:pPr algn="l" fontAlgn="ctr"/>
                      <a:r>
                        <a:rPr lang="en-US" sz="1050" u="none" strike="noStrike" dirty="0">
                          <a:effectLst/>
                        </a:rPr>
                        <a:t>Bridge, NAT, Host-Only, </a:t>
                      </a:r>
                      <a:r>
                        <a:rPr lang="en-US" sz="1050" u="none" strike="noStrike" dirty="0" err="1">
                          <a:effectLst/>
                        </a:rPr>
                        <a:t>Macvtap</a:t>
                      </a:r>
                      <a:r>
                        <a:rPr lang="en-US" sz="1050" u="none" strike="noStrike" dirty="0">
                          <a:effectLst/>
                        </a:rPr>
                        <a:t> (</a:t>
                      </a:r>
                      <a:r>
                        <a:rPr lang="en-US" sz="1050" u="none" strike="noStrike" dirty="0" err="1">
                          <a:effectLst/>
                        </a:rPr>
                        <a:t>attraverso</a:t>
                      </a:r>
                      <a:r>
                        <a:rPr lang="en-US" sz="1050" u="none" strike="noStrike" dirty="0">
                          <a:effectLst/>
                        </a:rPr>
                        <a:t> </a:t>
                      </a:r>
                      <a:r>
                        <a:rPr lang="en-US" sz="1050" u="none" strike="noStrike" dirty="0" err="1">
                          <a:effectLst/>
                        </a:rPr>
                        <a:t>libvirt</a:t>
                      </a:r>
                      <a:r>
                        <a:rPr lang="en-US" sz="1050" u="none" strike="noStrike" dirty="0">
                          <a:effectLst/>
                        </a:rPr>
                        <a:t>)</a:t>
                      </a:r>
                      <a:endParaRPr lang="en-US" sz="1050" b="0" i="0" u="none" strike="noStrike" dirty="0">
                        <a:solidFill>
                          <a:srgbClr val="000000"/>
                        </a:solidFill>
                        <a:effectLst/>
                        <a:latin typeface="Calibri" panose="020F0502020204030204" pitchFamily="34" charset="0"/>
                      </a:endParaRPr>
                    </a:p>
                  </a:txBody>
                  <a:tcPr marL="5833" marR="5833" marT="5833" marB="0" anchor="ctr"/>
                </a:tc>
                <a:extLst>
                  <a:ext uri="{0D108BD9-81ED-4DB2-BD59-A6C34878D82A}">
                    <a16:rowId xmlns:a16="http://schemas.microsoft.com/office/drawing/2014/main" val="3746226572"/>
                  </a:ext>
                </a:extLst>
              </a:tr>
              <a:tr h="139989">
                <a:tc>
                  <a:txBody>
                    <a:bodyPr/>
                    <a:lstStyle/>
                    <a:p>
                      <a:pPr algn="l" fontAlgn="ctr"/>
                      <a:r>
                        <a:rPr lang="it-IT" sz="1050" u="none" strike="noStrike">
                          <a:effectLst/>
                        </a:rPr>
                        <a:t>Snapshot e Cloning</a:t>
                      </a:r>
                      <a:endParaRPr lang="it-IT" sz="1050" b="1" i="0" u="none" strike="noStrike">
                        <a:solidFill>
                          <a:srgbClr val="000000"/>
                        </a:solidFill>
                        <a:effectLst/>
                        <a:latin typeface="Calibri" panose="020F0502020204030204" pitchFamily="34" charset="0"/>
                      </a:endParaRPr>
                    </a:p>
                  </a:txBody>
                  <a:tcPr marL="5833" marR="5833" marT="5833" marB="0" anchor="ctr"/>
                </a:tc>
                <a:tc>
                  <a:txBody>
                    <a:bodyPr/>
                    <a:lstStyle/>
                    <a:p>
                      <a:pPr algn="l" fontAlgn="ctr"/>
                      <a:r>
                        <a:rPr lang="it-IT" sz="1050" u="none" strike="noStrike">
                          <a:effectLst/>
                        </a:rPr>
                        <a:t>Supportati (tramite libvirt e qcow2)</a:t>
                      </a:r>
                      <a:endParaRPr lang="it-IT" sz="1050" b="0" i="0" u="none" strike="noStrike">
                        <a:solidFill>
                          <a:srgbClr val="000000"/>
                        </a:solidFill>
                        <a:effectLst/>
                        <a:latin typeface="Calibri" panose="020F0502020204030204" pitchFamily="34" charset="0"/>
                      </a:endParaRPr>
                    </a:p>
                  </a:txBody>
                  <a:tcPr marL="5833" marR="5833" marT="5833" marB="0" anchor="ctr"/>
                </a:tc>
                <a:tc>
                  <a:txBody>
                    <a:bodyPr/>
                    <a:lstStyle/>
                    <a:p>
                      <a:pPr algn="l" fontAlgn="ctr"/>
                      <a:r>
                        <a:rPr lang="it-IT" sz="1050" u="none" strike="noStrike" dirty="0">
                          <a:effectLst/>
                        </a:rPr>
                        <a:t>Supportati (tramite qcow2)</a:t>
                      </a:r>
                      <a:endParaRPr lang="it-IT" sz="1050" b="0" i="0" u="none" strike="noStrike" dirty="0">
                        <a:solidFill>
                          <a:srgbClr val="000000"/>
                        </a:solidFill>
                        <a:effectLst/>
                        <a:latin typeface="Calibri" panose="020F0502020204030204" pitchFamily="34" charset="0"/>
                      </a:endParaRPr>
                    </a:p>
                  </a:txBody>
                  <a:tcPr marL="5833" marR="5833" marT="5833" marB="0" anchor="ctr"/>
                </a:tc>
                <a:extLst>
                  <a:ext uri="{0D108BD9-81ED-4DB2-BD59-A6C34878D82A}">
                    <a16:rowId xmlns:a16="http://schemas.microsoft.com/office/drawing/2014/main" val="1623546986"/>
                  </a:ext>
                </a:extLst>
              </a:tr>
              <a:tr h="279979">
                <a:tc>
                  <a:txBody>
                    <a:bodyPr/>
                    <a:lstStyle/>
                    <a:p>
                      <a:pPr algn="l" fontAlgn="ctr"/>
                      <a:r>
                        <a:rPr lang="it-IT" sz="1050" u="none" strike="noStrike">
                          <a:effectLst/>
                        </a:rPr>
                        <a:t>Supporto per GPU Passthrough</a:t>
                      </a:r>
                      <a:endParaRPr lang="it-IT" sz="1050" b="1" i="0" u="none" strike="noStrike">
                        <a:solidFill>
                          <a:srgbClr val="000000"/>
                        </a:solidFill>
                        <a:effectLst/>
                        <a:latin typeface="Calibri" panose="020F0502020204030204" pitchFamily="34" charset="0"/>
                      </a:endParaRPr>
                    </a:p>
                  </a:txBody>
                  <a:tcPr marL="5833" marR="5833" marT="5833" marB="0" anchor="ctr"/>
                </a:tc>
                <a:tc>
                  <a:txBody>
                    <a:bodyPr/>
                    <a:lstStyle/>
                    <a:p>
                      <a:pPr algn="l" fontAlgn="ctr"/>
                      <a:r>
                        <a:rPr lang="it-IT" sz="1050" u="none" strike="noStrike">
                          <a:effectLst/>
                        </a:rPr>
                        <a:t>Supportato (tramite VFIO e IOMMU)</a:t>
                      </a:r>
                      <a:endParaRPr lang="it-IT" sz="1050" b="0" i="0" u="none" strike="noStrike">
                        <a:solidFill>
                          <a:srgbClr val="000000"/>
                        </a:solidFill>
                        <a:effectLst/>
                        <a:latin typeface="Calibri" panose="020F0502020204030204" pitchFamily="34" charset="0"/>
                      </a:endParaRPr>
                    </a:p>
                  </a:txBody>
                  <a:tcPr marL="5833" marR="5833" marT="5833" marB="0" anchor="ctr"/>
                </a:tc>
                <a:tc>
                  <a:txBody>
                    <a:bodyPr/>
                    <a:lstStyle/>
                    <a:p>
                      <a:pPr algn="l" fontAlgn="ctr"/>
                      <a:r>
                        <a:rPr lang="it-IT" sz="1050" u="none" strike="noStrike" dirty="0">
                          <a:effectLst/>
                        </a:rPr>
                        <a:t>Supportato con KVM, ma non in modalità pura di emulazione</a:t>
                      </a:r>
                      <a:endParaRPr lang="it-IT" sz="1050" b="0" i="0" u="none" strike="noStrike" dirty="0">
                        <a:solidFill>
                          <a:srgbClr val="000000"/>
                        </a:solidFill>
                        <a:effectLst/>
                        <a:latin typeface="Calibri" panose="020F0502020204030204" pitchFamily="34" charset="0"/>
                      </a:endParaRPr>
                    </a:p>
                  </a:txBody>
                  <a:tcPr marL="5833" marR="5833" marT="5833" marB="0" anchor="ctr"/>
                </a:tc>
                <a:extLst>
                  <a:ext uri="{0D108BD9-81ED-4DB2-BD59-A6C34878D82A}">
                    <a16:rowId xmlns:a16="http://schemas.microsoft.com/office/drawing/2014/main" val="3821285165"/>
                  </a:ext>
                </a:extLst>
              </a:tr>
              <a:tr h="279979">
                <a:tc>
                  <a:txBody>
                    <a:bodyPr/>
                    <a:lstStyle/>
                    <a:p>
                      <a:pPr algn="l" fontAlgn="ctr"/>
                      <a:r>
                        <a:rPr lang="it-IT" sz="1050" u="none" strike="noStrike">
                          <a:effectLst/>
                        </a:rPr>
                        <a:t>Compatibilità con strumenti di gestione</a:t>
                      </a:r>
                      <a:endParaRPr lang="it-IT" sz="1050" b="1" i="0" u="none" strike="noStrike">
                        <a:solidFill>
                          <a:srgbClr val="000000"/>
                        </a:solidFill>
                        <a:effectLst/>
                        <a:latin typeface="Calibri" panose="020F0502020204030204" pitchFamily="34" charset="0"/>
                      </a:endParaRPr>
                    </a:p>
                  </a:txBody>
                  <a:tcPr marL="5833" marR="5833" marT="5833" marB="0" anchor="ctr"/>
                </a:tc>
                <a:tc>
                  <a:txBody>
                    <a:bodyPr/>
                    <a:lstStyle/>
                    <a:p>
                      <a:pPr algn="l" fontAlgn="ctr"/>
                      <a:r>
                        <a:rPr lang="it-IT" sz="1050" u="none" strike="noStrike">
                          <a:effectLst/>
                        </a:rPr>
                        <a:t>Compatibile con libvirt, OpenStack, Proxmox</a:t>
                      </a:r>
                      <a:endParaRPr lang="it-IT" sz="1050" b="0" i="0" u="none" strike="noStrike">
                        <a:solidFill>
                          <a:srgbClr val="000000"/>
                        </a:solidFill>
                        <a:effectLst/>
                        <a:latin typeface="Calibri" panose="020F0502020204030204" pitchFamily="34" charset="0"/>
                      </a:endParaRPr>
                    </a:p>
                  </a:txBody>
                  <a:tcPr marL="5833" marR="5833" marT="5833" marB="0" anchor="ctr"/>
                </a:tc>
                <a:tc>
                  <a:txBody>
                    <a:bodyPr/>
                    <a:lstStyle/>
                    <a:p>
                      <a:pPr algn="l" fontAlgn="ctr"/>
                      <a:r>
                        <a:rPr lang="it-IT" sz="1050" u="none" strike="noStrike" dirty="0">
                          <a:effectLst/>
                        </a:rPr>
                        <a:t>Usato come </a:t>
                      </a:r>
                      <a:r>
                        <a:rPr lang="it-IT" sz="1050" u="none" strike="noStrike" dirty="0" err="1">
                          <a:effectLst/>
                        </a:rPr>
                        <a:t>backend</a:t>
                      </a:r>
                      <a:r>
                        <a:rPr lang="it-IT" sz="1050" u="none" strike="noStrike" dirty="0">
                          <a:effectLst/>
                        </a:rPr>
                        <a:t> in KVM, compatibile con molti strumenti</a:t>
                      </a:r>
                      <a:endParaRPr lang="it-IT" sz="1050" b="0" i="0" u="none" strike="noStrike" dirty="0">
                        <a:solidFill>
                          <a:srgbClr val="000000"/>
                        </a:solidFill>
                        <a:effectLst/>
                        <a:latin typeface="Calibri" panose="020F0502020204030204" pitchFamily="34" charset="0"/>
                      </a:endParaRPr>
                    </a:p>
                  </a:txBody>
                  <a:tcPr marL="5833" marR="5833" marT="5833" marB="0" anchor="ctr"/>
                </a:tc>
                <a:extLst>
                  <a:ext uri="{0D108BD9-81ED-4DB2-BD59-A6C34878D82A}">
                    <a16:rowId xmlns:a16="http://schemas.microsoft.com/office/drawing/2014/main" val="3446824090"/>
                  </a:ext>
                </a:extLst>
              </a:tr>
              <a:tr h="279979">
                <a:tc>
                  <a:txBody>
                    <a:bodyPr/>
                    <a:lstStyle/>
                    <a:p>
                      <a:pPr algn="l" fontAlgn="ctr"/>
                      <a:r>
                        <a:rPr lang="it-IT" sz="1050" u="none" strike="noStrike">
                          <a:effectLst/>
                        </a:rPr>
                        <a:t>Facilità d'uso</a:t>
                      </a:r>
                      <a:endParaRPr lang="it-IT" sz="1050" b="1" i="0" u="none" strike="noStrike">
                        <a:solidFill>
                          <a:srgbClr val="000000"/>
                        </a:solidFill>
                        <a:effectLst/>
                        <a:latin typeface="Calibri" panose="020F0502020204030204" pitchFamily="34" charset="0"/>
                      </a:endParaRPr>
                    </a:p>
                  </a:txBody>
                  <a:tcPr marL="5833" marR="5833" marT="5833" marB="0" anchor="ctr"/>
                </a:tc>
                <a:tc>
                  <a:txBody>
                    <a:bodyPr/>
                    <a:lstStyle/>
                    <a:p>
                      <a:pPr algn="l" fontAlgn="ctr"/>
                      <a:r>
                        <a:rPr lang="it-IT" sz="1050" u="none" strike="noStrike">
                          <a:effectLst/>
                        </a:rPr>
                        <a:t>Più complesso, richiede configurazione avanzata</a:t>
                      </a:r>
                      <a:endParaRPr lang="it-IT" sz="1050" b="0" i="0" u="none" strike="noStrike">
                        <a:solidFill>
                          <a:srgbClr val="000000"/>
                        </a:solidFill>
                        <a:effectLst/>
                        <a:latin typeface="Calibri" panose="020F0502020204030204" pitchFamily="34" charset="0"/>
                      </a:endParaRPr>
                    </a:p>
                  </a:txBody>
                  <a:tcPr marL="5833" marR="5833" marT="5833" marB="0" anchor="ctr"/>
                </a:tc>
                <a:tc>
                  <a:txBody>
                    <a:bodyPr/>
                    <a:lstStyle/>
                    <a:p>
                      <a:pPr algn="l" fontAlgn="ctr"/>
                      <a:r>
                        <a:rPr lang="it-IT" sz="1050" u="none" strike="noStrike" dirty="0">
                          <a:effectLst/>
                        </a:rPr>
                        <a:t>Più flessibile, ma complesso in modalità emulazione pura</a:t>
                      </a:r>
                      <a:endParaRPr lang="it-IT" sz="1050" b="0" i="0" u="none" strike="noStrike" dirty="0">
                        <a:solidFill>
                          <a:srgbClr val="000000"/>
                        </a:solidFill>
                        <a:effectLst/>
                        <a:latin typeface="Calibri" panose="020F0502020204030204" pitchFamily="34" charset="0"/>
                      </a:endParaRPr>
                    </a:p>
                  </a:txBody>
                  <a:tcPr marL="5833" marR="5833" marT="5833" marB="0" anchor="ctr"/>
                </a:tc>
                <a:extLst>
                  <a:ext uri="{0D108BD9-81ED-4DB2-BD59-A6C34878D82A}">
                    <a16:rowId xmlns:a16="http://schemas.microsoft.com/office/drawing/2014/main" val="1854517492"/>
                  </a:ext>
                </a:extLst>
              </a:tr>
              <a:tr h="279979">
                <a:tc>
                  <a:txBody>
                    <a:bodyPr/>
                    <a:lstStyle/>
                    <a:p>
                      <a:pPr algn="l" fontAlgn="ctr"/>
                      <a:r>
                        <a:rPr lang="it-IT" sz="1050" u="none" strike="noStrike">
                          <a:effectLst/>
                        </a:rPr>
                        <a:t>Architetture supportate</a:t>
                      </a:r>
                      <a:endParaRPr lang="it-IT" sz="1050" b="1" i="0" u="none" strike="noStrike">
                        <a:solidFill>
                          <a:srgbClr val="000000"/>
                        </a:solidFill>
                        <a:effectLst/>
                        <a:latin typeface="Calibri" panose="020F0502020204030204" pitchFamily="34" charset="0"/>
                      </a:endParaRPr>
                    </a:p>
                  </a:txBody>
                  <a:tcPr marL="5833" marR="5833" marT="5833" marB="0" anchor="ctr"/>
                </a:tc>
                <a:tc>
                  <a:txBody>
                    <a:bodyPr/>
                    <a:lstStyle/>
                    <a:p>
                      <a:pPr algn="l" fontAlgn="ctr"/>
                      <a:r>
                        <a:rPr lang="it-IT" sz="1050" u="none" strike="noStrike">
                          <a:effectLst/>
                        </a:rPr>
                        <a:t>x86, ARM, PowerPC (su CPU con virtualizzazione)</a:t>
                      </a:r>
                      <a:endParaRPr lang="it-IT" sz="1050" b="0" i="0" u="none" strike="noStrike">
                        <a:solidFill>
                          <a:srgbClr val="000000"/>
                        </a:solidFill>
                        <a:effectLst/>
                        <a:latin typeface="Calibri" panose="020F0502020204030204" pitchFamily="34" charset="0"/>
                      </a:endParaRPr>
                    </a:p>
                  </a:txBody>
                  <a:tcPr marL="5833" marR="5833" marT="5833" marB="0" anchor="ctr"/>
                </a:tc>
                <a:tc>
                  <a:txBody>
                    <a:bodyPr/>
                    <a:lstStyle/>
                    <a:p>
                      <a:pPr algn="l" fontAlgn="ctr"/>
                      <a:r>
                        <a:rPr lang="it-IT" sz="1050" u="none" strike="noStrike" dirty="0">
                          <a:effectLst/>
                        </a:rPr>
                        <a:t>x86, ARM, MIPS, PowerPC, SPARC, RISC-V e molte altre</a:t>
                      </a:r>
                      <a:endParaRPr lang="it-IT" sz="1050" b="0" i="0" u="none" strike="noStrike" dirty="0">
                        <a:solidFill>
                          <a:srgbClr val="000000"/>
                        </a:solidFill>
                        <a:effectLst/>
                        <a:latin typeface="Calibri" panose="020F0502020204030204" pitchFamily="34" charset="0"/>
                      </a:endParaRPr>
                    </a:p>
                  </a:txBody>
                  <a:tcPr marL="5833" marR="5833" marT="5833" marB="0" anchor="ctr"/>
                </a:tc>
                <a:extLst>
                  <a:ext uri="{0D108BD9-81ED-4DB2-BD59-A6C34878D82A}">
                    <a16:rowId xmlns:a16="http://schemas.microsoft.com/office/drawing/2014/main" val="1698020107"/>
                  </a:ext>
                </a:extLst>
              </a:tr>
              <a:tr h="291645">
                <a:tc>
                  <a:txBody>
                    <a:bodyPr/>
                    <a:lstStyle/>
                    <a:p>
                      <a:pPr algn="l" fontAlgn="ctr"/>
                      <a:r>
                        <a:rPr lang="it-IT" sz="1050" u="none" strike="noStrike">
                          <a:effectLst/>
                        </a:rPr>
                        <a:t>Migrazione live</a:t>
                      </a:r>
                      <a:endParaRPr lang="it-IT" sz="1050" b="1" i="0" u="none" strike="noStrike">
                        <a:solidFill>
                          <a:srgbClr val="000000"/>
                        </a:solidFill>
                        <a:effectLst/>
                        <a:latin typeface="Calibri" panose="020F0502020204030204" pitchFamily="34" charset="0"/>
                      </a:endParaRPr>
                    </a:p>
                  </a:txBody>
                  <a:tcPr marL="5833" marR="5833" marT="5833" marB="0" anchor="ctr"/>
                </a:tc>
                <a:tc>
                  <a:txBody>
                    <a:bodyPr/>
                    <a:lstStyle/>
                    <a:p>
                      <a:pPr algn="l" fontAlgn="ctr"/>
                      <a:r>
                        <a:rPr lang="it-IT" sz="1050" u="none" strike="noStrike">
                          <a:effectLst/>
                        </a:rPr>
                        <a:t>Supportata con virsh migrate (tramite libvirt)</a:t>
                      </a:r>
                      <a:endParaRPr lang="it-IT" sz="1050" b="0" i="0" u="none" strike="noStrike">
                        <a:solidFill>
                          <a:srgbClr val="000000"/>
                        </a:solidFill>
                        <a:effectLst/>
                        <a:latin typeface="Calibri" panose="020F0502020204030204" pitchFamily="34" charset="0"/>
                      </a:endParaRPr>
                    </a:p>
                  </a:txBody>
                  <a:tcPr marL="5833" marR="5833" marT="5833" marB="0" anchor="ctr"/>
                </a:tc>
                <a:tc>
                  <a:txBody>
                    <a:bodyPr/>
                    <a:lstStyle/>
                    <a:p>
                      <a:pPr algn="l" fontAlgn="ctr"/>
                      <a:r>
                        <a:rPr lang="it-IT" sz="1050" u="none" strike="noStrike" dirty="0">
                          <a:effectLst/>
                        </a:rPr>
                        <a:t>Supportata con </a:t>
                      </a:r>
                      <a:r>
                        <a:rPr lang="it-IT" sz="1050" u="none" strike="noStrike" dirty="0" err="1">
                          <a:effectLst/>
                        </a:rPr>
                        <a:t>qemu-kvm</a:t>
                      </a:r>
                      <a:r>
                        <a:rPr lang="it-IT" sz="1050" u="none" strike="noStrike" dirty="0">
                          <a:effectLst/>
                        </a:rPr>
                        <a:t> e </a:t>
                      </a:r>
                      <a:r>
                        <a:rPr lang="it-IT" sz="1050" u="none" strike="noStrike" dirty="0" err="1">
                          <a:effectLst/>
                        </a:rPr>
                        <a:t>qemu</a:t>
                      </a:r>
                      <a:r>
                        <a:rPr lang="it-IT" sz="1050" u="none" strike="noStrike" dirty="0">
                          <a:effectLst/>
                        </a:rPr>
                        <a:t>-system-*</a:t>
                      </a:r>
                      <a:endParaRPr lang="it-IT" sz="1050" b="0" i="0" u="none" strike="noStrike" dirty="0">
                        <a:solidFill>
                          <a:srgbClr val="000000"/>
                        </a:solidFill>
                        <a:effectLst/>
                        <a:latin typeface="Calibri" panose="020F0502020204030204" pitchFamily="34" charset="0"/>
                      </a:endParaRPr>
                    </a:p>
                  </a:txBody>
                  <a:tcPr marL="5833" marR="5833" marT="5833" marB="0" anchor="ctr"/>
                </a:tc>
                <a:extLst>
                  <a:ext uri="{0D108BD9-81ED-4DB2-BD59-A6C34878D82A}">
                    <a16:rowId xmlns:a16="http://schemas.microsoft.com/office/drawing/2014/main" val="4056802388"/>
                  </a:ext>
                </a:extLst>
              </a:tr>
            </a:tbl>
          </a:graphicData>
        </a:graphic>
      </p:graphicFrame>
    </p:spTree>
    <p:extLst>
      <p:ext uri="{BB962C8B-B14F-4D97-AF65-F5344CB8AC3E}">
        <p14:creationId xmlns:p14="http://schemas.microsoft.com/office/powerpoint/2010/main" val="599094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C26327E-0E03-45A7-AB15-1B0887C3FD92}"/>
              </a:ext>
            </a:extLst>
          </p:cNvPr>
          <p:cNvSpPr>
            <a:spLocks noGrp="1"/>
          </p:cNvSpPr>
          <p:nvPr>
            <p:ph type="title"/>
          </p:nvPr>
        </p:nvSpPr>
        <p:spPr/>
        <p:txBody>
          <a:bodyPr/>
          <a:lstStyle/>
          <a:p>
            <a:r>
              <a:rPr lang="it-IT" dirty="0">
                <a:solidFill>
                  <a:srgbClr val="0070C0"/>
                </a:solidFill>
                <a:effectLst/>
                <a:latin typeface="Coli"/>
                <a:ea typeface="Times New Roman" panose="02020603050405020304" pitchFamily="18" charset="0"/>
              </a:rPr>
              <a:t>Virtualizzazione Storage 1/4</a:t>
            </a:r>
            <a:endParaRPr lang="it-IT" dirty="0"/>
          </a:p>
        </p:txBody>
      </p:sp>
      <p:graphicFrame>
        <p:nvGraphicFramePr>
          <p:cNvPr id="7" name="Tabella 6">
            <a:extLst>
              <a:ext uri="{FF2B5EF4-FFF2-40B4-BE49-F238E27FC236}">
                <a16:creationId xmlns:a16="http://schemas.microsoft.com/office/drawing/2014/main" id="{DEE767C0-B2B3-40B1-82A2-CADBC362F431}"/>
              </a:ext>
            </a:extLst>
          </p:cNvPr>
          <p:cNvGraphicFramePr>
            <a:graphicFrameLocks noGrp="1"/>
          </p:cNvGraphicFramePr>
          <p:nvPr>
            <p:extLst>
              <p:ext uri="{D42A27DB-BD31-4B8C-83A1-F6EECF244321}">
                <p14:modId xmlns:p14="http://schemas.microsoft.com/office/powerpoint/2010/main" val="3505521971"/>
              </p:ext>
            </p:extLst>
          </p:nvPr>
        </p:nvGraphicFramePr>
        <p:xfrm>
          <a:off x="450079" y="1646014"/>
          <a:ext cx="5787837" cy="4343348"/>
        </p:xfrm>
        <a:graphic>
          <a:graphicData uri="http://schemas.openxmlformats.org/drawingml/2006/table">
            <a:tbl>
              <a:tblPr>
                <a:tableStyleId>{5C22544A-7EE6-4342-B048-85BDC9FD1C3A}</a:tableStyleId>
              </a:tblPr>
              <a:tblGrid>
                <a:gridCol w="1929279">
                  <a:extLst>
                    <a:ext uri="{9D8B030D-6E8A-4147-A177-3AD203B41FA5}">
                      <a16:colId xmlns:a16="http://schemas.microsoft.com/office/drawing/2014/main" val="1931163768"/>
                    </a:ext>
                  </a:extLst>
                </a:gridCol>
                <a:gridCol w="1929279">
                  <a:extLst>
                    <a:ext uri="{9D8B030D-6E8A-4147-A177-3AD203B41FA5}">
                      <a16:colId xmlns:a16="http://schemas.microsoft.com/office/drawing/2014/main" val="2119655808"/>
                    </a:ext>
                  </a:extLst>
                </a:gridCol>
                <a:gridCol w="1929279">
                  <a:extLst>
                    <a:ext uri="{9D8B030D-6E8A-4147-A177-3AD203B41FA5}">
                      <a16:colId xmlns:a16="http://schemas.microsoft.com/office/drawing/2014/main" val="1583689936"/>
                    </a:ext>
                  </a:extLst>
                </a:gridCol>
              </a:tblGrid>
              <a:tr h="0">
                <a:tc>
                  <a:txBody>
                    <a:bodyPr/>
                    <a:lstStyle/>
                    <a:p>
                      <a:pPr algn="ctr" fontAlgn="ctr"/>
                      <a:r>
                        <a:rPr lang="it-IT" sz="1000" u="none" strike="noStrike">
                          <a:effectLst/>
                        </a:rPr>
                        <a:t>Caratteristica</a:t>
                      </a:r>
                      <a:endParaRPr lang="it-IT" sz="1000" b="1" i="0" u="none" strike="noStrike">
                        <a:solidFill>
                          <a:srgbClr val="000000"/>
                        </a:solidFill>
                        <a:effectLst/>
                        <a:latin typeface="Calibri" panose="020F0502020204030204" pitchFamily="34" charset="0"/>
                      </a:endParaRPr>
                    </a:p>
                  </a:txBody>
                  <a:tcPr marL="6973" marR="6973" marT="6973" marB="0" anchor="ctr"/>
                </a:tc>
                <a:tc>
                  <a:txBody>
                    <a:bodyPr/>
                    <a:lstStyle/>
                    <a:p>
                      <a:pPr algn="ctr" fontAlgn="ctr"/>
                      <a:r>
                        <a:rPr lang="it-IT" sz="1000" u="none" strike="noStrike">
                          <a:effectLst/>
                        </a:rPr>
                        <a:t>iSCSI</a:t>
                      </a:r>
                      <a:endParaRPr lang="it-IT" sz="1000" b="1" i="0" u="none" strike="noStrike">
                        <a:solidFill>
                          <a:srgbClr val="000000"/>
                        </a:solidFill>
                        <a:effectLst/>
                        <a:latin typeface="Calibri" panose="020F0502020204030204" pitchFamily="34" charset="0"/>
                      </a:endParaRPr>
                    </a:p>
                  </a:txBody>
                  <a:tcPr marL="6973" marR="6973" marT="6973" marB="0" anchor="ctr"/>
                </a:tc>
                <a:tc>
                  <a:txBody>
                    <a:bodyPr/>
                    <a:lstStyle/>
                    <a:p>
                      <a:pPr algn="ctr" fontAlgn="ctr"/>
                      <a:r>
                        <a:rPr lang="it-IT" sz="1000" u="none" strike="noStrike">
                          <a:effectLst/>
                        </a:rPr>
                        <a:t>NFS</a:t>
                      </a:r>
                      <a:endParaRPr lang="it-IT" sz="1000" b="1" i="0" u="none" strike="noStrike">
                        <a:solidFill>
                          <a:srgbClr val="000000"/>
                        </a:solidFill>
                        <a:effectLst/>
                        <a:latin typeface="Calibri" panose="020F0502020204030204" pitchFamily="34" charset="0"/>
                      </a:endParaRPr>
                    </a:p>
                  </a:txBody>
                  <a:tcPr marL="6973" marR="6973" marT="6973" marB="0" anchor="ctr"/>
                </a:tc>
                <a:extLst>
                  <a:ext uri="{0D108BD9-81ED-4DB2-BD59-A6C34878D82A}">
                    <a16:rowId xmlns:a16="http://schemas.microsoft.com/office/drawing/2014/main" val="1666954814"/>
                  </a:ext>
                </a:extLst>
              </a:tr>
              <a:tr h="167359">
                <a:tc>
                  <a:txBody>
                    <a:bodyPr/>
                    <a:lstStyle/>
                    <a:p>
                      <a:pPr algn="l" fontAlgn="ctr"/>
                      <a:r>
                        <a:rPr lang="it-IT" sz="1000" u="none" strike="noStrike">
                          <a:effectLst/>
                        </a:rPr>
                        <a:t>Tipo di protocollo</a:t>
                      </a:r>
                      <a:endParaRPr lang="it-IT" sz="1000" b="1" i="0" u="none" strike="noStrike">
                        <a:solidFill>
                          <a:srgbClr val="000000"/>
                        </a:solidFill>
                        <a:effectLst/>
                        <a:latin typeface="Calibri" panose="020F0502020204030204" pitchFamily="34" charset="0"/>
                      </a:endParaRPr>
                    </a:p>
                  </a:txBody>
                  <a:tcPr marL="6973" marR="6973" marT="6973" marB="0" anchor="ctr"/>
                </a:tc>
                <a:tc>
                  <a:txBody>
                    <a:bodyPr/>
                    <a:lstStyle/>
                    <a:p>
                      <a:pPr algn="l" fontAlgn="ctr"/>
                      <a:r>
                        <a:rPr lang="it-IT" sz="1000" u="none" strike="noStrike">
                          <a:effectLst/>
                        </a:rPr>
                        <a:t>Basato su blocchi</a:t>
                      </a:r>
                      <a:endParaRPr lang="it-IT" sz="1000" b="0" i="0" u="none" strike="noStrike">
                        <a:solidFill>
                          <a:srgbClr val="000000"/>
                        </a:solidFill>
                        <a:effectLst/>
                        <a:latin typeface="Calibri" panose="020F0502020204030204" pitchFamily="34" charset="0"/>
                      </a:endParaRPr>
                    </a:p>
                  </a:txBody>
                  <a:tcPr marL="6973" marR="6973" marT="6973" marB="0" anchor="ctr"/>
                </a:tc>
                <a:tc>
                  <a:txBody>
                    <a:bodyPr/>
                    <a:lstStyle/>
                    <a:p>
                      <a:pPr algn="l" fontAlgn="ctr"/>
                      <a:r>
                        <a:rPr lang="it-IT" sz="1000" u="none" strike="noStrike">
                          <a:effectLst/>
                        </a:rPr>
                        <a:t>Basato su file</a:t>
                      </a:r>
                      <a:endParaRPr lang="it-IT" sz="1000" b="0" i="0" u="none" strike="noStrike">
                        <a:solidFill>
                          <a:srgbClr val="000000"/>
                        </a:solidFill>
                        <a:effectLst/>
                        <a:latin typeface="Calibri" panose="020F0502020204030204" pitchFamily="34" charset="0"/>
                      </a:endParaRPr>
                    </a:p>
                  </a:txBody>
                  <a:tcPr marL="6973" marR="6973" marT="6973" marB="0" anchor="ctr"/>
                </a:tc>
                <a:extLst>
                  <a:ext uri="{0D108BD9-81ED-4DB2-BD59-A6C34878D82A}">
                    <a16:rowId xmlns:a16="http://schemas.microsoft.com/office/drawing/2014/main" val="4138629547"/>
                  </a:ext>
                </a:extLst>
              </a:tr>
              <a:tr h="334718">
                <a:tc>
                  <a:txBody>
                    <a:bodyPr/>
                    <a:lstStyle/>
                    <a:p>
                      <a:pPr algn="l" fontAlgn="ctr"/>
                      <a:r>
                        <a:rPr lang="it-IT" sz="1000" u="none" strike="noStrike">
                          <a:effectLst/>
                        </a:rPr>
                        <a:t>Modalità di accesso</a:t>
                      </a:r>
                      <a:endParaRPr lang="it-IT" sz="1000" b="1" i="0" u="none" strike="noStrike">
                        <a:solidFill>
                          <a:srgbClr val="000000"/>
                        </a:solidFill>
                        <a:effectLst/>
                        <a:latin typeface="Calibri" panose="020F0502020204030204" pitchFamily="34" charset="0"/>
                      </a:endParaRPr>
                    </a:p>
                  </a:txBody>
                  <a:tcPr marL="6973" marR="6973" marT="6973" marB="0" anchor="ctr"/>
                </a:tc>
                <a:tc>
                  <a:txBody>
                    <a:bodyPr/>
                    <a:lstStyle/>
                    <a:p>
                      <a:pPr algn="l" fontAlgn="ctr"/>
                      <a:r>
                        <a:rPr lang="it-IT" sz="1000" u="none" strike="noStrike">
                          <a:effectLst/>
                        </a:rPr>
                        <a:t>L'accesso avviene a livello di blocchi, come un disco fisico</a:t>
                      </a:r>
                      <a:endParaRPr lang="it-IT" sz="1000" b="0" i="0" u="none" strike="noStrike">
                        <a:solidFill>
                          <a:srgbClr val="000000"/>
                        </a:solidFill>
                        <a:effectLst/>
                        <a:latin typeface="Calibri" panose="020F0502020204030204" pitchFamily="34" charset="0"/>
                      </a:endParaRPr>
                    </a:p>
                  </a:txBody>
                  <a:tcPr marL="6973" marR="6973" marT="6973" marB="0" anchor="ctr"/>
                </a:tc>
                <a:tc>
                  <a:txBody>
                    <a:bodyPr/>
                    <a:lstStyle/>
                    <a:p>
                      <a:pPr algn="l" fontAlgn="ctr"/>
                      <a:r>
                        <a:rPr lang="it-IT" sz="1000" u="none" strike="noStrike">
                          <a:effectLst/>
                        </a:rPr>
                        <a:t>L'accesso avviene a livello di file, come una condivisione di rete</a:t>
                      </a:r>
                      <a:endParaRPr lang="it-IT" sz="1000" b="0" i="0" u="none" strike="noStrike">
                        <a:solidFill>
                          <a:srgbClr val="000000"/>
                        </a:solidFill>
                        <a:effectLst/>
                        <a:latin typeface="Calibri" panose="020F0502020204030204" pitchFamily="34" charset="0"/>
                      </a:endParaRPr>
                    </a:p>
                  </a:txBody>
                  <a:tcPr marL="6973" marR="6973" marT="6973" marB="0" anchor="ctr"/>
                </a:tc>
                <a:extLst>
                  <a:ext uri="{0D108BD9-81ED-4DB2-BD59-A6C34878D82A}">
                    <a16:rowId xmlns:a16="http://schemas.microsoft.com/office/drawing/2014/main" val="3633041760"/>
                  </a:ext>
                </a:extLst>
              </a:tr>
              <a:tr h="334718">
                <a:tc>
                  <a:txBody>
                    <a:bodyPr/>
                    <a:lstStyle/>
                    <a:p>
                      <a:pPr algn="l" fontAlgn="ctr"/>
                      <a:r>
                        <a:rPr lang="it-IT" sz="1000" u="none" strike="noStrike">
                          <a:effectLst/>
                        </a:rPr>
                        <a:t>Sistema operativo supportato</a:t>
                      </a:r>
                      <a:endParaRPr lang="it-IT" sz="1000" b="1" i="0" u="none" strike="noStrike">
                        <a:solidFill>
                          <a:srgbClr val="000000"/>
                        </a:solidFill>
                        <a:effectLst/>
                        <a:latin typeface="Calibri" panose="020F0502020204030204" pitchFamily="34" charset="0"/>
                      </a:endParaRPr>
                    </a:p>
                  </a:txBody>
                  <a:tcPr marL="6973" marR="6973" marT="6973" marB="0" anchor="ctr"/>
                </a:tc>
                <a:tc>
                  <a:txBody>
                    <a:bodyPr/>
                    <a:lstStyle/>
                    <a:p>
                      <a:pPr algn="l" fontAlgn="ctr"/>
                      <a:r>
                        <a:rPr lang="it-IT" sz="1000" u="none" strike="noStrike">
                          <a:effectLst/>
                        </a:rPr>
                        <a:t>Windows, Linux, macOS, VMware, FreeBSD</a:t>
                      </a:r>
                      <a:endParaRPr lang="it-IT" sz="1000" b="0" i="0" u="none" strike="noStrike">
                        <a:solidFill>
                          <a:srgbClr val="000000"/>
                        </a:solidFill>
                        <a:effectLst/>
                        <a:latin typeface="Calibri" panose="020F0502020204030204" pitchFamily="34" charset="0"/>
                      </a:endParaRPr>
                    </a:p>
                  </a:txBody>
                  <a:tcPr marL="6973" marR="6973" marT="6973" marB="0" anchor="ctr"/>
                </a:tc>
                <a:tc>
                  <a:txBody>
                    <a:bodyPr/>
                    <a:lstStyle/>
                    <a:p>
                      <a:pPr algn="l" fontAlgn="ctr"/>
                      <a:r>
                        <a:rPr lang="it-IT" sz="1000" u="none" strike="noStrike">
                          <a:effectLst/>
                        </a:rPr>
                        <a:t>Windows, Linux, macOS, VMware, FreeBSD</a:t>
                      </a:r>
                      <a:endParaRPr lang="it-IT" sz="1000" b="0" i="0" u="none" strike="noStrike">
                        <a:solidFill>
                          <a:srgbClr val="000000"/>
                        </a:solidFill>
                        <a:effectLst/>
                        <a:latin typeface="Calibri" panose="020F0502020204030204" pitchFamily="34" charset="0"/>
                      </a:endParaRPr>
                    </a:p>
                  </a:txBody>
                  <a:tcPr marL="6973" marR="6973" marT="6973" marB="0" anchor="ctr"/>
                </a:tc>
                <a:extLst>
                  <a:ext uri="{0D108BD9-81ED-4DB2-BD59-A6C34878D82A}">
                    <a16:rowId xmlns:a16="http://schemas.microsoft.com/office/drawing/2014/main" val="4149954345"/>
                  </a:ext>
                </a:extLst>
              </a:tr>
              <a:tr h="502077">
                <a:tc>
                  <a:txBody>
                    <a:bodyPr/>
                    <a:lstStyle/>
                    <a:p>
                      <a:pPr algn="l" fontAlgn="ctr"/>
                      <a:r>
                        <a:rPr lang="it-IT" sz="1000" u="none" strike="noStrike">
                          <a:effectLst/>
                        </a:rPr>
                        <a:t>Prestazioni</a:t>
                      </a:r>
                      <a:endParaRPr lang="it-IT" sz="1000" b="1" i="0" u="none" strike="noStrike">
                        <a:solidFill>
                          <a:srgbClr val="000000"/>
                        </a:solidFill>
                        <a:effectLst/>
                        <a:latin typeface="Calibri" panose="020F0502020204030204" pitchFamily="34" charset="0"/>
                      </a:endParaRPr>
                    </a:p>
                  </a:txBody>
                  <a:tcPr marL="6973" marR="6973" marT="6973" marB="0" anchor="ctr"/>
                </a:tc>
                <a:tc>
                  <a:txBody>
                    <a:bodyPr/>
                    <a:lstStyle/>
                    <a:p>
                      <a:pPr algn="l" fontAlgn="ctr"/>
                      <a:r>
                        <a:rPr lang="it-IT" sz="1000" u="none" strike="noStrike">
                          <a:effectLst/>
                        </a:rPr>
                        <a:t>Generalmente più veloce per database e VM, ottimizzato per IOPS</a:t>
                      </a:r>
                      <a:endParaRPr lang="it-IT" sz="1000" b="0" i="0" u="none" strike="noStrike">
                        <a:solidFill>
                          <a:srgbClr val="000000"/>
                        </a:solidFill>
                        <a:effectLst/>
                        <a:latin typeface="Calibri" panose="020F0502020204030204" pitchFamily="34" charset="0"/>
                      </a:endParaRPr>
                    </a:p>
                  </a:txBody>
                  <a:tcPr marL="6973" marR="6973" marT="6973" marB="0" anchor="ctr"/>
                </a:tc>
                <a:tc>
                  <a:txBody>
                    <a:bodyPr/>
                    <a:lstStyle/>
                    <a:p>
                      <a:pPr algn="l" fontAlgn="ctr"/>
                      <a:r>
                        <a:rPr lang="it-IT" sz="1000" u="none" strike="noStrike">
                          <a:effectLst/>
                        </a:rPr>
                        <a:t>Più lento per carichi intensivi su blocchi, ma ottimo per file sharing</a:t>
                      </a:r>
                      <a:endParaRPr lang="it-IT" sz="1000" b="0" i="0" u="none" strike="noStrike">
                        <a:solidFill>
                          <a:srgbClr val="000000"/>
                        </a:solidFill>
                        <a:effectLst/>
                        <a:latin typeface="Calibri" panose="020F0502020204030204" pitchFamily="34" charset="0"/>
                      </a:endParaRPr>
                    </a:p>
                  </a:txBody>
                  <a:tcPr marL="6973" marR="6973" marT="6973" marB="0" anchor="ctr"/>
                </a:tc>
                <a:extLst>
                  <a:ext uri="{0D108BD9-81ED-4DB2-BD59-A6C34878D82A}">
                    <a16:rowId xmlns:a16="http://schemas.microsoft.com/office/drawing/2014/main" val="3910992848"/>
                  </a:ext>
                </a:extLst>
              </a:tr>
              <a:tr h="502077">
                <a:tc>
                  <a:txBody>
                    <a:bodyPr/>
                    <a:lstStyle/>
                    <a:p>
                      <a:pPr algn="l" fontAlgn="ctr"/>
                      <a:r>
                        <a:rPr lang="it-IT" sz="1000" u="none" strike="noStrike">
                          <a:effectLst/>
                        </a:rPr>
                        <a:t>Gestione dello storage</a:t>
                      </a:r>
                      <a:endParaRPr lang="it-IT" sz="1000" b="1" i="0" u="none" strike="noStrike">
                        <a:solidFill>
                          <a:srgbClr val="000000"/>
                        </a:solidFill>
                        <a:effectLst/>
                        <a:latin typeface="Calibri" panose="020F0502020204030204" pitchFamily="34" charset="0"/>
                      </a:endParaRPr>
                    </a:p>
                  </a:txBody>
                  <a:tcPr marL="6973" marR="6973" marT="6973" marB="0" anchor="ctr"/>
                </a:tc>
                <a:tc>
                  <a:txBody>
                    <a:bodyPr/>
                    <a:lstStyle/>
                    <a:p>
                      <a:pPr algn="l" fontAlgn="ctr"/>
                      <a:r>
                        <a:rPr lang="it-IT" sz="1000" u="none" strike="noStrike" dirty="0">
                          <a:effectLst/>
                        </a:rPr>
                        <a:t>Il client gestisce il file system, il server fornisce solo blocchi di storage</a:t>
                      </a:r>
                      <a:endParaRPr lang="it-IT" sz="1000" b="0" i="0" u="none" strike="noStrike" dirty="0">
                        <a:solidFill>
                          <a:srgbClr val="000000"/>
                        </a:solidFill>
                        <a:effectLst/>
                        <a:latin typeface="Calibri" panose="020F0502020204030204" pitchFamily="34" charset="0"/>
                      </a:endParaRPr>
                    </a:p>
                  </a:txBody>
                  <a:tcPr marL="6973" marR="6973" marT="6973" marB="0" anchor="ctr"/>
                </a:tc>
                <a:tc>
                  <a:txBody>
                    <a:bodyPr/>
                    <a:lstStyle/>
                    <a:p>
                      <a:pPr algn="l" fontAlgn="ctr"/>
                      <a:r>
                        <a:rPr lang="it-IT" sz="1000" u="none" strike="noStrike">
                          <a:effectLst/>
                        </a:rPr>
                        <a:t>Il file system è gestito dal server e condiviso tra più client</a:t>
                      </a:r>
                      <a:endParaRPr lang="it-IT" sz="1000" b="0" i="0" u="none" strike="noStrike">
                        <a:solidFill>
                          <a:srgbClr val="000000"/>
                        </a:solidFill>
                        <a:effectLst/>
                        <a:latin typeface="Calibri" panose="020F0502020204030204" pitchFamily="34" charset="0"/>
                      </a:endParaRPr>
                    </a:p>
                  </a:txBody>
                  <a:tcPr marL="6973" marR="6973" marT="6973" marB="0" anchor="ctr"/>
                </a:tc>
                <a:extLst>
                  <a:ext uri="{0D108BD9-81ED-4DB2-BD59-A6C34878D82A}">
                    <a16:rowId xmlns:a16="http://schemas.microsoft.com/office/drawing/2014/main" val="514913216"/>
                  </a:ext>
                </a:extLst>
              </a:tr>
              <a:tr h="502077">
                <a:tc>
                  <a:txBody>
                    <a:bodyPr/>
                    <a:lstStyle/>
                    <a:p>
                      <a:pPr algn="l" fontAlgn="ctr"/>
                      <a:r>
                        <a:rPr lang="it-IT" sz="1000" u="none" strike="noStrike">
                          <a:effectLst/>
                        </a:rPr>
                        <a:t>Utilizzo tipico</a:t>
                      </a:r>
                      <a:endParaRPr lang="it-IT" sz="1000" b="1" i="0" u="none" strike="noStrike">
                        <a:solidFill>
                          <a:srgbClr val="000000"/>
                        </a:solidFill>
                        <a:effectLst/>
                        <a:latin typeface="Calibri" panose="020F0502020204030204" pitchFamily="34" charset="0"/>
                      </a:endParaRPr>
                    </a:p>
                  </a:txBody>
                  <a:tcPr marL="6973" marR="6973" marT="6973" marB="0" anchor="ctr"/>
                </a:tc>
                <a:tc>
                  <a:txBody>
                    <a:bodyPr/>
                    <a:lstStyle/>
                    <a:p>
                      <a:pPr algn="l" fontAlgn="ctr"/>
                      <a:r>
                        <a:rPr lang="it-IT" sz="1000" u="none" strike="noStrike">
                          <a:effectLst/>
                        </a:rPr>
                        <a:t>Storage per database, macchine virtuali, applicazioni che richiedono basso livello</a:t>
                      </a:r>
                      <a:endParaRPr lang="it-IT" sz="1000" b="0" i="0" u="none" strike="noStrike">
                        <a:solidFill>
                          <a:srgbClr val="000000"/>
                        </a:solidFill>
                        <a:effectLst/>
                        <a:latin typeface="Calibri" panose="020F0502020204030204" pitchFamily="34" charset="0"/>
                      </a:endParaRPr>
                    </a:p>
                  </a:txBody>
                  <a:tcPr marL="6973" marR="6973" marT="6973" marB="0" anchor="ctr"/>
                </a:tc>
                <a:tc>
                  <a:txBody>
                    <a:bodyPr/>
                    <a:lstStyle/>
                    <a:p>
                      <a:pPr algn="l" fontAlgn="ctr"/>
                      <a:r>
                        <a:rPr lang="it-IT" sz="1000" u="none" strike="noStrike">
                          <a:effectLst/>
                        </a:rPr>
                        <a:t>Condivisione file, backup centralizzato, home directory</a:t>
                      </a:r>
                      <a:endParaRPr lang="it-IT" sz="1000" b="0" i="0" u="none" strike="noStrike">
                        <a:solidFill>
                          <a:srgbClr val="000000"/>
                        </a:solidFill>
                        <a:effectLst/>
                        <a:latin typeface="Calibri" panose="020F0502020204030204" pitchFamily="34" charset="0"/>
                      </a:endParaRPr>
                    </a:p>
                  </a:txBody>
                  <a:tcPr marL="6973" marR="6973" marT="6973" marB="0" anchor="ctr"/>
                </a:tc>
                <a:extLst>
                  <a:ext uri="{0D108BD9-81ED-4DB2-BD59-A6C34878D82A}">
                    <a16:rowId xmlns:a16="http://schemas.microsoft.com/office/drawing/2014/main" val="4210459515"/>
                  </a:ext>
                </a:extLst>
              </a:tr>
              <a:tr h="167359">
                <a:tc>
                  <a:txBody>
                    <a:bodyPr/>
                    <a:lstStyle/>
                    <a:p>
                      <a:pPr algn="l" fontAlgn="ctr"/>
                      <a:r>
                        <a:rPr lang="it-IT" sz="1000" u="none" strike="noStrike">
                          <a:effectLst/>
                        </a:rPr>
                        <a:t>Protocollo di rete</a:t>
                      </a:r>
                      <a:endParaRPr lang="it-IT" sz="1000" b="1" i="0" u="none" strike="noStrike">
                        <a:solidFill>
                          <a:srgbClr val="000000"/>
                        </a:solidFill>
                        <a:effectLst/>
                        <a:latin typeface="Calibri" panose="020F0502020204030204" pitchFamily="34" charset="0"/>
                      </a:endParaRPr>
                    </a:p>
                  </a:txBody>
                  <a:tcPr marL="6973" marR="6973" marT="6973" marB="0" anchor="ctr"/>
                </a:tc>
                <a:tc>
                  <a:txBody>
                    <a:bodyPr/>
                    <a:lstStyle/>
                    <a:p>
                      <a:pPr algn="l" fontAlgn="ctr"/>
                      <a:r>
                        <a:rPr lang="it-IT" sz="1000" u="none" strike="noStrike">
                          <a:effectLst/>
                        </a:rPr>
                        <a:t>Usa TCP/IP, solitamente porta 3260</a:t>
                      </a:r>
                      <a:endParaRPr lang="it-IT" sz="1000" b="0" i="0" u="none" strike="noStrike">
                        <a:solidFill>
                          <a:srgbClr val="000000"/>
                        </a:solidFill>
                        <a:effectLst/>
                        <a:latin typeface="Calibri" panose="020F0502020204030204" pitchFamily="34" charset="0"/>
                      </a:endParaRPr>
                    </a:p>
                  </a:txBody>
                  <a:tcPr marL="6973" marR="6973" marT="6973" marB="0" anchor="ctr"/>
                </a:tc>
                <a:tc>
                  <a:txBody>
                    <a:bodyPr/>
                    <a:lstStyle/>
                    <a:p>
                      <a:pPr algn="l" fontAlgn="ctr"/>
                      <a:r>
                        <a:rPr lang="it-IT" sz="1000" u="none" strike="noStrike">
                          <a:effectLst/>
                        </a:rPr>
                        <a:t>Usa TCP/IP, solitamente porta 2049</a:t>
                      </a:r>
                      <a:endParaRPr lang="it-IT" sz="1000" b="0" i="0" u="none" strike="noStrike">
                        <a:solidFill>
                          <a:srgbClr val="000000"/>
                        </a:solidFill>
                        <a:effectLst/>
                        <a:latin typeface="Calibri" panose="020F0502020204030204" pitchFamily="34" charset="0"/>
                      </a:endParaRPr>
                    </a:p>
                  </a:txBody>
                  <a:tcPr marL="6973" marR="6973" marT="6973" marB="0" anchor="ctr"/>
                </a:tc>
                <a:extLst>
                  <a:ext uri="{0D108BD9-81ED-4DB2-BD59-A6C34878D82A}">
                    <a16:rowId xmlns:a16="http://schemas.microsoft.com/office/drawing/2014/main" val="2158138421"/>
                  </a:ext>
                </a:extLst>
              </a:tr>
              <a:tr h="334718">
                <a:tc>
                  <a:txBody>
                    <a:bodyPr/>
                    <a:lstStyle/>
                    <a:p>
                      <a:pPr algn="l" fontAlgn="ctr"/>
                      <a:r>
                        <a:rPr lang="it-IT" sz="1000" u="none" strike="noStrike">
                          <a:effectLst/>
                        </a:rPr>
                        <a:t>Ridondanza e Failover</a:t>
                      </a:r>
                      <a:endParaRPr lang="it-IT" sz="1000" b="1" i="0" u="none" strike="noStrike">
                        <a:solidFill>
                          <a:srgbClr val="000000"/>
                        </a:solidFill>
                        <a:effectLst/>
                        <a:latin typeface="Calibri" panose="020F0502020204030204" pitchFamily="34" charset="0"/>
                      </a:endParaRPr>
                    </a:p>
                  </a:txBody>
                  <a:tcPr marL="6973" marR="6973" marT="6973" marB="0" anchor="ctr"/>
                </a:tc>
                <a:tc>
                  <a:txBody>
                    <a:bodyPr/>
                    <a:lstStyle/>
                    <a:p>
                      <a:pPr algn="l" fontAlgn="ctr"/>
                      <a:r>
                        <a:rPr lang="it-IT" sz="1000" u="none" strike="noStrike">
                          <a:effectLst/>
                        </a:rPr>
                        <a:t>Supporta multi-pathing (MPIO) per ridondanza</a:t>
                      </a:r>
                      <a:endParaRPr lang="it-IT" sz="1000" b="0" i="0" u="none" strike="noStrike">
                        <a:solidFill>
                          <a:srgbClr val="000000"/>
                        </a:solidFill>
                        <a:effectLst/>
                        <a:latin typeface="Calibri" panose="020F0502020204030204" pitchFamily="34" charset="0"/>
                      </a:endParaRPr>
                    </a:p>
                  </a:txBody>
                  <a:tcPr marL="6973" marR="6973" marT="6973" marB="0" anchor="ctr"/>
                </a:tc>
                <a:tc>
                  <a:txBody>
                    <a:bodyPr/>
                    <a:lstStyle/>
                    <a:p>
                      <a:pPr algn="l" fontAlgn="ctr"/>
                      <a:r>
                        <a:rPr lang="it-IT" sz="1000" u="none" strike="noStrike">
                          <a:effectLst/>
                        </a:rPr>
                        <a:t>Dipende dal supporto del server e dal client NFS</a:t>
                      </a:r>
                      <a:endParaRPr lang="it-IT" sz="1000" b="0" i="0" u="none" strike="noStrike">
                        <a:solidFill>
                          <a:srgbClr val="000000"/>
                        </a:solidFill>
                        <a:effectLst/>
                        <a:latin typeface="Calibri" panose="020F0502020204030204" pitchFamily="34" charset="0"/>
                      </a:endParaRPr>
                    </a:p>
                  </a:txBody>
                  <a:tcPr marL="6973" marR="6973" marT="6973" marB="0" anchor="ctr"/>
                </a:tc>
                <a:extLst>
                  <a:ext uri="{0D108BD9-81ED-4DB2-BD59-A6C34878D82A}">
                    <a16:rowId xmlns:a16="http://schemas.microsoft.com/office/drawing/2014/main" val="2619262919"/>
                  </a:ext>
                </a:extLst>
              </a:tr>
              <a:tr h="334718">
                <a:tc>
                  <a:txBody>
                    <a:bodyPr/>
                    <a:lstStyle/>
                    <a:p>
                      <a:pPr algn="l" fontAlgn="ctr"/>
                      <a:r>
                        <a:rPr lang="it-IT" sz="1000" u="none" strike="noStrike">
                          <a:effectLst/>
                        </a:rPr>
                        <a:t>Sicurezza</a:t>
                      </a:r>
                      <a:endParaRPr lang="it-IT" sz="1000" b="1" i="0" u="none" strike="noStrike">
                        <a:solidFill>
                          <a:srgbClr val="000000"/>
                        </a:solidFill>
                        <a:effectLst/>
                        <a:latin typeface="Calibri" panose="020F0502020204030204" pitchFamily="34" charset="0"/>
                      </a:endParaRPr>
                    </a:p>
                  </a:txBody>
                  <a:tcPr marL="6973" marR="6973" marT="6973" marB="0" anchor="ctr"/>
                </a:tc>
                <a:tc>
                  <a:txBody>
                    <a:bodyPr/>
                    <a:lstStyle/>
                    <a:p>
                      <a:pPr algn="l" fontAlgn="ctr"/>
                      <a:r>
                        <a:rPr lang="it-IT" sz="1000" u="none" strike="noStrike">
                          <a:effectLst/>
                        </a:rPr>
                        <a:t>Può usare CHAP, IPSec e autenticazione a livello SAN</a:t>
                      </a:r>
                      <a:endParaRPr lang="it-IT" sz="1000" b="0" i="0" u="none" strike="noStrike">
                        <a:solidFill>
                          <a:srgbClr val="000000"/>
                        </a:solidFill>
                        <a:effectLst/>
                        <a:latin typeface="Calibri" panose="020F0502020204030204" pitchFamily="34" charset="0"/>
                      </a:endParaRPr>
                    </a:p>
                  </a:txBody>
                  <a:tcPr marL="6973" marR="6973" marT="6973" marB="0" anchor="ctr"/>
                </a:tc>
                <a:tc>
                  <a:txBody>
                    <a:bodyPr/>
                    <a:lstStyle/>
                    <a:p>
                      <a:pPr algn="l" fontAlgn="ctr"/>
                      <a:r>
                        <a:rPr lang="it-IT" sz="1000" u="none" strike="noStrike">
                          <a:effectLst/>
                        </a:rPr>
                        <a:t>Usa permessi Unix, Kerberos, e autenticazione NFSv4</a:t>
                      </a:r>
                      <a:endParaRPr lang="it-IT" sz="1000" b="0" i="0" u="none" strike="noStrike">
                        <a:solidFill>
                          <a:srgbClr val="000000"/>
                        </a:solidFill>
                        <a:effectLst/>
                        <a:latin typeface="Calibri" panose="020F0502020204030204" pitchFamily="34" charset="0"/>
                      </a:endParaRPr>
                    </a:p>
                  </a:txBody>
                  <a:tcPr marL="6973" marR="6973" marT="6973" marB="0" anchor="ctr"/>
                </a:tc>
                <a:extLst>
                  <a:ext uri="{0D108BD9-81ED-4DB2-BD59-A6C34878D82A}">
                    <a16:rowId xmlns:a16="http://schemas.microsoft.com/office/drawing/2014/main" val="428333747"/>
                  </a:ext>
                </a:extLst>
              </a:tr>
              <a:tr h="502077">
                <a:tc>
                  <a:txBody>
                    <a:bodyPr/>
                    <a:lstStyle/>
                    <a:p>
                      <a:pPr algn="l" fontAlgn="ctr"/>
                      <a:r>
                        <a:rPr lang="it-IT" sz="1000" u="none" strike="noStrike">
                          <a:effectLst/>
                        </a:rPr>
                        <a:t>Facilità di configurazione</a:t>
                      </a:r>
                      <a:endParaRPr lang="it-IT" sz="1000" b="1" i="0" u="none" strike="noStrike">
                        <a:solidFill>
                          <a:srgbClr val="000000"/>
                        </a:solidFill>
                        <a:effectLst/>
                        <a:latin typeface="Calibri" panose="020F0502020204030204" pitchFamily="34" charset="0"/>
                      </a:endParaRPr>
                    </a:p>
                  </a:txBody>
                  <a:tcPr marL="6973" marR="6973" marT="6973" marB="0" anchor="ctr"/>
                </a:tc>
                <a:tc>
                  <a:txBody>
                    <a:bodyPr/>
                    <a:lstStyle/>
                    <a:p>
                      <a:pPr algn="l" fontAlgn="ctr"/>
                      <a:r>
                        <a:rPr lang="it-IT" sz="1000" u="none" strike="noStrike">
                          <a:effectLst/>
                        </a:rPr>
                        <a:t>Più complesso, richiede configurazione del target e dell’iniziatore</a:t>
                      </a:r>
                      <a:endParaRPr lang="it-IT" sz="1000" b="0" i="0" u="none" strike="noStrike">
                        <a:solidFill>
                          <a:srgbClr val="000000"/>
                        </a:solidFill>
                        <a:effectLst/>
                        <a:latin typeface="Calibri" panose="020F0502020204030204" pitchFamily="34" charset="0"/>
                      </a:endParaRPr>
                    </a:p>
                  </a:txBody>
                  <a:tcPr marL="6973" marR="6973" marT="6973" marB="0" anchor="ctr"/>
                </a:tc>
                <a:tc>
                  <a:txBody>
                    <a:bodyPr/>
                    <a:lstStyle/>
                    <a:p>
                      <a:pPr algn="l" fontAlgn="ctr"/>
                      <a:r>
                        <a:rPr lang="it-IT" sz="1000" u="none" strike="noStrike">
                          <a:effectLst/>
                        </a:rPr>
                        <a:t>Più semplice, basta esportare e montare la condivisione</a:t>
                      </a:r>
                      <a:endParaRPr lang="it-IT" sz="1000" b="0" i="0" u="none" strike="noStrike">
                        <a:solidFill>
                          <a:srgbClr val="000000"/>
                        </a:solidFill>
                        <a:effectLst/>
                        <a:latin typeface="Calibri" panose="020F0502020204030204" pitchFamily="34" charset="0"/>
                      </a:endParaRPr>
                    </a:p>
                  </a:txBody>
                  <a:tcPr marL="6973" marR="6973" marT="6973" marB="0" anchor="ctr"/>
                </a:tc>
                <a:extLst>
                  <a:ext uri="{0D108BD9-81ED-4DB2-BD59-A6C34878D82A}">
                    <a16:rowId xmlns:a16="http://schemas.microsoft.com/office/drawing/2014/main" val="2759490449"/>
                  </a:ext>
                </a:extLst>
              </a:tr>
              <a:tr h="502077">
                <a:tc>
                  <a:txBody>
                    <a:bodyPr/>
                    <a:lstStyle/>
                    <a:p>
                      <a:pPr algn="l" fontAlgn="ctr"/>
                      <a:r>
                        <a:rPr lang="it-IT" sz="1000" u="none" strike="noStrike">
                          <a:effectLst/>
                        </a:rPr>
                        <a:t>Snapshot &amp; Backup</a:t>
                      </a:r>
                      <a:endParaRPr lang="it-IT" sz="1000" b="1" i="0" u="none" strike="noStrike">
                        <a:solidFill>
                          <a:srgbClr val="000000"/>
                        </a:solidFill>
                        <a:effectLst/>
                        <a:latin typeface="Calibri" panose="020F0502020204030204" pitchFamily="34" charset="0"/>
                      </a:endParaRPr>
                    </a:p>
                  </a:txBody>
                  <a:tcPr marL="6973" marR="6973" marT="6973" marB="0" anchor="ctr"/>
                </a:tc>
                <a:tc>
                  <a:txBody>
                    <a:bodyPr/>
                    <a:lstStyle/>
                    <a:p>
                      <a:pPr algn="l" fontAlgn="ctr"/>
                      <a:r>
                        <a:rPr lang="it-IT" sz="1000" u="none" strike="noStrike">
                          <a:effectLst/>
                        </a:rPr>
                        <a:t>Richiede snapshot a livello del file system (ZFS, LVM, ecc.)</a:t>
                      </a:r>
                      <a:endParaRPr lang="it-IT" sz="1000" b="0" i="0" u="none" strike="noStrike">
                        <a:solidFill>
                          <a:srgbClr val="000000"/>
                        </a:solidFill>
                        <a:effectLst/>
                        <a:latin typeface="Calibri" panose="020F0502020204030204" pitchFamily="34" charset="0"/>
                      </a:endParaRPr>
                    </a:p>
                  </a:txBody>
                  <a:tcPr marL="6973" marR="6973" marT="6973" marB="0" anchor="ctr"/>
                </a:tc>
                <a:tc>
                  <a:txBody>
                    <a:bodyPr/>
                    <a:lstStyle/>
                    <a:p>
                      <a:pPr algn="l" fontAlgn="ctr"/>
                      <a:r>
                        <a:rPr lang="it-IT" sz="1000" u="none" strike="noStrike" dirty="0">
                          <a:effectLst/>
                        </a:rPr>
                        <a:t>Il backup può essere fatto lato server, senza bisogno di snapshot lato client</a:t>
                      </a:r>
                      <a:endParaRPr lang="it-IT" sz="1000" b="0" i="0" u="none" strike="noStrike" dirty="0">
                        <a:solidFill>
                          <a:srgbClr val="000000"/>
                        </a:solidFill>
                        <a:effectLst/>
                        <a:latin typeface="Calibri" panose="020F0502020204030204" pitchFamily="34" charset="0"/>
                      </a:endParaRPr>
                    </a:p>
                  </a:txBody>
                  <a:tcPr marL="6973" marR="6973" marT="6973" marB="0" anchor="ctr"/>
                </a:tc>
                <a:extLst>
                  <a:ext uri="{0D108BD9-81ED-4DB2-BD59-A6C34878D82A}">
                    <a16:rowId xmlns:a16="http://schemas.microsoft.com/office/drawing/2014/main" val="918552418"/>
                  </a:ext>
                </a:extLst>
              </a:tr>
            </a:tbl>
          </a:graphicData>
        </a:graphic>
      </p:graphicFrame>
      <p:pic>
        <p:nvPicPr>
          <p:cNvPr id="4" name="Immagine 3">
            <a:extLst>
              <a:ext uri="{FF2B5EF4-FFF2-40B4-BE49-F238E27FC236}">
                <a16:creationId xmlns:a16="http://schemas.microsoft.com/office/drawing/2014/main" id="{C79357CB-8F38-43FE-979B-85CA94173E0C}"/>
              </a:ext>
            </a:extLst>
          </p:cNvPr>
          <p:cNvPicPr>
            <a:picLocks noChangeAspect="1"/>
          </p:cNvPicPr>
          <p:nvPr/>
        </p:nvPicPr>
        <p:blipFill>
          <a:blip r:embed="rId2"/>
          <a:stretch>
            <a:fillRect/>
          </a:stretch>
        </p:blipFill>
        <p:spPr>
          <a:xfrm>
            <a:off x="6512787" y="2361885"/>
            <a:ext cx="4677428" cy="2372056"/>
          </a:xfrm>
          <a:prstGeom prst="rect">
            <a:avLst/>
          </a:prstGeom>
        </p:spPr>
      </p:pic>
    </p:spTree>
    <p:extLst>
      <p:ext uri="{BB962C8B-B14F-4D97-AF65-F5344CB8AC3E}">
        <p14:creationId xmlns:p14="http://schemas.microsoft.com/office/powerpoint/2010/main" val="22533916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C26327E-0E03-45A7-AB15-1B0887C3FD92}"/>
              </a:ext>
            </a:extLst>
          </p:cNvPr>
          <p:cNvSpPr>
            <a:spLocks noGrp="1"/>
          </p:cNvSpPr>
          <p:nvPr>
            <p:ph type="title"/>
          </p:nvPr>
        </p:nvSpPr>
        <p:spPr/>
        <p:txBody>
          <a:bodyPr/>
          <a:lstStyle/>
          <a:p>
            <a:r>
              <a:rPr lang="it-IT" dirty="0">
                <a:solidFill>
                  <a:srgbClr val="0070C0"/>
                </a:solidFill>
                <a:effectLst/>
                <a:latin typeface="Coli"/>
                <a:ea typeface="Times New Roman" panose="02020603050405020304" pitchFamily="18" charset="0"/>
              </a:rPr>
              <a:t>Virtualizzazione Storage 2/4</a:t>
            </a:r>
            <a:endParaRPr lang="it-IT" dirty="0"/>
          </a:p>
        </p:txBody>
      </p:sp>
      <p:sp>
        <p:nvSpPr>
          <p:cNvPr id="10" name="CasellaDiTesto 9">
            <a:extLst>
              <a:ext uri="{FF2B5EF4-FFF2-40B4-BE49-F238E27FC236}">
                <a16:creationId xmlns:a16="http://schemas.microsoft.com/office/drawing/2014/main" id="{49433887-C371-4797-A560-C27ADD6F4A2E}"/>
              </a:ext>
            </a:extLst>
          </p:cNvPr>
          <p:cNvSpPr txBox="1"/>
          <p:nvPr/>
        </p:nvSpPr>
        <p:spPr>
          <a:xfrm>
            <a:off x="1028700" y="1601253"/>
            <a:ext cx="6096000" cy="1477328"/>
          </a:xfrm>
          <a:prstGeom prst="rect">
            <a:avLst/>
          </a:prstGeom>
          <a:noFill/>
        </p:spPr>
        <p:txBody>
          <a:bodyPr wrap="square">
            <a:spAutoFit/>
          </a:bodyPr>
          <a:lstStyle/>
          <a:p>
            <a:r>
              <a:rPr lang="it-IT" dirty="0"/>
              <a:t>CEPH: storage software-</a:t>
            </a:r>
            <a:r>
              <a:rPr lang="it-IT" dirty="0" err="1"/>
              <a:t>defined</a:t>
            </a:r>
            <a:r>
              <a:rPr lang="it-IT" dirty="0"/>
              <a:t>.</a:t>
            </a:r>
          </a:p>
          <a:p>
            <a:pPr marL="285750" indent="-285750">
              <a:buFont typeface="Arial" panose="020B0604020202020204" pitchFamily="34" charset="0"/>
              <a:buChar char="•"/>
            </a:pPr>
            <a:r>
              <a:rPr lang="it-IT" dirty="0"/>
              <a:t>Scalabile</a:t>
            </a:r>
          </a:p>
          <a:p>
            <a:pPr marL="285750" indent="-285750">
              <a:buFont typeface="Arial" panose="020B0604020202020204" pitchFamily="34" charset="0"/>
              <a:buChar char="•"/>
            </a:pPr>
            <a:r>
              <a:rPr lang="it-IT" dirty="0"/>
              <a:t>Replica su </a:t>
            </a:r>
            <a:r>
              <a:rPr lang="it-IT" dirty="0" err="1"/>
              <a:t>piu’</a:t>
            </a:r>
            <a:r>
              <a:rPr lang="it-IT" dirty="0"/>
              <a:t> nodi</a:t>
            </a:r>
          </a:p>
          <a:p>
            <a:pPr marL="285750" indent="-285750">
              <a:buFont typeface="Arial" panose="020B0604020202020204" pitchFamily="34" charset="0"/>
              <a:buChar char="•"/>
            </a:pPr>
            <a:r>
              <a:rPr lang="it-IT" dirty="0"/>
              <a:t>Opensource</a:t>
            </a:r>
          </a:p>
          <a:p>
            <a:pPr marL="285750" indent="-285750">
              <a:buFont typeface="Arial" panose="020B0604020202020204" pitchFamily="34" charset="0"/>
              <a:buChar char="•"/>
            </a:pPr>
            <a:r>
              <a:rPr lang="it-IT" dirty="0"/>
              <a:t>Integrato in </a:t>
            </a:r>
            <a:r>
              <a:rPr lang="it-IT" dirty="0" err="1"/>
              <a:t>proxmox</a:t>
            </a:r>
            <a:r>
              <a:rPr lang="it-IT" dirty="0"/>
              <a:t> (minimo 3 nodi)</a:t>
            </a:r>
          </a:p>
        </p:txBody>
      </p:sp>
      <p:pic>
        <p:nvPicPr>
          <p:cNvPr id="4" name="Elemento grafico 3">
            <a:extLst>
              <a:ext uri="{FF2B5EF4-FFF2-40B4-BE49-F238E27FC236}">
                <a16:creationId xmlns:a16="http://schemas.microsoft.com/office/drawing/2014/main" id="{D970E153-10D5-4666-9A23-7A09ED1A7BD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162550" y="1443037"/>
            <a:ext cx="6896100" cy="4124325"/>
          </a:xfrm>
          <a:prstGeom prst="rect">
            <a:avLst/>
          </a:prstGeom>
        </p:spPr>
      </p:pic>
    </p:spTree>
    <p:extLst>
      <p:ext uri="{BB962C8B-B14F-4D97-AF65-F5344CB8AC3E}">
        <p14:creationId xmlns:p14="http://schemas.microsoft.com/office/powerpoint/2010/main" val="31363514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C26327E-0E03-45A7-AB15-1B0887C3FD92}"/>
              </a:ext>
            </a:extLst>
          </p:cNvPr>
          <p:cNvSpPr>
            <a:spLocks noGrp="1"/>
          </p:cNvSpPr>
          <p:nvPr>
            <p:ph type="title"/>
          </p:nvPr>
        </p:nvSpPr>
        <p:spPr/>
        <p:txBody>
          <a:bodyPr/>
          <a:lstStyle/>
          <a:p>
            <a:r>
              <a:rPr lang="it-IT" dirty="0">
                <a:solidFill>
                  <a:srgbClr val="0070C0"/>
                </a:solidFill>
                <a:effectLst/>
                <a:latin typeface="Coli"/>
                <a:ea typeface="Times New Roman" panose="02020603050405020304" pitchFamily="18" charset="0"/>
              </a:rPr>
              <a:t>Virtualizzazione Storage 3/4</a:t>
            </a:r>
            <a:endParaRPr lang="it-IT" dirty="0"/>
          </a:p>
        </p:txBody>
      </p:sp>
      <p:graphicFrame>
        <p:nvGraphicFramePr>
          <p:cNvPr id="3" name="Tabella 2">
            <a:extLst>
              <a:ext uri="{FF2B5EF4-FFF2-40B4-BE49-F238E27FC236}">
                <a16:creationId xmlns:a16="http://schemas.microsoft.com/office/drawing/2014/main" id="{CA52553D-C6E3-48F0-8F21-9ED524FC065E}"/>
              </a:ext>
            </a:extLst>
          </p:cNvPr>
          <p:cNvGraphicFramePr>
            <a:graphicFrameLocks noGrp="1"/>
          </p:cNvGraphicFramePr>
          <p:nvPr>
            <p:extLst>
              <p:ext uri="{D42A27DB-BD31-4B8C-83A1-F6EECF244321}">
                <p14:modId xmlns:p14="http://schemas.microsoft.com/office/powerpoint/2010/main" val="4185792410"/>
              </p:ext>
            </p:extLst>
          </p:nvPr>
        </p:nvGraphicFramePr>
        <p:xfrm>
          <a:off x="695015" y="1321300"/>
          <a:ext cx="9506260" cy="5138505"/>
        </p:xfrm>
        <a:graphic>
          <a:graphicData uri="http://schemas.openxmlformats.org/drawingml/2006/table">
            <a:tbl>
              <a:tblPr>
                <a:tableStyleId>{5C22544A-7EE6-4342-B048-85BDC9FD1C3A}</a:tableStyleId>
              </a:tblPr>
              <a:tblGrid>
                <a:gridCol w="1584377">
                  <a:extLst>
                    <a:ext uri="{9D8B030D-6E8A-4147-A177-3AD203B41FA5}">
                      <a16:colId xmlns:a16="http://schemas.microsoft.com/office/drawing/2014/main" val="3272153194"/>
                    </a:ext>
                  </a:extLst>
                </a:gridCol>
                <a:gridCol w="1191005">
                  <a:extLst>
                    <a:ext uri="{9D8B030D-6E8A-4147-A177-3AD203B41FA5}">
                      <a16:colId xmlns:a16="http://schemas.microsoft.com/office/drawing/2014/main" val="246707807"/>
                    </a:ext>
                  </a:extLst>
                </a:gridCol>
                <a:gridCol w="1977748">
                  <a:extLst>
                    <a:ext uri="{9D8B030D-6E8A-4147-A177-3AD203B41FA5}">
                      <a16:colId xmlns:a16="http://schemas.microsoft.com/office/drawing/2014/main" val="2731881613"/>
                    </a:ext>
                  </a:extLst>
                </a:gridCol>
                <a:gridCol w="1224973">
                  <a:extLst>
                    <a:ext uri="{9D8B030D-6E8A-4147-A177-3AD203B41FA5}">
                      <a16:colId xmlns:a16="http://schemas.microsoft.com/office/drawing/2014/main" val="4207639435"/>
                    </a:ext>
                  </a:extLst>
                </a:gridCol>
                <a:gridCol w="1210119">
                  <a:extLst>
                    <a:ext uri="{9D8B030D-6E8A-4147-A177-3AD203B41FA5}">
                      <a16:colId xmlns:a16="http://schemas.microsoft.com/office/drawing/2014/main" val="682659663"/>
                    </a:ext>
                  </a:extLst>
                </a:gridCol>
                <a:gridCol w="2318038">
                  <a:extLst>
                    <a:ext uri="{9D8B030D-6E8A-4147-A177-3AD203B41FA5}">
                      <a16:colId xmlns:a16="http://schemas.microsoft.com/office/drawing/2014/main" val="2279361587"/>
                    </a:ext>
                  </a:extLst>
                </a:gridCol>
              </a:tblGrid>
              <a:tr h="161173">
                <a:tc>
                  <a:txBody>
                    <a:bodyPr/>
                    <a:lstStyle/>
                    <a:p>
                      <a:pPr algn="ctr" fontAlgn="ctr"/>
                      <a:r>
                        <a:rPr lang="it-IT" sz="1000" u="none" strike="noStrike" dirty="0">
                          <a:effectLst/>
                        </a:rPr>
                        <a:t>Tipo di File System</a:t>
                      </a:r>
                      <a:endParaRPr lang="it-IT" sz="1000" b="1" i="0" u="none" strike="noStrike" dirty="0">
                        <a:solidFill>
                          <a:srgbClr val="000000"/>
                        </a:solidFill>
                        <a:effectLst/>
                        <a:latin typeface="Calibri" panose="020F0502020204030204" pitchFamily="34" charset="0"/>
                      </a:endParaRPr>
                    </a:p>
                  </a:txBody>
                  <a:tcPr marL="5036" marR="5036" marT="5036" marB="0" anchor="ctr"/>
                </a:tc>
                <a:tc>
                  <a:txBody>
                    <a:bodyPr/>
                    <a:lstStyle/>
                    <a:p>
                      <a:pPr algn="ctr" fontAlgn="ctr"/>
                      <a:r>
                        <a:rPr lang="it-IT" sz="1000" u="none" strike="noStrike">
                          <a:effectLst/>
                        </a:rPr>
                        <a:t>Nome</a:t>
                      </a:r>
                      <a:endParaRPr lang="it-IT" sz="1000" b="1" i="0" u="none" strike="noStrike">
                        <a:solidFill>
                          <a:srgbClr val="000000"/>
                        </a:solidFill>
                        <a:effectLst/>
                        <a:latin typeface="Calibri" panose="020F0502020204030204" pitchFamily="34" charset="0"/>
                      </a:endParaRPr>
                    </a:p>
                  </a:txBody>
                  <a:tcPr marL="5036" marR="5036" marT="5036" marB="0" anchor="ctr"/>
                </a:tc>
                <a:tc>
                  <a:txBody>
                    <a:bodyPr/>
                    <a:lstStyle/>
                    <a:p>
                      <a:pPr algn="ctr" fontAlgn="ctr"/>
                      <a:r>
                        <a:rPr lang="it-IT" sz="1000" u="none" strike="noStrike">
                          <a:effectLst/>
                        </a:rPr>
                        <a:t>Descrizione</a:t>
                      </a:r>
                      <a:endParaRPr lang="it-IT" sz="1000" b="1" i="0" u="none" strike="noStrike">
                        <a:solidFill>
                          <a:srgbClr val="000000"/>
                        </a:solidFill>
                        <a:effectLst/>
                        <a:latin typeface="Calibri" panose="020F0502020204030204" pitchFamily="34" charset="0"/>
                      </a:endParaRPr>
                    </a:p>
                  </a:txBody>
                  <a:tcPr marL="5036" marR="5036" marT="5036" marB="0" anchor="ctr"/>
                </a:tc>
                <a:tc>
                  <a:txBody>
                    <a:bodyPr/>
                    <a:lstStyle/>
                    <a:p>
                      <a:pPr algn="ctr" fontAlgn="ctr"/>
                      <a:r>
                        <a:rPr lang="it-IT" sz="1000" b="0" i="0" u="none" strike="noStrike" dirty="0">
                          <a:solidFill>
                            <a:srgbClr val="000000"/>
                          </a:solidFill>
                          <a:effectLst/>
                          <a:latin typeface="Calibri" panose="020F0502020204030204" pitchFamily="34" charset="0"/>
                        </a:rPr>
                        <a:t>Derivati</a:t>
                      </a:r>
                    </a:p>
                  </a:txBody>
                  <a:tcPr marL="5036" marR="5036" marT="5036" marB="0" anchor="ctr"/>
                </a:tc>
                <a:tc>
                  <a:txBody>
                    <a:bodyPr/>
                    <a:lstStyle/>
                    <a:p>
                      <a:pPr algn="ctr" fontAlgn="ctr"/>
                      <a:r>
                        <a:rPr lang="it-IT" sz="1000" u="none" strike="noStrike" dirty="0">
                          <a:effectLst/>
                        </a:rPr>
                        <a:t>Tipo</a:t>
                      </a:r>
                      <a:endParaRPr lang="it-IT" sz="1000" b="1" i="0" u="none" strike="noStrike" dirty="0">
                        <a:solidFill>
                          <a:srgbClr val="000000"/>
                        </a:solidFill>
                        <a:effectLst/>
                        <a:latin typeface="Calibri" panose="020F0502020204030204" pitchFamily="34" charset="0"/>
                      </a:endParaRPr>
                    </a:p>
                  </a:txBody>
                  <a:tcPr marL="5036" marR="5036" marT="5036" marB="0" anchor="ctr"/>
                </a:tc>
                <a:tc>
                  <a:txBody>
                    <a:bodyPr/>
                    <a:lstStyle/>
                    <a:p>
                      <a:pPr algn="ctr" fontAlgn="ctr"/>
                      <a:r>
                        <a:rPr lang="it-IT" sz="1000" u="none" strike="noStrike">
                          <a:effectLst/>
                        </a:rPr>
                        <a:t>Usabile con iSCSI</a:t>
                      </a:r>
                      <a:endParaRPr lang="it-IT" sz="1000" b="1" i="0" u="none" strike="noStrike">
                        <a:solidFill>
                          <a:srgbClr val="000000"/>
                        </a:solidFill>
                        <a:effectLst/>
                        <a:latin typeface="Calibri" panose="020F0502020204030204" pitchFamily="34" charset="0"/>
                      </a:endParaRPr>
                    </a:p>
                  </a:txBody>
                  <a:tcPr marL="5036" marR="5036" marT="5036" marB="0" anchor="ctr"/>
                </a:tc>
                <a:extLst>
                  <a:ext uri="{0D108BD9-81ED-4DB2-BD59-A6C34878D82A}">
                    <a16:rowId xmlns:a16="http://schemas.microsoft.com/office/drawing/2014/main" val="134876585"/>
                  </a:ext>
                </a:extLst>
              </a:tr>
              <a:tr h="317191">
                <a:tc>
                  <a:txBody>
                    <a:bodyPr/>
                    <a:lstStyle/>
                    <a:p>
                      <a:pPr algn="l" fontAlgn="ctr"/>
                      <a:r>
                        <a:rPr lang="it-IT" sz="1000" u="none" strike="noStrike" dirty="0">
                          <a:effectLst/>
                        </a:rPr>
                        <a:t>File System Locali</a:t>
                      </a:r>
                      <a:endParaRPr lang="it-IT" sz="1000" b="1" i="0" u="none" strike="noStrike" dirty="0">
                        <a:solidFill>
                          <a:srgbClr val="000000"/>
                        </a:solidFill>
                        <a:effectLst/>
                        <a:latin typeface="Calibri" panose="020F0502020204030204" pitchFamily="34" charset="0"/>
                      </a:endParaRPr>
                    </a:p>
                  </a:txBody>
                  <a:tcPr marL="5036" marR="5036" marT="5036" marB="0" anchor="ctr"/>
                </a:tc>
                <a:tc>
                  <a:txBody>
                    <a:bodyPr/>
                    <a:lstStyle/>
                    <a:p>
                      <a:pPr algn="l" fontAlgn="ctr"/>
                      <a:r>
                        <a:rPr lang="it-IT" sz="1000" u="none" strike="noStrike">
                          <a:effectLst/>
                        </a:rPr>
                        <a:t>Ext4</a:t>
                      </a:r>
                      <a:endParaRPr lang="it-IT" sz="1000" b="1" i="0" u="none" strike="noStrike">
                        <a:solidFill>
                          <a:srgbClr val="000000"/>
                        </a:solidFill>
                        <a:effectLst/>
                        <a:latin typeface="Calibri" panose="020F0502020204030204" pitchFamily="34" charset="0"/>
                      </a:endParaRPr>
                    </a:p>
                  </a:txBody>
                  <a:tcPr marL="5036" marR="5036" marT="5036" marB="0" anchor="ctr"/>
                </a:tc>
                <a:tc>
                  <a:txBody>
                    <a:bodyPr/>
                    <a:lstStyle/>
                    <a:p>
                      <a:pPr algn="l" fontAlgn="ctr"/>
                      <a:r>
                        <a:rPr lang="it-IT" sz="1000" u="none" strike="noStrike">
                          <a:effectLst/>
                        </a:rPr>
                        <a:t>Standard per Linux, journaling, affidabile</a:t>
                      </a:r>
                      <a:endParaRPr lang="it-IT" sz="1000" b="0" i="0" u="none" strike="noStrike">
                        <a:solidFill>
                          <a:srgbClr val="000000"/>
                        </a:solidFill>
                        <a:effectLst/>
                        <a:latin typeface="Calibri" panose="020F0502020204030204" pitchFamily="34" charset="0"/>
                      </a:endParaRPr>
                    </a:p>
                  </a:txBody>
                  <a:tcPr marL="5036" marR="5036" marT="5036" marB="0" anchor="ctr"/>
                </a:tc>
                <a:tc>
                  <a:txBody>
                    <a:bodyPr/>
                    <a:lstStyle/>
                    <a:p>
                      <a:pPr algn="l" fontAlgn="ctr"/>
                      <a:r>
                        <a:rPr lang="it-IT" sz="1000" u="none" strike="noStrike">
                          <a:effectLst/>
                        </a:rPr>
                        <a:t>Ext3, Ext4, XFS, Btrfs</a:t>
                      </a:r>
                      <a:endParaRPr lang="it-IT" sz="1000" b="0" i="0" u="none" strike="noStrike">
                        <a:solidFill>
                          <a:srgbClr val="000000"/>
                        </a:solidFill>
                        <a:effectLst/>
                        <a:latin typeface="Calibri" panose="020F0502020204030204" pitchFamily="34" charset="0"/>
                      </a:endParaRPr>
                    </a:p>
                  </a:txBody>
                  <a:tcPr marL="5036" marR="5036" marT="5036" marB="0" anchor="ctr"/>
                </a:tc>
                <a:tc>
                  <a:txBody>
                    <a:bodyPr/>
                    <a:lstStyle/>
                    <a:p>
                      <a:pPr algn="l" fontAlgn="ctr"/>
                      <a:r>
                        <a:rPr lang="it-IT" sz="1000" u="none" strike="noStrike">
                          <a:effectLst/>
                        </a:rPr>
                        <a:t>A blocchi</a:t>
                      </a:r>
                      <a:endParaRPr lang="it-IT" sz="1000" b="0" i="0" u="none" strike="noStrike">
                        <a:solidFill>
                          <a:srgbClr val="000000"/>
                        </a:solidFill>
                        <a:effectLst/>
                        <a:latin typeface="Calibri" panose="020F0502020204030204" pitchFamily="34" charset="0"/>
                      </a:endParaRPr>
                    </a:p>
                  </a:txBody>
                  <a:tcPr marL="5036" marR="5036" marT="5036" marB="0" anchor="ctr"/>
                </a:tc>
                <a:tc>
                  <a:txBody>
                    <a:bodyPr/>
                    <a:lstStyle/>
                    <a:p>
                      <a:pPr algn="l" fontAlgn="ctr"/>
                      <a:r>
                        <a:rPr lang="it-IT" sz="1000" u="none" strike="noStrike">
                          <a:effectLst/>
                        </a:rPr>
                        <a:t>✅ Sì (su LVM o raw disk)</a:t>
                      </a:r>
                      <a:endParaRPr lang="it-IT" sz="1000" b="0" i="0" u="none" strike="noStrike">
                        <a:solidFill>
                          <a:srgbClr val="000000"/>
                        </a:solidFill>
                        <a:effectLst/>
                        <a:latin typeface="Calibri" panose="020F0502020204030204" pitchFamily="34" charset="0"/>
                      </a:endParaRPr>
                    </a:p>
                  </a:txBody>
                  <a:tcPr marL="5036" marR="5036" marT="5036" marB="0" anchor="ctr"/>
                </a:tc>
                <a:extLst>
                  <a:ext uri="{0D108BD9-81ED-4DB2-BD59-A6C34878D82A}">
                    <a16:rowId xmlns:a16="http://schemas.microsoft.com/office/drawing/2014/main" val="2572491314"/>
                  </a:ext>
                </a:extLst>
              </a:tr>
              <a:tr h="317191">
                <a:tc>
                  <a:txBody>
                    <a:bodyPr/>
                    <a:lstStyle/>
                    <a:p>
                      <a:pPr algn="l" fontAlgn="ctr"/>
                      <a:endParaRPr lang="it-IT" sz="1000" b="0" i="0" u="none" strike="noStrike">
                        <a:solidFill>
                          <a:srgbClr val="000000"/>
                        </a:solidFill>
                        <a:effectLst/>
                        <a:latin typeface="Calibri" panose="020F0502020204030204" pitchFamily="34" charset="0"/>
                      </a:endParaRPr>
                    </a:p>
                  </a:txBody>
                  <a:tcPr marL="5036" marR="5036" marT="5036" marB="0" anchor="ctr"/>
                </a:tc>
                <a:tc>
                  <a:txBody>
                    <a:bodyPr/>
                    <a:lstStyle/>
                    <a:p>
                      <a:pPr algn="l" fontAlgn="ctr"/>
                      <a:r>
                        <a:rPr lang="it-IT" sz="1000" u="none" strike="noStrike" dirty="0">
                          <a:effectLst/>
                        </a:rPr>
                        <a:t>NTFS</a:t>
                      </a:r>
                      <a:endParaRPr lang="it-IT" sz="1000" b="1" i="0" u="none" strike="noStrike" dirty="0">
                        <a:solidFill>
                          <a:srgbClr val="000000"/>
                        </a:solidFill>
                        <a:effectLst/>
                        <a:latin typeface="Calibri" panose="020F0502020204030204" pitchFamily="34" charset="0"/>
                      </a:endParaRPr>
                    </a:p>
                  </a:txBody>
                  <a:tcPr marL="5036" marR="5036" marT="5036" marB="0" anchor="ctr"/>
                </a:tc>
                <a:tc>
                  <a:txBody>
                    <a:bodyPr/>
                    <a:lstStyle/>
                    <a:p>
                      <a:pPr algn="l" fontAlgn="ctr"/>
                      <a:r>
                        <a:rPr lang="en-US" sz="1000" u="none" strike="noStrike">
                          <a:effectLst/>
                        </a:rPr>
                        <a:t>Standard Windows, journaling, ACL avanzate</a:t>
                      </a:r>
                      <a:endParaRPr lang="en-US" sz="1000" b="0" i="0" u="none" strike="noStrike">
                        <a:solidFill>
                          <a:srgbClr val="000000"/>
                        </a:solidFill>
                        <a:effectLst/>
                        <a:latin typeface="Calibri" panose="020F0502020204030204" pitchFamily="34" charset="0"/>
                      </a:endParaRPr>
                    </a:p>
                  </a:txBody>
                  <a:tcPr marL="5036" marR="5036" marT="5036" marB="0" anchor="ctr"/>
                </a:tc>
                <a:tc>
                  <a:txBody>
                    <a:bodyPr/>
                    <a:lstStyle/>
                    <a:p>
                      <a:pPr algn="l" fontAlgn="ctr"/>
                      <a:r>
                        <a:rPr lang="it-IT" sz="1000" u="none" strike="noStrike">
                          <a:effectLst/>
                        </a:rPr>
                        <a:t>NTFS</a:t>
                      </a:r>
                      <a:endParaRPr lang="it-IT" sz="1000" b="0" i="0" u="none" strike="noStrike">
                        <a:solidFill>
                          <a:srgbClr val="000000"/>
                        </a:solidFill>
                        <a:effectLst/>
                        <a:latin typeface="Calibri" panose="020F0502020204030204" pitchFamily="34" charset="0"/>
                      </a:endParaRPr>
                    </a:p>
                  </a:txBody>
                  <a:tcPr marL="5036" marR="5036" marT="5036" marB="0" anchor="ctr"/>
                </a:tc>
                <a:tc>
                  <a:txBody>
                    <a:bodyPr/>
                    <a:lstStyle/>
                    <a:p>
                      <a:pPr algn="l" fontAlgn="ctr"/>
                      <a:r>
                        <a:rPr lang="it-IT" sz="1000" u="none" strike="noStrike" dirty="0">
                          <a:effectLst/>
                        </a:rPr>
                        <a:t>A blocchi</a:t>
                      </a:r>
                      <a:endParaRPr lang="it-IT" sz="1000" b="0" i="0" u="none" strike="noStrike" dirty="0">
                        <a:solidFill>
                          <a:srgbClr val="000000"/>
                        </a:solidFill>
                        <a:effectLst/>
                        <a:latin typeface="Calibri" panose="020F0502020204030204" pitchFamily="34" charset="0"/>
                      </a:endParaRPr>
                    </a:p>
                  </a:txBody>
                  <a:tcPr marL="5036" marR="5036" marT="5036" marB="0" anchor="ctr"/>
                </a:tc>
                <a:tc>
                  <a:txBody>
                    <a:bodyPr/>
                    <a:lstStyle/>
                    <a:p>
                      <a:pPr algn="l" fontAlgn="ctr"/>
                      <a:r>
                        <a:rPr lang="it-IT" sz="1000" u="none" strike="noStrike">
                          <a:effectLst/>
                        </a:rPr>
                        <a:t>✅ Sì</a:t>
                      </a:r>
                      <a:endParaRPr lang="it-IT" sz="1000" b="0" i="0" u="none" strike="noStrike">
                        <a:solidFill>
                          <a:srgbClr val="000000"/>
                        </a:solidFill>
                        <a:effectLst/>
                        <a:latin typeface="Calibri" panose="020F0502020204030204" pitchFamily="34" charset="0"/>
                      </a:endParaRPr>
                    </a:p>
                  </a:txBody>
                  <a:tcPr marL="5036" marR="5036" marT="5036" marB="0" anchor="ctr"/>
                </a:tc>
                <a:extLst>
                  <a:ext uri="{0D108BD9-81ED-4DB2-BD59-A6C34878D82A}">
                    <a16:rowId xmlns:a16="http://schemas.microsoft.com/office/drawing/2014/main" val="899426493"/>
                  </a:ext>
                </a:extLst>
              </a:tr>
              <a:tr h="317191">
                <a:tc>
                  <a:txBody>
                    <a:bodyPr/>
                    <a:lstStyle/>
                    <a:p>
                      <a:pPr algn="l" fontAlgn="ctr"/>
                      <a:endParaRPr lang="it-IT" sz="1000" b="0" i="0" u="none" strike="noStrike">
                        <a:solidFill>
                          <a:srgbClr val="000000"/>
                        </a:solidFill>
                        <a:effectLst/>
                        <a:latin typeface="Calibri" panose="020F0502020204030204" pitchFamily="34" charset="0"/>
                      </a:endParaRPr>
                    </a:p>
                  </a:txBody>
                  <a:tcPr marL="5036" marR="5036" marT="5036" marB="0" anchor="ctr"/>
                </a:tc>
                <a:tc>
                  <a:txBody>
                    <a:bodyPr/>
                    <a:lstStyle/>
                    <a:p>
                      <a:pPr algn="l" fontAlgn="ctr"/>
                      <a:r>
                        <a:rPr lang="it-IT" sz="1000" u="none" strike="noStrike">
                          <a:effectLst/>
                        </a:rPr>
                        <a:t>FAT32 / exFAT</a:t>
                      </a:r>
                      <a:endParaRPr lang="it-IT" sz="1000" b="1" i="0" u="none" strike="noStrike">
                        <a:solidFill>
                          <a:srgbClr val="000000"/>
                        </a:solidFill>
                        <a:effectLst/>
                        <a:latin typeface="Calibri" panose="020F0502020204030204" pitchFamily="34" charset="0"/>
                      </a:endParaRPr>
                    </a:p>
                  </a:txBody>
                  <a:tcPr marL="5036" marR="5036" marT="5036" marB="0" anchor="ctr"/>
                </a:tc>
                <a:tc>
                  <a:txBody>
                    <a:bodyPr/>
                    <a:lstStyle/>
                    <a:p>
                      <a:pPr algn="l" fontAlgn="ctr"/>
                      <a:r>
                        <a:rPr lang="it-IT" sz="1000" u="none" strike="noStrike">
                          <a:effectLst/>
                        </a:rPr>
                        <a:t>Compatibile con Windows, Linux e macOS, no journaling</a:t>
                      </a:r>
                      <a:endParaRPr lang="it-IT" sz="1000" b="0" i="0" u="none" strike="noStrike">
                        <a:solidFill>
                          <a:srgbClr val="000000"/>
                        </a:solidFill>
                        <a:effectLst/>
                        <a:latin typeface="Calibri" panose="020F0502020204030204" pitchFamily="34" charset="0"/>
                      </a:endParaRPr>
                    </a:p>
                  </a:txBody>
                  <a:tcPr marL="5036" marR="5036" marT="5036" marB="0" anchor="ctr"/>
                </a:tc>
                <a:tc>
                  <a:txBody>
                    <a:bodyPr/>
                    <a:lstStyle/>
                    <a:p>
                      <a:pPr algn="l" fontAlgn="ctr"/>
                      <a:r>
                        <a:rPr lang="it-IT" sz="1000" u="none" strike="noStrike">
                          <a:effectLst/>
                        </a:rPr>
                        <a:t>FAT32, exFAT</a:t>
                      </a:r>
                      <a:endParaRPr lang="it-IT" sz="1000" b="0" i="0" u="none" strike="noStrike">
                        <a:solidFill>
                          <a:srgbClr val="000000"/>
                        </a:solidFill>
                        <a:effectLst/>
                        <a:latin typeface="Calibri" panose="020F0502020204030204" pitchFamily="34" charset="0"/>
                      </a:endParaRPr>
                    </a:p>
                  </a:txBody>
                  <a:tcPr marL="5036" marR="5036" marT="5036" marB="0" anchor="ctr"/>
                </a:tc>
                <a:tc>
                  <a:txBody>
                    <a:bodyPr/>
                    <a:lstStyle/>
                    <a:p>
                      <a:pPr algn="l" fontAlgn="ctr"/>
                      <a:r>
                        <a:rPr lang="it-IT" sz="1000" u="none" strike="noStrike">
                          <a:effectLst/>
                        </a:rPr>
                        <a:t>A blocchi</a:t>
                      </a:r>
                      <a:endParaRPr lang="it-IT" sz="1000" b="0" i="0" u="none" strike="noStrike">
                        <a:solidFill>
                          <a:srgbClr val="000000"/>
                        </a:solidFill>
                        <a:effectLst/>
                        <a:latin typeface="Calibri" panose="020F0502020204030204" pitchFamily="34" charset="0"/>
                      </a:endParaRPr>
                    </a:p>
                  </a:txBody>
                  <a:tcPr marL="5036" marR="5036" marT="5036" marB="0" anchor="ctr"/>
                </a:tc>
                <a:tc>
                  <a:txBody>
                    <a:bodyPr/>
                    <a:lstStyle/>
                    <a:p>
                      <a:pPr algn="l" fontAlgn="ctr"/>
                      <a:r>
                        <a:rPr lang="it-IT" sz="1000" u="none" strike="noStrike">
                          <a:effectLst/>
                        </a:rPr>
                        <a:t>❌ No (non adatto per storage avanzato)</a:t>
                      </a:r>
                      <a:endParaRPr lang="it-IT" sz="1000" b="0" i="0" u="none" strike="noStrike">
                        <a:solidFill>
                          <a:srgbClr val="000000"/>
                        </a:solidFill>
                        <a:effectLst/>
                        <a:latin typeface="Calibri" panose="020F0502020204030204" pitchFamily="34" charset="0"/>
                      </a:endParaRPr>
                    </a:p>
                  </a:txBody>
                  <a:tcPr marL="5036" marR="5036" marT="5036" marB="0" anchor="ctr"/>
                </a:tc>
                <a:extLst>
                  <a:ext uri="{0D108BD9-81ED-4DB2-BD59-A6C34878D82A}">
                    <a16:rowId xmlns:a16="http://schemas.microsoft.com/office/drawing/2014/main" val="701242858"/>
                  </a:ext>
                </a:extLst>
              </a:tr>
              <a:tr h="317191">
                <a:tc>
                  <a:txBody>
                    <a:bodyPr/>
                    <a:lstStyle/>
                    <a:p>
                      <a:pPr algn="l" fontAlgn="ctr"/>
                      <a:endParaRPr lang="it-IT" sz="1000" b="0" i="0" u="none" strike="noStrike">
                        <a:solidFill>
                          <a:srgbClr val="000000"/>
                        </a:solidFill>
                        <a:effectLst/>
                        <a:latin typeface="Calibri" panose="020F0502020204030204" pitchFamily="34" charset="0"/>
                      </a:endParaRPr>
                    </a:p>
                  </a:txBody>
                  <a:tcPr marL="5036" marR="5036" marT="5036" marB="0" anchor="ctr"/>
                </a:tc>
                <a:tc>
                  <a:txBody>
                    <a:bodyPr/>
                    <a:lstStyle/>
                    <a:p>
                      <a:pPr algn="l" fontAlgn="ctr"/>
                      <a:r>
                        <a:rPr lang="it-IT" sz="1000" u="none" strike="noStrike" dirty="0">
                          <a:effectLst/>
                        </a:rPr>
                        <a:t>APFS</a:t>
                      </a:r>
                      <a:endParaRPr lang="it-IT" sz="1000" b="1" i="0" u="none" strike="noStrike" dirty="0">
                        <a:solidFill>
                          <a:srgbClr val="000000"/>
                        </a:solidFill>
                        <a:effectLst/>
                        <a:latin typeface="Calibri" panose="020F0502020204030204" pitchFamily="34" charset="0"/>
                      </a:endParaRPr>
                    </a:p>
                  </a:txBody>
                  <a:tcPr marL="5036" marR="5036" marT="5036" marB="0" anchor="ctr"/>
                </a:tc>
                <a:tc>
                  <a:txBody>
                    <a:bodyPr/>
                    <a:lstStyle/>
                    <a:p>
                      <a:pPr algn="l" fontAlgn="ctr"/>
                      <a:r>
                        <a:rPr lang="it-IT" sz="1000" u="none" strike="noStrike" dirty="0">
                          <a:effectLst/>
                        </a:rPr>
                        <a:t>Standard Apple per </a:t>
                      </a:r>
                      <a:r>
                        <a:rPr lang="it-IT" sz="1000" u="none" strike="noStrike" dirty="0" err="1">
                          <a:effectLst/>
                        </a:rPr>
                        <a:t>macOS</a:t>
                      </a:r>
                      <a:r>
                        <a:rPr lang="it-IT" sz="1000" u="none" strike="noStrike" dirty="0">
                          <a:effectLst/>
                        </a:rPr>
                        <a:t>, ottimizzato per SSD</a:t>
                      </a:r>
                      <a:endParaRPr lang="it-IT" sz="1000" b="0" i="0" u="none" strike="noStrike" dirty="0">
                        <a:solidFill>
                          <a:srgbClr val="000000"/>
                        </a:solidFill>
                        <a:effectLst/>
                        <a:latin typeface="Calibri" panose="020F0502020204030204" pitchFamily="34" charset="0"/>
                      </a:endParaRPr>
                    </a:p>
                  </a:txBody>
                  <a:tcPr marL="5036" marR="5036" marT="5036" marB="0" anchor="ctr"/>
                </a:tc>
                <a:tc>
                  <a:txBody>
                    <a:bodyPr/>
                    <a:lstStyle/>
                    <a:p>
                      <a:pPr algn="l" fontAlgn="ctr"/>
                      <a:r>
                        <a:rPr lang="it-IT" sz="1000" u="none" strike="noStrike">
                          <a:effectLst/>
                        </a:rPr>
                        <a:t>APFS, HFS+</a:t>
                      </a:r>
                      <a:endParaRPr lang="it-IT" sz="1000" b="0" i="0" u="none" strike="noStrike">
                        <a:solidFill>
                          <a:srgbClr val="000000"/>
                        </a:solidFill>
                        <a:effectLst/>
                        <a:latin typeface="Calibri" panose="020F0502020204030204" pitchFamily="34" charset="0"/>
                      </a:endParaRPr>
                    </a:p>
                  </a:txBody>
                  <a:tcPr marL="5036" marR="5036" marT="5036" marB="0" anchor="ctr"/>
                </a:tc>
                <a:tc>
                  <a:txBody>
                    <a:bodyPr/>
                    <a:lstStyle/>
                    <a:p>
                      <a:pPr algn="l" fontAlgn="ctr"/>
                      <a:r>
                        <a:rPr lang="it-IT" sz="1000" u="none" strike="noStrike">
                          <a:effectLst/>
                        </a:rPr>
                        <a:t>A blocchi</a:t>
                      </a:r>
                      <a:endParaRPr lang="it-IT" sz="1000" b="0" i="0" u="none" strike="noStrike">
                        <a:solidFill>
                          <a:srgbClr val="000000"/>
                        </a:solidFill>
                        <a:effectLst/>
                        <a:latin typeface="Calibri" panose="020F0502020204030204" pitchFamily="34" charset="0"/>
                      </a:endParaRPr>
                    </a:p>
                  </a:txBody>
                  <a:tcPr marL="5036" marR="5036" marT="5036" marB="0" anchor="ctr"/>
                </a:tc>
                <a:tc>
                  <a:txBody>
                    <a:bodyPr/>
                    <a:lstStyle/>
                    <a:p>
                      <a:pPr algn="l" fontAlgn="ctr"/>
                      <a:r>
                        <a:rPr lang="it-IT" sz="1000" u="none" strike="noStrike">
                          <a:effectLst/>
                        </a:rPr>
                        <a:t>❌ No</a:t>
                      </a:r>
                      <a:endParaRPr lang="it-IT" sz="1000" b="0" i="0" u="none" strike="noStrike">
                        <a:solidFill>
                          <a:srgbClr val="000000"/>
                        </a:solidFill>
                        <a:effectLst/>
                        <a:latin typeface="Calibri" panose="020F0502020204030204" pitchFamily="34" charset="0"/>
                      </a:endParaRPr>
                    </a:p>
                  </a:txBody>
                  <a:tcPr marL="5036" marR="5036" marT="5036" marB="0" anchor="ctr"/>
                </a:tc>
                <a:extLst>
                  <a:ext uri="{0D108BD9-81ED-4DB2-BD59-A6C34878D82A}">
                    <a16:rowId xmlns:a16="http://schemas.microsoft.com/office/drawing/2014/main" val="3256668036"/>
                  </a:ext>
                </a:extLst>
              </a:tr>
              <a:tr h="317191">
                <a:tc>
                  <a:txBody>
                    <a:bodyPr/>
                    <a:lstStyle/>
                    <a:p>
                      <a:pPr algn="l" fontAlgn="ctr"/>
                      <a:endParaRPr lang="it-IT" sz="1000" b="0" i="0" u="none" strike="noStrike">
                        <a:solidFill>
                          <a:srgbClr val="000000"/>
                        </a:solidFill>
                        <a:effectLst/>
                        <a:latin typeface="Calibri" panose="020F0502020204030204" pitchFamily="34" charset="0"/>
                      </a:endParaRPr>
                    </a:p>
                  </a:txBody>
                  <a:tcPr marL="5036" marR="5036" marT="5036" marB="0" anchor="ctr"/>
                </a:tc>
                <a:tc>
                  <a:txBody>
                    <a:bodyPr/>
                    <a:lstStyle/>
                    <a:p>
                      <a:pPr algn="l" fontAlgn="ctr"/>
                      <a:r>
                        <a:rPr lang="it-IT" sz="1000" u="none" strike="noStrike">
                          <a:effectLst/>
                        </a:rPr>
                        <a:t>ZFS</a:t>
                      </a:r>
                      <a:endParaRPr lang="it-IT" sz="1000" b="1" i="0" u="none" strike="noStrike">
                        <a:solidFill>
                          <a:srgbClr val="000000"/>
                        </a:solidFill>
                        <a:effectLst/>
                        <a:latin typeface="Calibri" panose="020F0502020204030204" pitchFamily="34" charset="0"/>
                      </a:endParaRPr>
                    </a:p>
                  </a:txBody>
                  <a:tcPr marL="5036" marR="5036" marT="5036" marB="0" anchor="ctr"/>
                </a:tc>
                <a:tc>
                  <a:txBody>
                    <a:bodyPr/>
                    <a:lstStyle/>
                    <a:p>
                      <a:pPr algn="l" fontAlgn="ctr"/>
                      <a:r>
                        <a:rPr lang="it-IT" sz="1000" u="none" strike="noStrike">
                          <a:effectLst/>
                        </a:rPr>
                        <a:t>File system con gestione avanzata di snapshot e RAID</a:t>
                      </a:r>
                      <a:endParaRPr lang="it-IT" sz="1000" b="0" i="0" u="none" strike="noStrike">
                        <a:solidFill>
                          <a:srgbClr val="000000"/>
                        </a:solidFill>
                        <a:effectLst/>
                        <a:latin typeface="Calibri" panose="020F0502020204030204" pitchFamily="34" charset="0"/>
                      </a:endParaRPr>
                    </a:p>
                  </a:txBody>
                  <a:tcPr marL="5036" marR="5036" marT="5036" marB="0" anchor="ctr"/>
                </a:tc>
                <a:tc>
                  <a:txBody>
                    <a:bodyPr/>
                    <a:lstStyle/>
                    <a:p>
                      <a:pPr algn="l" fontAlgn="ctr"/>
                      <a:r>
                        <a:rPr lang="it-IT" sz="1000" u="none" strike="noStrike">
                          <a:effectLst/>
                        </a:rPr>
                        <a:t>ZFS</a:t>
                      </a:r>
                      <a:endParaRPr lang="it-IT" sz="1000" b="0" i="0" u="none" strike="noStrike">
                        <a:solidFill>
                          <a:srgbClr val="000000"/>
                        </a:solidFill>
                        <a:effectLst/>
                        <a:latin typeface="Calibri" panose="020F0502020204030204" pitchFamily="34" charset="0"/>
                      </a:endParaRPr>
                    </a:p>
                  </a:txBody>
                  <a:tcPr marL="5036" marR="5036" marT="5036" marB="0" anchor="ctr"/>
                </a:tc>
                <a:tc>
                  <a:txBody>
                    <a:bodyPr/>
                    <a:lstStyle/>
                    <a:p>
                      <a:pPr algn="l" fontAlgn="ctr"/>
                      <a:r>
                        <a:rPr lang="it-IT" sz="1000" u="none" strike="noStrike">
                          <a:effectLst/>
                        </a:rPr>
                        <a:t>A blocchi</a:t>
                      </a:r>
                      <a:endParaRPr lang="it-IT" sz="1000" b="0" i="0" u="none" strike="noStrike">
                        <a:solidFill>
                          <a:srgbClr val="000000"/>
                        </a:solidFill>
                        <a:effectLst/>
                        <a:latin typeface="Calibri" panose="020F0502020204030204" pitchFamily="34" charset="0"/>
                      </a:endParaRPr>
                    </a:p>
                  </a:txBody>
                  <a:tcPr marL="5036" marR="5036" marT="5036" marB="0" anchor="ctr"/>
                </a:tc>
                <a:tc>
                  <a:txBody>
                    <a:bodyPr/>
                    <a:lstStyle/>
                    <a:p>
                      <a:pPr algn="l" fontAlgn="ctr"/>
                      <a:r>
                        <a:rPr lang="it-IT" sz="1000" u="none" strike="noStrike">
                          <a:effectLst/>
                        </a:rPr>
                        <a:t>✅ Sì (con ZVOL su iSCSI)</a:t>
                      </a:r>
                      <a:endParaRPr lang="it-IT" sz="1000" b="0" i="0" u="none" strike="noStrike">
                        <a:solidFill>
                          <a:srgbClr val="000000"/>
                        </a:solidFill>
                        <a:effectLst/>
                        <a:latin typeface="Calibri" panose="020F0502020204030204" pitchFamily="34" charset="0"/>
                      </a:endParaRPr>
                    </a:p>
                  </a:txBody>
                  <a:tcPr marL="5036" marR="5036" marT="5036" marB="0" anchor="ctr"/>
                </a:tc>
                <a:extLst>
                  <a:ext uri="{0D108BD9-81ED-4DB2-BD59-A6C34878D82A}">
                    <a16:rowId xmlns:a16="http://schemas.microsoft.com/office/drawing/2014/main" val="2408802880"/>
                  </a:ext>
                </a:extLst>
              </a:tr>
              <a:tr h="317191">
                <a:tc>
                  <a:txBody>
                    <a:bodyPr/>
                    <a:lstStyle/>
                    <a:p>
                      <a:pPr algn="l" fontAlgn="ctr"/>
                      <a:r>
                        <a:rPr lang="it-IT" sz="1000" u="none" strike="noStrike">
                          <a:effectLst/>
                        </a:rPr>
                        <a:t>File System Condivisi (Network)</a:t>
                      </a:r>
                      <a:endParaRPr lang="it-IT" sz="1000" b="1" i="0" u="none" strike="noStrike">
                        <a:solidFill>
                          <a:srgbClr val="000000"/>
                        </a:solidFill>
                        <a:effectLst/>
                        <a:latin typeface="Calibri" panose="020F0502020204030204" pitchFamily="34" charset="0"/>
                      </a:endParaRPr>
                    </a:p>
                  </a:txBody>
                  <a:tcPr marL="5036" marR="5036" marT="5036" marB="0" anchor="ctr"/>
                </a:tc>
                <a:tc>
                  <a:txBody>
                    <a:bodyPr/>
                    <a:lstStyle/>
                    <a:p>
                      <a:pPr algn="l" fontAlgn="ctr"/>
                      <a:r>
                        <a:rPr lang="it-IT" sz="1000" u="none" strike="noStrike">
                          <a:effectLst/>
                        </a:rPr>
                        <a:t>NFS</a:t>
                      </a:r>
                      <a:endParaRPr lang="it-IT" sz="1000" b="1" i="0" u="none" strike="noStrike">
                        <a:solidFill>
                          <a:srgbClr val="000000"/>
                        </a:solidFill>
                        <a:effectLst/>
                        <a:latin typeface="Calibri" panose="020F0502020204030204" pitchFamily="34" charset="0"/>
                      </a:endParaRPr>
                    </a:p>
                  </a:txBody>
                  <a:tcPr marL="5036" marR="5036" marT="5036" marB="0" anchor="ctr"/>
                </a:tc>
                <a:tc>
                  <a:txBody>
                    <a:bodyPr/>
                    <a:lstStyle/>
                    <a:p>
                      <a:pPr algn="l" fontAlgn="ctr"/>
                      <a:r>
                        <a:rPr lang="it-IT" sz="1000" u="none" strike="noStrike">
                          <a:effectLst/>
                        </a:rPr>
                        <a:t>Condivisione di file su rete, usato in ambienti Unix/Linux</a:t>
                      </a:r>
                      <a:endParaRPr lang="it-IT" sz="1000" b="0" i="0" u="none" strike="noStrike">
                        <a:solidFill>
                          <a:srgbClr val="000000"/>
                        </a:solidFill>
                        <a:effectLst/>
                        <a:latin typeface="Calibri" panose="020F0502020204030204" pitchFamily="34" charset="0"/>
                      </a:endParaRPr>
                    </a:p>
                  </a:txBody>
                  <a:tcPr marL="5036" marR="5036" marT="5036" marB="0" anchor="ctr"/>
                </a:tc>
                <a:tc>
                  <a:txBody>
                    <a:bodyPr/>
                    <a:lstStyle/>
                    <a:p>
                      <a:pPr algn="l" fontAlgn="ctr"/>
                      <a:r>
                        <a:rPr lang="it-IT" sz="1000" u="none" strike="noStrike" dirty="0">
                          <a:effectLst/>
                        </a:rPr>
                        <a:t>NFSv3, NFSv4</a:t>
                      </a:r>
                      <a:endParaRPr lang="it-IT" sz="1000" b="0" i="0" u="none" strike="noStrike" dirty="0">
                        <a:solidFill>
                          <a:srgbClr val="000000"/>
                        </a:solidFill>
                        <a:effectLst/>
                        <a:latin typeface="Calibri" panose="020F0502020204030204" pitchFamily="34" charset="0"/>
                      </a:endParaRPr>
                    </a:p>
                  </a:txBody>
                  <a:tcPr marL="5036" marR="5036" marT="5036" marB="0" anchor="ctr"/>
                </a:tc>
                <a:tc>
                  <a:txBody>
                    <a:bodyPr/>
                    <a:lstStyle/>
                    <a:p>
                      <a:pPr algn="l" fontAlgn="ctr"/>
                      <a:r>
                        <a:rPr lang="it-IT" sz="1000" u="none" strike="noStrike">
                          <a:effectLst/>
                        </a:rPr>
                        <a:t>A file</a:t>
                      </a:r>
                      <a:endParaRPr lang="it-IT" sz="1000" b="0" i="0" u="none" strike="noStrike">
                        <a:solidFill>
                          <a:srgbClr val="000000"/>
                        </a:solidFill>
                        <a:effectLst/>
                        <a:latin typeface="Calibri" panose="020F0502020204030204" pitchFamily="34" charset="0"/>
                      </a:endParaRPr>
                    </a:p>
                  </a:txBody>
                  <a:tcPr marL="5036" marR="5036" marT="5036" marB="0" anchor="ctr"/>
                </a:tc>
                <a:tc>
                  <a:txBody>
                    <a:bodyPr/>
                    <a:lstStyle/>
                    <a:p>
                      <a:pPr algn="l" fontAlgn="ctr"/>
                      <a:r>
                        <a:rPr lang="it-IT" sz="1000" u="none" strike="noStrike">
                          <a:effectLst/>
                        </a:rPr>
                        <a:t>❌ No (NFS non usa iSCSI)</a:t>
                      </a:r>
                      <a:endParaRPr lang="it-IT" sz="1000" b="0" i="0" u="none" strike="noStrike">
                        <a:solidFill>
                          <a:srgbClr val="000000"/>
                        </a:solidFill>
                        <a:effectLst/>
                        <a:latin typeface="Calibri" panose="020F0502020204030204" pitchFamily="34" charset="0"/>
                      </a:endParaRPr>
                    </a:p>
                  </a:txBody>
                  <a:tcPr marL="5036" marR="5036" marT="5036" marB="0" anchor="ctr"/>
                </a:tc>
                <a:extLst>
                  <a:ext uri="{0D108BD9-81ED-4DB2-BD59-A6C34878D82A}">
                    <a16:rowId xmlns:a16="http://schemas.microsoft.com/office/drawing/2014/main" val="3079449547"/>
                  </a:ext>
                </a:extLst>
              </a:tr>
              <a:tr h="317191">
                <a:tc>
                  <a:txBody>
                    <a:bodyPr/>
                    <a:lstStyle/>
                    <a:p>
                      <a:pPr algn="l" fontAlgn="ctr"/>
                      <a:endParaRPr lang="it-IT" sz="1000" b="0" i="0" u="none" strike="noStrike">
                        <a:solidFill>
                          <a:srgbClr val="000000"/>
                        </a:solidFill>
                        <a:effectLst/>
                        <a:latin typeface="Calibri" panose="020F0502020204030204" pitchFamily="34" charset="0"/>
                      </a:endParaRPr>
                    </a:p>
                  </a:txBody>
                  <a:tcPr marL="5036" marR="5036" marT="5036" marB="0" anchor="ctr"/>
                </a:tc>
                <a:tc>
                  <a:txBody>
                    <a:bodyPr/>
                    <a:lstStyle/>
                    <a:p>
                      <a:pPr algn="l" fontAlgn="ctr"/>
                      <a:r>
                        <a:rPr lang="it-IT" sz="1000" u="none" strike="noStrike">
                          <a:effectLst/>
                        </a:rPr>
                        <a:t>SMB / CIFS</a:t>
                      </a:r>
                      <a:endParaRPr lang="it-IT" sz="1000" b="1" i="0" u="none" strike="noStrike">
                        <a:solidFill>
                          <a:srgbClr val="000000"/>
                        </a:solidFill>
                        <a:effectLst/>
                        <a:latin typeface="Calibri" panose="020F0502020204030204" pitchFamily="34" charset="0"/>
                      </a:endParaRPr>
                    </a:p>
                  </a:txBody>
                  <a:tcPr marL="5036" marR="5036" marT="5036" marB="0" anchor="ctr"/>
                </a:tc>
                <a:tc>
                  <a:txBody>
                    <a:bodyPr/>
                    <a:lstStyle/>
                    <a:p>
                      <a:pPr algn="l" fontAlgn="ctr"/>
                      <a:r>
                        <a:rPr lang="it-IT" sz="1000" u="none" strike="noStrike" dirty="0">
                          <a:effectLst/>
                        </a:rPr>
                        <a:t>Condivisione file tra Windows e Linux/</a:t>
                      </a:r>
                      <a:r>
                        <a:rPr lang="it-IT" sz="1000" u="none" strike="noStrike" dirty="0" err="1">
                          <a:effectLst/>
                        </a:rPr>
                        <a:t>macOS</a:t>
                      </a:r>
                      <a:endParaRPr lang="it-IT" sz="1000" b="0" i="0" u="none" strike="noStrike" dirty="0">
                        <a:solidFill>
                          <a:srgbClr val="000000"/>
                        </a:solidFill>
                        <a:effectLst/>
                        <a:latin typeface="Calibri" panose="020F0502020204030204" pitchFamily="34" charset="0"/>
                      </a:endParaRPr>
                    </a:p>
                  </a:txBody>
                  <a:tcPr marL="5036" marR="5036" marT="5036" marB="0" anchor="ctr"/>
                </a:tc>
                <a:tc>
                  <a:txBody>
                    <a:bodyPr/>
                    <a:lstStyle/>
                    <a:p>
                      <a:pPr algn="l" fontAlgn="ctr"/>
                      <a:r>
                        <a:rPr lang="it-IT" sz="1000" u="none" strike="noStrike">
                          <a:effectLst/>
                        </a:rPr>
                        <a:t>Samba (SMB), CIFS</a:t>
                      </a:r>
                      <a:endParaRPr lang="it-IT" sz="1000" b="0" i="0" u="none" strike="noStrike">
                        <a:solidFill>
                          <a:srgbClr val="000000"/>
                        </a:solidFill>
                        <a:effectLst/>
                        <a:latin typeface="Calibri" panose="020F0502020204030204" pitchFamily="34" charset="0"/>
                      </a:endParaRPr>
                    </a:p>
                  </a:txBody>
                  <a:tcPr marL="5036" marR="5036" marT="5036" marB="0" anchor="ctr"/>
                </a:tc>
                <a:tc>
                  <a:txBody>
                    <a:bodyPr/>
                    <a:lstStyle/>
                    <a:p>
                      <a:pPr algn="l" fontAlgn="ctr"/>
                      <a:r>
                        <a:rPr lang="it-IT" sz="1000" u="none" strike="noStrike" dirty="0">
                          <a:effectLst/>
                        </a:rPr>
                        <a:t>A file</a:t>
                      </a:r>
                      <a:endParaRPr lang="it-IT" sz="1000" b="0" i="0" u="none" strike="noStrike" dirty="0">
                        <a:solidFill>
                          <a:srgbClr val="000000"/>
                        </a:solidFill>
                        <a:effectLst/>
                        <a:latin typeface="Calibri" panose="020F0502020204030204" pitchFamily="34" charset="0"/>
                      </a:endParaRPr>
                    </a:p>
                  </a:txBody>
                  <a:tcPr marL="5036" marR="5036" marT="5036" marB="0" anchor="ctr"/>
                </a:tc>
                <a:tc>
                  <a:txBody>
                    <a:bodyPr/>
                    <a:lstStyle/>
                    <a:p>
                      <a:pPr algn="l" fontAlgn="ctr"/>
                      <a:r>
                        <a:rPr lang="it-IT" sz="1000" u="none" strike="noStrike">
                          <a:effectLst/>
                        </a:rPr>
                        <a:t>❌ No</a:t>
                      </a:r>
                      <a:endParaRPr lang="it-IT" sz="1000" b="0" i="0" u="none" strike="noStrike">
                        <a:solidFill>
                          <a:srgbClr val="000000"/>
                        </a:solidFill>
                        <a:effectLst/>
                        <a:latin typeface="Calibri" panose="020F0502020204030204" pitchFamily="34" charset="0"/>
                      </a:endParaRPr>
                    </a:p>
                  </a:txBody>
                  <a:tcPr marL="5036" marR="5036" marT="5036" marB="0" anchor="ctr"/>
                </a:tc>
                <a:extLst>
                  <a:ext uri="{0D108BD9-81ED-4DB2-BD59-A6C34878D82A}">
                    <a16:rowId xmlns:a16="http://schemas.microsoft.com/office/drawing/2014/main" val="710330526"/>
                  </a:ext>
                </a:extLst>
              </a:tr>
              <a:tr h="317191">
                <a:tc>
                  <a:txBody>
                    <a:bodyPr/>
                    <a:lstStyle/>
                    <a:p>
                      <a:pPr algn="l" fontAlgn="ctr"/>
                      <a:endParaRPr lang="it-IT" sz="1000" b="0" i="0" u="none" strike="noStrike">
                        <a:solidFill>
                          <a:srgbClr val="000000"/>
                        </a:solidFill>
                        <a:effectLst/>
                        <a:latin typeface="Calibri" panose="020F0502020204030204" pitchFamily="34" charset="0"/>
                      </a:endParaRPr>
                    </a:p>
                  </a:txBody>
                  <a:tcPr marL="5036" marR="5036" marT="5036" marB="0" anchor="ctr"/>
                </a:tc>
                <a:tc>
                  <a:txBody>
                    <a:bodyPr/>
                    <a:lstStyle/>
                    <a:p>
                      <a:pPr algn="l" fontAlgn="ctr"/>
                      <a:r>
                        <a:rPr lang="it-IT" sz="1000" u="none" strike="noStrike">
                          <a:effectLst/>
                        </a:rPr>
                        <a:t>AFS</a:t>
                      </a:r>
                      <a:endParaRPr lang="it-IT" sz="1000" b="1" i="0" u="none" strike="noStrike">
                        <a:solidFill>
                          <a:srgbClr val="000000"/>
                        </a:solidFill>
                        <a:effectLst/>
                        <a:latin typeface="Calibri" panose="020F0502020204030204" pitchFamily="34" charset="0"/>
                      </a:endParaRPr>
                    </a:p>
                  </a:txBody>
                  <a:tcPr marL="5036" marR="5036" marT="5036" marB="0" anchor="ctr"/>
                </a:tc>
                <a:tc>
                  <a:txBody>
                    <a:bodyPr/>
                    <a:lstStyle/>
                    <a:p>
                      <a:pPr algn="l" fontAlgn="ctr"/>
                      <a:r>
                        <a:rPr lang="it-IT" sz="1000" u="none" strike="noStrike">
                          <a:effectLst/>
                        </a:rPr>
                        <a:t>File system distribuito con caching locale</a:t>
                      </a:r>
                      <a:endParaRPr lang="it-IT" sz="1000" b="0" i="0" u="none" strike="noStrike">
                        <a:solidFill>
                          <a:srgbClr val="000000"/>
                        </a:solidFill>
                        <a:effectLst/>
                        <a:latin typeface="Calibri" panose="020F0502020204030204" pitchFamily="34" charset="0"/>
                      </a:endParaRPr>
                    </a:p>
                  </a:txBody>
                  <a:tcPr marL="5036" marR="5036" marT="5036" marB="0" anchor="ctr"/>
                </a:tc>
                <a:tc>
                  <a:txBody>
                    <a:bodyPr/>
                    <a:lstStyle/>
                    <a:p>
                      <a:pPr algn="l" fontAlgn="ctr"/>
                      <a:r>
                        <a:rPr lang="it-IT" sz="1000" u="none" strike="noStrike">
                          <a:effectLst/>
                        </a:rPr>
                        <a:t>AFS, OpenAFS</a:t>
                      </a:r>
                      <a:endParaRPr lang="it-IT" sz="1000" b="0" i="0" u="none" strike="noStrike">
                        <a:solidFill>
                          <a:srgbClr val="000000"/>
                        </a:solidFill>
                        <a:effectLst/>
                        <a:latin typeface="Calibri" panose="020F0502020204030204" pitchFamily="34" charset="0"/>
                      </a:endParaRPr>
                    </a:p>
                  </a:txBody>
                  <a:tcPr marL="5036" marR="5036" marT="5036" marB="0" anchor="ctr"/>
                </a:tc>
                <a:tc>
                  <a:txBody>
                    <a:bodyPr/>
                    <a:lstStyle/>
                    <a:p>
                      <a:pPr algn="l" fontAlgn="ctr"/>
                      <a:r>
                        <a:rPr lang="it-IT" sz="1000" u="none" strike="noStrike">
                          <a:effectLst/>
                        </a:rPr>
                        <a:t>A file</a:t>
                      </a:r>
                      <a:endParaRPr lang="it-IT" sz="1000" b="0" i="0" u="none" strike="noStrike">
                        <a:solidFill>
                          <a:srgbClr val="000000"/>
                        </a:solidFill>
                        <a:effectLst/>
                        <a:latin typeface="Calibri" panose="020F0502020204030204" pitchFamily="34" charset="0"/>
                      </a:endParaRPr>
                    </a:p>
                  </a:txBody>
                  <a:tcPr marL="5036" marR="5036" marT="5036" marB="0" anchor="ctr"/>
                </a:tc>
                <a:tc>
                  <a:txBody>
                    <a:bodyPr/>
                    <a:lstStyle/>
                    <a:p>
                      <a:pPr algn="l" fontAlgn="ctr"/>
                      <a:r>
                        <a:rPr lang="it-IT" sz="1000" u="none" strike="noStrike">
                          <a:effectLst/>
                        </a:rPr>
                        <a:t>❌ No</a:t>
                      </a:r>
                      <a:endParaRPr lang="it-IT" sz="1000" b="0" i="0" u="none" strike="noStrike">
                        <a:solidFill>
                          <a:srgbClr val="000000"/>
                        </a:solidFill>
                        <a:effectLst/>
                        <a:latin typeface="Calibri" panose="020F0502020204030204" pitchFamily="34" charset="0"/>
                      </a:endParaRPr>
                    </a:p>
                  </a:txBody>
                  <a:tcPr marL="5036" marR="5036" marT="5036" marB="0" anchor="ctr"/>
                </a:tc>
                <a:extLst>
                  <a:ext uri="{0D108BD9-81ED-4DB2-BD59-A6C34878D82A}">
                    <a16:rowId xmlns:a16="http://schemas.microsoft.com/office/drawing/2014/main" val="2189654262"/>
                  </a:ext>
                </a:extLst>
              </a:tr>
              <a:tr h="473209">
                <a:tc>
                  <a:txBody>
                    <a:bodyPr/>
                    <a:lstStyle/>
                    <a:p>
                      <a:pPr algn="l" fontAlgn="ctr"/>
                      <a:r>
                        <a:rPr lang="it-IT" sz="1000" u="none" strike="noStrike">
                          <a:effectLst/>
                        </a:rPr>
                        <a:t>File System Distribuiti</a:t>
                      </a:r>
                      <a:endParaRPr lang="it-IT" sz="1000" b="1" i="0" u="none" strike="noStrike">
                        <a:solidFill>
                          <a:srgbClr val="000000"/>
                        </a:solidFill>
                        <a:effectLst/>
                        <a:latin typeface="Calibri" panose="020F0502020204030204" pitchFamily="34" charset="0"/>
                      </a:endParaRPr>
                    </a:p>
                  </a:txBody>
                  <a:tcPr marL="5036" marR="5036" marT="5036" marB="0" anchor="ctr"/>
                </a:tc>
                <a:tc>
                  <a:txBody>
                    <a:bodyPr/>
                    <a:lstStyle/>
                    <a:p>
                      <a:pPr algn="l" fontAlgn="ctr"/>
                      <a:r>
                        <a:rPr lang="it-IT" sz="1000" u="none" strike="noStrike">
                          <a:effectLst/>
                        </a:rPr>
                        <a:t>CephFS</a:t>
                      </a:r>
                      <a:endParaRPr lang="it-IT" sz="1000" b="1" i="0" u="none" strike="noStrike">
                        <a:solidFill>
                          <a:srgbClr val="000000"/>
                        </a:solidFill>
                        <a:effectLst/>
                        <a:latin typeface="Calibri" panose="020F0502020204030204" pitchFamily="34" charset="0"/>
                      </a:endParaRPr>
                    </a:p>
                  </a:txBody>
                  <a:tcPr marL="5036" marR="5036" marT="5036" marB="0" anchor="ctr"/>
                </a:tc>
                <a:tc>
                  <a:txBody>
                    <a:bodyPr/>
                    <a:lstStyle/>
                    <a:p>
                      <a:pPr algn="l" fontAlgn="ctr"/>
                      <a:r>
                        <a:rPr lang="it-IT" sz="1000" u="none" strike="noStrike">
                          <a:effectLst/>
                        </a:rPr>
                        <a:t>File system distribuito scalabile, usato in cloud e storage distribuiti</a:t>
                      </a:r>
                      <a:endParaRPr lang="it-IT" sz="1000" b="0" i="0" u="none" strike="noStrike">
                        <a:solidFill>
                          <a:srgbClr val="000000"/>
                        </a:solidFill>
                        <a:effectLst/>
                        <a:latin typeface="Calibri" panose="020F0502020204030204" pitchFamily="34" charset="0"/>
                      </a:endParaRPr>
                    </a:p>
                  </a:txBody>
                  <a:tcPr marL="5036" marR="5036" marT="5036" marB="0" anchor="ctr"/>
                </a:tc>
                <a:tc>
                  <a:txBody>
                    <a:bodyPr/>
                    <a:lstStyle/>
                    <a:p>
                      <a:pPr algn="l" fontAlgn="ctr"/>
                      <a:r>
                        <a:rPr lang="it-IT" sz="1000" u="none" strike="noStrike">
                          <a:effectLst/>
                        </a:rPr>
                        <a:t>CephFS</a:t>
                      </a:r>
                      <a:endParaRPr lang="it-IT" sz="1000" b="0" i="0" u="none" strike="noStrike">
                        <a:solidFill>
                          <a:srgbClr val="000000"/>
                        </a:solidFill>
                        <a:effectLst/>
                        <a:latin typeface="Calibri" panose="020F0502020204030204" pitchFamily="34" charset="0"/>
                      </a:endParaRPr>
                    </a:p>
                  </a:txBody>
                  <a:tcPr marL="5036" marR="5036" marT="5036" marB="0" anchor="ctr"/>
                </a:tc>
                <a:tc>
                  <a:txBody>
                    <a:bodyPr/>
                    <a:lstStyle/>
                    <a:p>
                      <a:pPr algn="l" fontAlgn="ctr"/>
                      <a:r>
                        <a:rPr lang="it-IT" sz="1000" u="none" strike="noStrike" dirty="0">
                          <a:effectLst/>
                        </a:rPr>
                        <a:t>A file</a:t>
                      </a:r>
                      <a:endParaRPr lang="it-IT" sz="1000" b="0" i="0" u="none" strike="noStrike" dirty="0">
                        <a:solidFill>
                          <a:srgbClr val="000000"/>
                        </a:solidFill>
                        <a:effectLst/>
                        <a:latin typeface="Calibri" panose="020F0502020204030204" pitchFamily="34" charset="0"/>
                      </a:endParaRPr>
                    </a:p>
                  </a:txBody>
                  <a:tcPr marL="5036" marR="5036" marT="5036" marB="0" anchor="ctr"/>
                </a:tc>
                <a:tc>
                  <a:txBody>
                    <a:bodyPr/>
                    <a:lstStyle/>
                    <a:p>
                      <a:pPr algn="l" fontAlgn="ctr"/>
                      <a:r>
                        <a:rPr lang="it-IT" sz="1000" u="none" strike="noStrike">
                          <a:effectLst/>
                        </a:rPr>
                        <a:t>❌ No (Ceph usa RBD, non iSCSI)</a:t>
                      </a:r>
                      <a:endParaRPr lang="it-IT" sz="1000" b="0" i="0" u="none" strike="noStrike">
                        <a:solidFill>
                          <a:srgbClr val="000000"/>
                        </a:solidFill>
                        <a:effectLst/>
                        <a:latin typeface="Calibri" panose="020F0502020204030204" pitchFamily="34" charset="0"/>
                      </a:endParaRPr>
                    </a:p>
                  </a:txBody>
                  <a:tcPr marL="5036" marR="5036" marT="5036" marB="0" anchor="ctr"/>
                </a:tc>
                <a:extLst>
                  <a:ext uri="{0D108BD9-81ED-4DB2-BD59-A6C34878D82A}">
                    <a16:rowId xmlns:a16="http://schemas.microsoft.com/office/drawing/2014/main" val="888693801"/>
                  </a:ext>
                </a:extLst>
              </a:tr>
              <a:tr h="317191">
                <a:tc>
                  <a:txBody>
                    <a:bodyPr/>
                    <a:lstStyle/>
                    <a:p>
                      <a:pPr algn="l" fontAlgn="ctr"/>
                      <a:endParaRPr lang="it-IT" sz="1000" b="0" i="0" u="none" strike="noStrike">
                        <a:solidFill>
                          <a:srgbClr val="000000"/>
                        </a:solidFill>
                        <a:effectLst/>
                        <a:latin typeface="Calibri" panose="020F0502020204030204" pitchFamily="34" charset="0"/>
                      </a:endParaRPr>
                    </a:p>
                  </a:txBody>
                  <a:tcPr marL="5036" marR="5036" marT="5036" marB="0" anchor="ctr"/>
                </a:tc>
                <a:tc>
                  <a:txBody>
                    <a:bodyPr/>
                    <a:lstStyle/>
                    <a:p>
                      <a:pPr algn="l" fontAlgn="ctr"/>
                      <a:r>
                        <a:rPr lang="it-IT" sz="1000" u="none" strike="noStrike">
                          <a:effectLst/>
                        </a:rPr>
                        <a:t>GlusterFS</a:t>
                      </a:r>
                      <a:endParaRPr lang="it-IT" sz="1000" b="1" i="0" u="none" strike="noStrike">
                        <a:solidFill>
                          <a:srgbClr val="000000"/>
                        </a:solidFill>
                        <a:effectLst/>
                        <a:latin typeface="Calibri" panose="020F0502020204030204" pitchFamily="34" charset="0"/>
                      </a:endParaRPr>
                    </a:p>
                  </a:txBody>
                  <a:tcPr marL="5036" marR="5036" marT="5036" marB="0" anchor="ctr"/>
                </a:tc>
                <a:tc>
                  <a:txBody>
                    <a:bodyPr/>
                    <a:lstStyle/>
                    <a:p>
                      <a:pPr algn="l" fontAlgn="ctr"/>
                      <a:r>
                        <a:rPr lang="it-IT" sz="1000" u="none" strike="noStrike">
                          <a:effectLst/>
                        </a:rPr>
                        <a:t>Storage distribuito scalabile, usato in cluster</a:t>
                      </a:r>
                      <a:endParaRPr lang="it-IT" sz="1000" b="0" i="0" u="none" strike="noStrike">
                        <a:solidFill>
                          <a:srgbClr val="000000"/>
                        </a:solidFill>
                        <a:effectLst/>
                        <a:latin typeface="Calibri" panose="020F0502020204030204" pitchFamily="34" charset="0"/>
                      </a:endParaRPr>
                    </a:p>
                  </a:txBody>
                  <a:tcPr marL="5036" marR="5036" marT="5036" marB="0" anchor="ctr"/>
                </a:tc>
                <a:tc>
                  <a:txBody>
                    <a:bodyPr/>
                    <a:lstStyle/>
                    <a:p>
                      <a:pPr algn="l" fontAlgn="ctr"/>
                      <a:r>
                        <a:rPr lang="it-IT" sz="1000" u="none" strike="noStrike">
                          <a:effectLst/>
                        </a:rPr>
                        <a:t>GlusterFS</a:t>
                      </a:r>
                      <a:endParaRPr lang="it-IT" sz="1000" b="0" i="0" u="none" strike="noStrike">
                        <a:solidFill>
                          <a:srgbClr val="000000"/>
                        </a:solidFill>
                        <a:effectLst/>
                        <a:latin typeface="Calibri" panose="020F0502020204030204" pitchFamily="34" charset="0"/>
                      </a:endParaRPr>
                    </a:p>
                  </a:txBody>
                  <a:tcPr marL="5036" marR="5036" marT="5036" marB="0" anchor="ctr"/>
                </a:tc>
                <a:tc>
                  <a:txBody>
                    <a:bodyPr/>
                    <a:lstStyle/>
                    <a:p>
                      <a:pPr algn="l" fontAlgn="ctr"/>
                      <a:r>
                        <a:rPr lang="it-IT" sz="1000" u="none" strike="noStrike" dirty="0">
                          <a:effectLst/>
                        </a:rPr>
                        <a:t>A file</a:t>
                      </a:r>
                      <a:endParaRPr lang="it-IT" sz="1000" b="0" i="0" u="none" strike="noStrike" dirty="0">
                        <a:solidFill>
                          <a:srgbClr val="000000"/>
                        </a:solidFill>
                        <a:effectLst/>
                        <a:latin typeface="Calibri" panose="020F0502020204030204" pitchFamily="34" charset="0"/>
                      </a:endParaRPr>
                    </a:p>
                  </a:txBody>
                  <a:tcPr marL="5036" marR="5036" marT="5036" marB="0" anchor="ctr"/>
                </a:tc>
                <a:tc>
                  <a:txBody>
                    <a:bodyPr/>
                    <a:lstStyle/>
                    <a:p>
                      <a:pPr algn="l" fontAlgn="ctr"/>
                      <a:r>
                        <a:rPr lang="it-IT" sz="1000" u="none" strike="noStrike">
                          <a:effectLst/>
                        </a:rPr>
                        <a:t>❌ No</a:t>
                      </a:r>
                      <a:endParaRPr lang="it-IT" sz="1000" b="0" i="0" u="none" strike="noStrike">
                        <a:solidFill>
                          <a:srgbClr val="000000"/>
                        </a:solidFill>
                        <a:effectLst/>
                        <a:latin typeface="Calibri" panose="020F0502020204030204" pitchFamily="34" charset="0"/>
                      </a:endParaRPr>
                    </a:p>
                  </a:txBody>
                  <a:tcPr marL="5036" marR="5036" marT="5036" marB="0" anchor="ctr"/>
                </a:tc>
                <a:extLst>
                  <a:ext uri="{0D108BD9-81ED-4DB2-BD59-A6C34878D82A}">
                    <a16:rowId xmlns:a16="http://schemas.microsoft.com/office/drawing/2014/main" val="528726187"/>
                  </a:ext>
                </a:extLst>
              </a:tr>
              <a:tr h="317191">
                <a:tc>
                  <a:txBody>
                    <a:bodyPr/>
                    <a:lstStyle/>
                    <a:p>
                      <a:pPr algn="l" fontAlgn="ctr"/>
                      <a:endParaRPr lang="it-IT" sz="1000" b="0" i="0" u="none" strike="noStrike" dirty="0">
                        <a:solidFill>
                          <a:srgbClr val="000000"/>
                        </a:solidFill>
                        <a:effectLst/>
                        <a:latin typeface="Calibri" panose="020F0502020204030204" pitchFamily="34" charset="0"/>
                      </a:endParaRPr>
                    </a:p>
                  </a:txBody>
                  <a:tcPr marL="5036" marR="5036" marT="5036" marB="0" anchor="ctr"/>
                </a:tc>
                <a:tc>
                  <a:txBody>
                    <a:bodyPr/>
                    <a:lstStyle/>
                    <a:p>
                      <a:pPr algn="l" fontAlgn="ctr"/>
                      <a:r>
                        <a:rPr lang="it-IT" sz="1000" u="none" strike="noStrike">
                          <a:effectLst/>
                        </a:rPr>
                        <a:t>HDFS</a:t>
                      </a:r>
                      <a:endParaRPr lang="it-IT" sz="1000" b="1" i="0" u="none" strike="noStrike">
                        <a:solidFill>
                          <a:srgbClr val="000000"/>
                        </a:solidFill>
                        <a:effectLst/>
                        <a:latin typeface="Calibri" panose="020F0502020204030204" pitchFamily="34" charset="0"/>
                      </a:endParaRPr>
                    </a:p>
                  </a:txBody>
                  <a:tcPr marL="5036" marR="5036" marT="5036" marB="0" anchor="ctr"/>
                </a:tc>
                <a:tc>
                  <a:txBody>
                    <a:bodyPr/>
                    <a:lstStyle/>
                    <a:p>
                      <a:pPr algn="l" fontAlgn="ctr"/>
                      <a:r>
                        <a:rPr lang="en-US" sz="1000" u="none" strike="noStrike">
                          <a:effectLst/>
                        </a:rPr>
                        <a:t>Hadoop Distributed File System, usato per Big Data</a:t>
                      </a:r>
                      <a:endParaRPr lang="en-US" sz="1000" b="0" i="0" u="none" strike="noStrike">
                        <a:solidFill>
                          <a:srgbClr val="000000"/>
                        </a:solidFill>
                        <a:effectLst/>
                        <a:latin typeface="Calibri" panose="020F0502020204030204" pitchFamily="34" charset="0"/>
                      </a:endParaRPr>
                    </a:p>
                  </a:txBody>
                  <a:tcPr marL="5036" marR="5036" marT="5036" marB="0" anchor="ctr"/>
                </a:tc>
                <a:tc>
                  <a:txBody>
                    <a:bodyPr/>
                    <a:lstStyle/>
                    <a:p>
                      <a:pPr algn="l" fontAlgn="ctr"/>
                      <a:r>
                        <a:rPr lang="it-IT" sz="1000" u="none" strike="noStrike">
                          <a:effectLst/>
                        </a:rPr>
                        <a:t>HDFS</a:t>
                      </a:r>
                      <a:endParaRPr lang="it-IT" sz="1000" b="0" i="0" u="none" strike="noStrike">
                        <a:solidFill>
                          <a:srgbClr val="000000"/>
                        </a:solidFill>
                        <a:effectLst/>
                        <a:latin typeface="Calibri" panose="020F0502020204030204" pitchFamily="34" charset="0"/>
                      </a:endParaRPr>
                    </a:p>
                  </a:txBody>
                  <a:tcPr marL="5036" marR="5036" marT="5036" marB="0" anchor="ctr"/>
                </a:tc>
                <a:tc>
                  <a:txBody>
                    <a:bodyPr/>
                    <a:lstStyle/>
                    <a:p>
                      <a:pPr algn="l" fontAlgn="ctr"/>
                      <a:r>
                        <a:rPr lang="it-IT" sz="1000" u="none" strike="noStrike">
                          <a:effectLst/>
                        </a:rPr>
                        <a:t>A file</a:t>
                      </a:r>
                      <a:endParaRPr lang="it-IT" sz="1000" b="0" i="0" u="none" strike="noStrike">
                        <a:solidFill>
                          <a:srgbClr val="000000"/>
                        </a:solidFill>
                        <a:effectLst/>
                        <a:latin typeface="Calibri" panose="020F0502020204030204" pitchFamily="34" charset="0"/>
                      </a:endParaRPr>
                    </a:p>
                  </a:txBody>
                  <a:tcPr marL="5036" marR="5036" marT="5036" marB="0" anchor="ctr"/>
                </a:tc>
                <a:tc>
                  <a:txBody>
                    <a:bodyPr/>
                    <a:lstStyle/>
                    <a:p>
                      <a:pPr algn="l" fontAlgn="ctr"/>
                      <a:r>
                        <a:rPr lang="it-IT" sz="1000" u="none" strike="noStrike" dirty="0">
                          <a:effectLst/>
                        </a:rPr>
                        <a:t>❌ No</a:t>
                      </a:r>
                      <a:endParaRPr lang="it-IT" sz="1000" b="0" i="0" u="none" strike="noStrike" dirty="0">
                        <a:solidFill>
                          <a:srgbClr val="000000"/>
                        </a:solidFill>
                        <a:effectLst/>
                        <a:latin typeface="Calibri" panose="020F0502020204030204" pitchFamily="34" charset="0"/>
                      </a:endParaRPr>
                    </a:p>
                  </a:txBody>
                  <a:tcPr marL="5036" marR="5036" marT="5036" marB="0" anchor="ctr"/>
                </a:tc>
                <a:extLst>
                  <a:ext uri="{0D108BD9-81ED-4DB2-BD59-A6C34878D82A}">
                    <a16:rowId xmlns:a16="http://schemas.microsoft.com/office/drawing/2014/main" val="1481854801"/>
                  </a:ext>
                </a:extLst>
              </a:tr>
              <a:tr h="473209">
                <a:tc>
                  <a:txBody>
                    <a:bodyPr/>
                    <a:lstStyle/>
                    <a:p>
                      <a:pPr algn="l" fontAlgn="ctr"/>
                      <a:r>
                        <a:rPr lang="it-IT" sz="1000" b="0" i="0" u="none" strike="noStrike" dirty="0">
                          <a:solidFill>
                            <a:srgbClr val="000000"/>
                          </a:solidFill>
                          <a:effectLst/>
                          <a:latin typeface="Calibri" panose="020F0502020204030204" pitchFamily="34" charset="0"/>
                        </a:rPr>
                        <a:t>File System Concorrenti</a:t>
                      </a:r>
                    </a:p>
                  </a:txBody>
                  <a:tcPr marL="5036" marR="5036" marT="5036" marB="0" anchor="ctr"/>
                </a:tc>
                <a:tc>
                  <a:txBody>
                    <a:bodyPr/>
                    <a:lstStyle/>
                    <a:p>
                      <a:pPr algn="l" fontAlgn="ctr"/>
                      <a:r>
                        <a:rPr lang="it-IT" sz="1000" u="none" strike="noStrike">
                          <a:effectLst/>
                        </a:rPr>
                        <a:t>GFS2</a:t>
                      </a:r>
                      <a:endParaRPr lang="it-IT" sz="1000" b="1" i="0" u="none" strike="noStrike">
                        <a:solidFill>
                          <a:srgbClr val="000000"/>
                        </a:solidFill>
                        <a:effectLst/>
                        <a:latin typeface="Calibri" panose="020F0502020204030204" pitchFamily="34" charset="0"/>
                      </a:endParaRPr>
                    </a:p>
                  </a:txBody>
                  <a:tcPr marL="5036" marR="5036" marT="5036" marB="0" anchor="ctr"/>
                </a:tc>
                <a:tc>
                  <a:txBody>
                    <a:bodyPr/>
                    <a:lstStyle/>
                    <a:p>
                      <a:pPr algn="l" fontAlgn="ctr"/>
                      <a:r>
                        <a:rPr lang="it-IT" sz="1000" u="none" strike="noStrike">
                          <a:effectLst/>
                        </a:rPr>
                        <a:t>(Global File System 2) File system cluster-aware usato in Red Hat</a:t>
                      </a:r>
                      <a:endParaRPr lang="it-IT" sz="1000" b="0" i="0" u="none" strike="noStrike">
                        <a:solidFill>
                          <a:srgbClr val="000000"/>
                        </a:solidFill>
                        <a:effectLst/>
                        <a:latin typeface="Calibri" panose="020F0502020204030204" pitchFamily="34" charset="0"/>
                      </a:endParaRPr>
                    </a:p>
                  </a:txBody>
                  <a:tcPr marL="5036" marR="5036" marT="5036" marB="0" anchor="ctr"/>
                </a:tc>
                <a:tc>
                  <a:txBody>
                    <a:bodyPr/>
                    <a:lstStyle/>
                    <a:p>
                      <a:pPr algn="l" fontAlgn="ctr"/>
                      <a:r>
                        <a:rPr lang="it-IT" sz="1000" u="none" strike="noStrike">
                          <a:effectLst/>
                        </a:rPr>
                        <a:t>GFS2</a:t>
                      </a:r>
                      <a:endParaRPr lang="it-IT" sz="1000" b="0" i="0" u="none" strike="noStrike">
                        <a:solidFill>
                          <a:srgbClr val="000000"/>
                        </a:solidFill>
                        <a:effectLst/>
                        <a:latin typeface="Calibri" panose="020F0502020204030204" pitchFamily="34" charset="0"/>
                      </a:endParaRPr>
                    </a:p>
                  </a:txBody>
                  <a:tcPr marL="5036" marR="5036" marT="5036" marB="0" anchor="ctr"/>
                </a:tc>
                <a:tc>
                  <a:txBody>
                    <a:bodyPr/>
                    <a:lstStyle/>
                    <a:p>
                      <a:pPr algn="l" fontAlgn="ctr"/>
                      <a:r>
                        <a:rPr lang="it-IT" sz="1000" u="none" strike="noStrike">
                          <a:effectLst/>
                        </a:rPr>
                        <a:t>A blocchi</a:t>
                      </a:r>
                      <a:endParaRPr lang="it-IT" sz="1000" b="0" i="0" u="none" strike="noStrike">
                        <a:solidFill>
                          <a:srgbClr val="000000"/>
                        </a:solidFill>
                        <a:effectLst/>
                        <a:latin typeface="Calibri" panose="020F0502020204030204" pitchFamily="34" charset="0"/>
                      </a:endParaRPr>
                    </a:p>
                  </a:txBody>
                  <a:tcPr marL="5036" marR="5036" marT="5036" marB="0" anchor="ctr"/>
                </a:tc>
                <a:tc>
                  <a:txBody>
                    <a:bodyPr/>
                    <a:lstStyle/>
                    <a:p>
                      <a:pPr algn="l" fontAlgn="ctr"/>
                      <a:r>
                        <a:rPr lang="it-IT" sz="1000" u="none" strike="noStrike" dirty="0">
                          <a:effectLst/>
                        </a:rPr>
                        <a:t>✅ Sì </a:t>
                      </a:r>
                      <a:br>
                        <a:rPr lang="it-IT" sz="1000" u="none" strike="noStrike" dirty="0">
                          <a:effectLst/>
                        </a:rPr>
                      </a:br>
                      <a:r>
                        <a:rPr lang="it-IT" sz="1000" u="none" strike="noStrike" dirty="0">
                          <a:effectLst/>
                        </a:rPr>
                        <a:t>(se usato con</a:t>
                      </a:r>
                      <a:br>
                        <a:rPr lang="it-IT" sz="1000" u="none" strike="noStrike" dirty="0">
                          <a:effectLst/>
                        </a:rPr>
                      </a:br>
                      <a:r>
                        <a:rPr lang="it-IT" sz="1000" u="none" strike="noStrike" dirty="0">
                          <a:effectLst/>
                        </a:rPr>
                        <a:t> LVM su </a:t>
                      </a:r>
                      <a:r>
                        <a:rPr lang="it-IT" sz="1000" u="none" strike="noStrike" dirty="0" err="1">
                          <a:effectLst/>
                        </a:rPr>
                        <a:t>iSCSI</a:t>
                      </a:r>
                      <a:r>
                        <a:rPr lang="it-IT" sz="1000" u="none" strike="noStrike" dirty="0">
                          <a:effectLst/>
                        </a:rPr>
                        <a:t>)</a:t>
                      </a:r>
                      <a:endParaRPr lang="it-IT" sz="1000" b="0" i="0" u="none" strike="noStrike" dirty="0">
                        <a:solidFill>
                          <a:srgbClr val="000000"/>
                        </a:solidFill>
                        <a:effectLst/>
                        <a:latin typeface="Calibri" panose="020F0502020204030204" pitchFamily="34" charset="0"/>
                      </a:endParaRPr>
                    </a:p>
                  </a:txBody>
                  <a:tcPr marL="5036" marR="5036" marT="5036" marB="0" anchor="ctr"/>
                </a:tc>
                <a:extLst>
                  <a:ext uri="{0D108BD9-81ED-4DB2-BD59-A6C34878D82A}">
                    <a16:rowId xmlns:a16="http://schemas.microsoft.com/office/drawing/2014/main" val="545887129"/>
                  </a:ext>
                </a:extLst>
              </a:tr>
              <a:tr h="429502">
                <a:tc>
                  <a:txBody>
                    <a:bodyPr/>
                    <a:lstStyle/>
                    <a:p>
                      <a:pPr algn="l" fontAlgn="ctr"/>
                      <a:endParaRPr lang="it-IT" sz="1000" b="0" i="0" u="none" strike="noStrike" dirty="0">
                        <a:solidFill>
                          <a:srgbClr val="000000"/>
                        </a:solidFill>
                        <a:effectLst/>
                        <a:latin typeface="Calibri" panose="020F0502020204030204" pitchFamily="34" charset="0"/>
                      </a:endParaRPr>
                    </a:p>
                    <a:p>
                      <a:pPr algn="l" fontAlgn="ctr"/>
                      <a:endParaRPr lang="it-IT" sz="1000" b="0" i="0" u="none" strike="noStrike" dirty="0">
                        <a:solidFill>
                          <a:srgbClr val="000000"/>
                        </a:solidFill>
                        <a:effectLst/>
                        <a:latin typeface="Calibri" panose="020F0502020204030204" pitchFamily="34" charset="0"/>
                      </a:endParaRPr>
                    </a:p>
                  </a:txBody>
                  <a:tcPr marL="5036" marR="5036" marT="5036" marB="0" anchor="ctr"/>
                </a:tc>
                <a:tc>
                  <a:txBody>
                    <a:bodyPr/>
                    <a:lstStyle/>
                    <a:p>
                      <a:pPr algn="l" fontAlgn="ctr"/>
                      <a:r>
                        <a:rPr lang="it-IT" sz="1000" u="none" strike="noStrike">
                          <a:effectLst/>
                        </a:rPr>
                        <a:t>OCFS2</a:t>
                      </a:r>
                      <a:endParaRPr lang="it-IT" sz="1000" b="1" i="0" u="none" strike="noStrike">
                        <a:solidFill>
                          <a:srgbClr val="000000"/>
                        </a:solidFill>
                        <a:effectLst/>
                        <a:latin typeface="Calibri" panose="020F0502020204030204" pitchFamily="34" charset="0"/>
                      </a:endParaRPr>
                    </a:p>
                  </a:txBody>
                  <a:tcPr marL="5036" marR="5036" marT="5036" marB="0" anchor="ctr"/>
                </a:tc>
                <a:tc>
                  <a:txBody>
                    <a:bodyPr/>
                    <a:lstStyle/>
                    <a:p>
                      <a:pPr algn="l" fontAlgn="ctr"/>
                      <a:r>
                        <a:rPr lang="it-IT" sz="1000" u="none" strike="noStrike">
                          <a:effectLst/>
                        </a:rPr>
                        <a:t>(Oracle Cluster File System 2) File system cluster per database Oracle</a:t>
                      </a:r>
                      <a:endParaRPr lang="it-IT" sz="1000" b="0" i="0" u="none" strike="noStrike">
                        <a:solidFill>
                          <a:srgbClr val="000000"/>
                        </a:solidFill>
                        <a:effectLst/>
                        <a:latin typeface="Calibri" panose="020F0502020204030204" pitchFamily="34" charset="0"/>
                      </a:endParaRPr>
                    </a:p>
                  </a:txBody>
                  <a:tcPr marL="5036" marR="5036" marT="5036" marB="0" anchor="ctr"/>
                </a:tc>
                <a:tc>
                  <a:txBody>
                    <a:bodyPr/>
                    <a:lstStyle/>
                    <a:p>
                      <a:pPr algn="l" fontAlgn="ctr"/>
                      <a:r>
                        <a:rPr lang="it-IT" sz="1000" u="none" strike="noStrike">
                          <a:effectLst/>
                        </a:rPr>
                        <a:t>OCFS2</a:t>
                      </a:r>
                      <a:endParaRPr lang="it-IT" sz="1000" b="0" i="0" u="none" strike="noStrike">
                        <a:solidFill>
                          <a:srgbClr val="000000"/>
                        </a:solidFill>
                        <a:effectLst/>
                        <a:latin typeface="Calibri" panose="020F0502020204030204" pitchFamily="34" charset="0"/>
                      </a:endParaRPr>
                    </a:p>
                  </a:txBody>
                  <a:tcPr marL="5036" marR="5036" marT="5036" marB="0" anchor="ctr"/>
                </a:tc>
                <a:tc>
                  <a:txBody>
                    <a:bodyPr/>
                    <a:lstStyle/>
                    <a:p>
                      <a:pPr algn="l" fontAlgn="ctr"/>
                      <a:r>
                        <a:rPr lang="it-IT" sz="1000" u="none" strike="noStrike" dirty="0">
                          <a:effectLst/>
                        </a:rPr>
                        <a:t>A blocchi</a:t>
                      </a:r>
                      <a:endParaRPr lang="it-IT" sz="1000" b="0" i="0" u="none" strike="noStrike" dirty="0">
                        <a:solidFill>
                          <a:srgbClr val="000000"/>
                        </a:solidFill>
                        <a:effectLst/>
                        <a:latin typeface="Calibri" panose="020F0502020204030204" pitchFamily="34" charset="0"/>
                      </a:endParaRPr>
                    </a:p>
                  </a:txBody>
                  <a:tcPr marL="5036" marR="5036" marT="5036" marB="0" anchor="ctr"/>
                </a:tc>
                <a:tc>
                  <a:txBody>
                    <a:bodyPr/>
                    <a:lstStyle/>
                    <a:p>
                      <a:pPr algn="l" fontAlgn="ctr"/>
                      <a:r>
                        <a:rPr lang="it-IT" sz="1000" u="none" strike="noStrike" dirty="0">
                          <a:effectLst/>
                        </a:rPr>
                        <a:t>✅ Sì</a:t>
                      </a:r>
                      <a:endParaRPr lang="it-IT" sz="1000" b="0" i="0" u="none" strike="noStrike" dirty="0">
                        <a:solidFill>
                          <a:srgbClr val="000000"/>
                        </a:solidFill>
                        <a:effectLst/>
                        <a:latin typeface="Calibri" panose="020F0502020204030204" pitchFamily="34" charset="0"/>
                      </a:endParaRPr>
                    </a:p>
                  </a:txBody>
                  <a:tcPr marL="5036" marR="5036" marT="5036" marB="0" anchor="ctr"/>
                </a:tc>
                <a:extLst>
                  <a:ext uri="{0D108BD9-81ED-4DB2-BD59-A6C34878D82A}">
                    <a16:rowId xmlns:a16="http://schemas.microsoft.com/office/drawing/2014/main" val="3284197753"/>
                  </a:ext>
                </a:extLst>
              </a:tr>
              <a:tr h="429502">
                <a:tc>
                  <a:txBody>
                    <a:bodyPr/>
                    <a:lstStyle/>
                    <a:p>
                      <a:pPr algn="l" fontAlgn="ctr"/>
                      <a:endParaRPr lang="it-IT" sz="1000" b="0" i="0" u="none" strike="noStrike" dirty="0">
                        <a:solidFill>
                          <a:srgbClr val="000000"/>
                        </a:solidFill>
                        <a:effectLst/>
                        <a:latin typeface="Calibri" panose="020F0502020204030204" pitchFamily="34" charset="0"/>
                      </a:endParaRPr>
                    </a:p>
                  </a:txBody>
                  <a:tcPr marL="5036" marR="5036" marT="5036" marB="0" anchor="ctr"/>
                </a:tc>
                <a:tc>
                  <a:txBody>
                    <a:bodyPr/>
                    <a:lstStyle/>
                    <a:p>
                      <a:pPr algn="l" fontAlgn="ctr"/>
                      <a:r>
                        <a:rPr lang="it-IT" sz="1000" b="0" i="0" u="none" strike="noStrike" dirty="0">
                          <a:solidFill>
                            <a:srgbClr val="000000"/>
                          </a:solidFill>
                          <a:effectLst/>
                          <a:latin typeface="Calibri" panose="020F0502020204030204" pitchFamily="34" charset="0"/>
                        </a:rPr>
                        <a:t>VMFS</a:t>
                      </a:r>
                    </a:p>
                  </a:txBody>
                  <a:tcPr marL="5036" marR="5036" marT="5036" marB="0" anchor="ctr"/>
                </a:tc>
                <a:tc>
                  <a:txBody>
                    <a:bodyPr/>
                    <a:lstStyle/>
                    <a:p>
                      <a:pPr algn="l" fontAlgn="ctr"/>
                      <a:r>
                        <a:rPr lang="it-IT" sz="1000" b="0" i="0" u="none" strike="noStrike" dirty="0">
                          <a:solidFill>
                            <a:srgbClr val="000000"/>
                          </a:solidFill>
                          <a:effectLst/>
                          <a:latin typeface="Calibri" panose="020F0502020204030204" pitchFamily="34" charset="0"/>
                        </a:rPr>
                        <a:t>File System </a:t>
                      </a:r>
                      <a:r>
                        <a:rPr lang="it-IT" sz="1000" b="0" i="0" u="none" strike="noStrike" dirty="0" err="1">
                          <a:solidFill>
                            <a:srgbClr val="000000"/>
                          </a:solidFill>
                          <a:effectLst/>
                          <a:latin typeface="Calibri" panose="020F0502020204030204" pitchFamily="34" charset="0"/>
                        </a:rPr>
                        <a:t>Vmware</a:t>
                      </a:r>
                      <a:r>
                        <a:rPr lang="it-IT" sz="1000" b="0" i="0" u="none" strike="noStrike" dirty="0">
                          <a:solidFill>
                            <a:srgbClr val="000000"/>
                          </a:solidFill>
                          <a:effectLst/>
                          <a:latin typeface="Calibri" panose="020F0502020204030204" pitchFamily="34" charset="0"/>
                        </a:rPr>
                        <a:t> per </a:t>
                      </a:r>
                      <a:r>
                        <a:rPr lang="it-IT" sz="1000" b="0" i="0" u="none" strike="noStrike" dirty="0" err="1">
                          <a:solidFill>
                            <a:srgbClr val="000000"/>
                          </a:solidFill>
                          <a:effectLst/>
                          <a:latin typeface="Calibri" panose="020F0502020204030204" pitchFamily="34" charset="0"/>
                        </a:rPr>
                        <a:t>datastore</a:t>
                      </a:r>
                      <a:r>
                        <a:rPr lang="it-IT" sz="1000" b="0" i="0" u="none" strike="noStrike" dirty="0">
                          <a:solidFill>
                            <a:srgbClr val="000000"/>
                          </a:solidFill>
                          <a:effectLst/>
                          <a:latin typeface="Calibri" panose="020F0502020204030204" pitchFamily="34" charset="0"/>
                        </a:rPr>
                        <a:t> </a:t>
                      </a:r>
                      <a:r>
                        <a:rPr lang="it-IT" sz="1000" b="0" i="0" u="none" strike="noStrike" dirty="0" err="1">
                          <a:solidFill>
                            <a:srgbClr val="000000"/>
                          </a:solidFill>
                          <a:effectLst/>
                          <a:latin typeface="Calibri" panose="020F0502020204030204" pitchFamily="34" charset="0"/>
                        </a:rPr>
                        <a:t>ESXi</a:t>
                      </a:r>
                      <a:endParaRPr lang="it-IT" sz="1000" b="0" i="0" u="none" strike="noStrike" dirty="0">
                        <a:solidFill>
                          <a:srgbClr val="000000"/>
                        </a:solidFill>
                        <a:effectLst/>
                        <a:latin typeface="Calibri" panose="020F0502020204030204" pitchFamily="34" charset="0"/>
                      </a:endParaRPr>
                    </a:p>
                  </a:txBody>
                  <a:tcPr marL="5036" marR="5036" marT="5036" marB="0" anchor="ctr"/>
                </a:tc>
                <a:tc>
                  <a:txBody>
                    <a:bodyPr/>
                    <a:lstStyle/>
                    <a:p>
                      <a:pPr algn="l" fontAlgn="ctr"/>
                      <a:r>
                        <a:rPr lang="it-IT" sz="1000" b="0" i="0" u="none" strike="noStrike" dirty="0">
                          <a:solidFill>
                            <a:srgbClr val="000000"/>
                          </a:solidFill>
                          <a:effectLst/>
                          <a:latin typeface="Calibri" panose="020F0502020204030204" pitchFamily="34" charset="0"/>
                        </a:rPr>
                        <a:t>VMFS</a:t>
                      </a:r>
                    </a:p>
                  </a:txBody>
                  <a:tcPr marL="5036" marR="5036" marT="5036" marB="0" anchor="ctr"/>
                </a:tc>
                <a:tc>
                  <a:txBody>
                    <a:bodyPr/>
                    <a:lstStyle/>
                    <a:p>
                      <a:pPr algn="l" fontAlgn="ctr"/>
                      <a:r>
                        <a:rPr lang="it-IT" sz="1000" b="0" i="0" u="none" strike="noStrike" dirty="0">
                          <a:solidFill>
                            <a:srgbClr val="000000"/>
                          </a:solidFill>
                          <a:effectLst/>
                          <a:latin typeface="Calibri" panose="020F0502020204030204" pitchFamily="34" charset="0"/>
                        </a:rPr>
                        <a:t>A blocchi</a:t>
                      </a:r>
                    </a:p>
                  </a:txBody>
                  <a:tcPr marL="5036" marR="5036" marT="5036" marB="0" anchor="ctr"/>
                </a:tc>
                <a:tc>
                  <a:txBody>
                    <a:bodyPr/>
                    <a:lstStyle/>
                    <a:p>
                      <a:pPr algn="l" fontAlgn="ctr"/>
                      <a:r>
                        <a:rPr lang="it-IT" sz="1000" dirty="0"/>
                        <a:t>✅ Sì (su </a:t>
                      </a:r>
                      <a:r>
                        <a:rPr lang="it-IT" sz="1000" dirty="0" err="1"/>
                        <a:t>iSCSI</a:t>
                      </a:r>
                      <a:r>
                        <a:rPr lang="it-IT" sz="1000" dirty="0"/>
                        <a:t>, FC)</a:t>
                      </a:r>
                      <a:endParaRPr lang="it-IT" sz="1000" b="0" i="0" u="none" strike="noStrike" dirty="0">
                        <a:solidFill>
                          <a:srgbClr val="000000"/>
                        </a:solidFill>
                        <a:effectLst/>
                        <a:latin typeface="Calibri" panose="020F0502020204030204" pitchFamily="34" charset="0"/>
                      </a:endParaRPr>
                    </a:p>
                  </a:txBody>
                  <a:tcPr marL="5036" marR="5036" marT="5036" marB="0" anchor="ctr"/>
                </a:tc>
                <a:extLst>
                  <a:ext uri="{0D108BD9-81ED-4DB2-BD59-A6C34878D82A}">
                    <a16:rowId xmlns:a16="http://schemas.microsoft.com/office/drawing/2014/main" val="1097155259"/>
                  </a:ext>
                </a:extLst>
              </a:tr>
            </a:tbl>
          </a:graphicData>
        </a:graphic>
      </p:graphicFrame>
      <p:pic>
        <p:nvPicPr>
          <p:cNvPr id="5" name="Immagine 4">
            <a:extLst>
              <a:ext uri="{FF2B5EF4-FFF2-40B4-BE49-F238E27FC236}">
                <a16:creationId xmlns:a16="http://schemas.microsoft.com/office/drawing/2014/main" id="{39460F54-463B-407A-A266-B71CECCAFC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15412" y="4657725"/>
            <a:ext cx="2986088" cy="1990725"/>
          </a:xfrm>
          <a:prstGeom prst="rect">
            <a:avLst/>
          </a:prstGeom>
        </p:spPr>
      </p:pic>
    </p:spTree>
    <p:extLst>
      <p:ext uri="{BB962C8B-B14F-4D97-AF65-F5344CB8AC3E}">
        <p14:creationId xmlns:p14="http://schemas.microsoft.com/office/powerpoint/2010/main" val="33080468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C26327E-0E03-45A7-AB15-1B0887C3FD92}"/>
              </a:ext>
            </a:extLst>
          </p:cNvPr>
          <p:cNvSpPr>
            <a:spLocks noGrp="1"/>
          </p:cNvSpPr>
          <p:nvPr>
            <p:ph type="title"/>
          </p:nvPr>
        </p:nvSpPr>
        <p:spPr/>
        <p:txBody>
          <a:bodyPr/>
          <a:lstStyle/>
          <a:p>
            <a:r>
              <a:rPr lang="it-IT" dirty="0">
                <a:solidFill>
                  <a:srgbClr val="0070C0"/>
                </a:solidFill>
                <a:effectLst/>
                <a:latin typeface="Coli"/>
                <a:ea typeface="Times New Roman" panose="02020603050405020304" pitchFamily="18" charset="0"/>
              </a:rPr>
              <a:t>Virtualizzazione Storage 4/4</a:t>
            </a:r>
            <a:endParaRPr lang="it-IT" dirty="0"/>
          </a:p>
        </p:txBody>
      </p:sp>
      <p:sp>
        <p:nvSpPr>
          <p:cNvPr id="5" name="CasellaDiTesto 4">
            <a:extLst>
              <a:ext uri="{FF2B5EF4-FFF2-40B4-BE49-F238E27FC236}">
                <a16:creationId xmlns:a16="http://schemas.microsoft.com/office/drawing/2014/main" id="{B6ED9F09-7AE4-498B-AEFB-60A46CBAB7F7}"/>
              </a:ext>
            </a:extLst>
          </p:cNvPr>
          <p:cNvSpPr txBox="1"/>
          <p:nvPr/>
        </p:nvSpPr>
        <p:spPr>
          <a:xfrm>
            <a:off x="455150" y="1431056"/>
            <a:ext cx="11251630" cy="5139869"/>
          </a:xfrm>
          <a:prstGeom prst="rect">
            <a:avLst/>
          </a:prstGeom>
          <a:noFill/>
        </p:spPr>
        <p:txBody>
          <a:bodyPr wrap="square">
            <a:spAutoFit/>
          </a:bodyPr>
          <a:lstStyle/>
          <a:p>
            <a:r>
              <a:rPr lang="it-IT" b="1" dirty="0"/>
              <a:t>LVM (</a:t>
            </a:r>
            <a:r>
              <a:rPr lang="it-IT" b="1" dirty="0" err="1"/>
              <a:t>Logical</a:t>
            </a:r>
            <a:r>
              <a:rPr lang="it-IT" b="1" dirty="0"/>
              <a:t> Volume Manager)</a:t>
            </a:r>
            <a:r>
              <a:rPr lang="it-IT" dirty="0"/>
              <a:t> è una tecnologia di gestione dei volumi logici </a:t>
            </a:r>
            <a:br>
              <a:rPr lang="it-IT" dirty="0"/>
            </a:br>
            <a:r>
              <a:rPr lang="it-IT" dirty="0"/>
              <a:t>in Linux, che offre una maggiore flessibilità nella gestione dei dispositivi di </a:t>
            </a:r>
            <a:br>
              <a:rPr lang="it-IT" dirty="0"/>
            </a:br>
            <a:r>
              <a:rPr lang="it-IT" dirty="0"/>
              <a:t>archiviazione rispetto ai tradizionali file system basati su partizioni fisse.</a:t>
            </a:r>
          </a:p>
          <a:p>
            <a:r>
              <a:rPr lang="it-IT" b="1" dirty="0"/>
              <a:t>Caratteristiche principali di LVM:</a:t>
            </a:r>
          </a:p>
          <a:p>
            <a:pPr marL="742950" lvl="1" indent="-285750">
              <a:buFont typeface="Arial" panose="020B0604020202020204" pitchFamily="34" charset="0"/>
              <a:buChar char="•"/>
            </a:pPr>
            <a:r>
              <a:rPr lang="it-IT" sz="1600" b="1" dirty="0"/>
              <a:t>Gestione dinamica dei volumi</a:t>
            </a:r>
            <a:r>
              <a:rPr lang="it-IT" sz="1600" dirty="0"/>
              <a:t>:</a:t>
            </a:r>
            <a:br>
              <a:rPr lang="it-IT" sz="1600" dirty="0"/>
            </a:br>
            <a:r>
              <a:rPr lang="it-IT" sz="1600" dirty="0"/>
              <a:t>LVM permette di creare </a:t>
            </a:r>
            <a:r>
              <a:rPr lang="it-IT" sz="1600" b="1" dirty="0"/>
              <a:t>volumi logici</a:t>
            </a:r>
            <a:r>
              <a:rPr lang="it-IT" sz="1600" dirty="0"/>
              <a:t> che si estendono su più dischi fisici, senza limitarsi alle partizioni 	tradizionali. In pratica, puoi trattare il tuo storage come un insieme logico anziché come singoli dispositivi 	fisici.</a:t>
            </a:r>
          </a:p>
          <a:p>
            <a:pPr marL="742950" lvl="1" indent="-285750">
              <a:buFont typeface="Arial" panose="020B0604020202020204" pitchFamily="34" charset="0"/>
              <a:buChar char="•"/>
            </a:pPr>
            <a:r>
              <a:rPr lang="it-IT" sz="1600" b="1" dirty="0"/>
              <a:t>Espansione e riduzione dei volumi</a:t>
            </a:r>
            <a:r>
              <a:rPr lang="it-IT" sz="1600" dirty="0"/>
              <a:t>:</a:t>
            </a:r>
            <a:br>
              <a:rPr lang="it-IT" sz="1600" dirty="0"/>
            </a:br>
            <a:r>
              <a:rPr lang="it-IT" sz="1600" dirty="0"/>
              <a:t>Puoi </a:t>
            </a:r>
            <a:r>
              <a:rPr lang="it-IT" sz="1600" b="1" dirty="0"/>
              <a:t>aumentare</a:t>
            </a:r>
            <a:r>
              <a:rPr lang="it-IT" sz="1600" dirty="0"/>
              <a:t> o </a:t>
            </a:r>
            <a:r>
              <a:rPr lang="it-IT" sz="1600" b="1" dirty="0"/>
              <a:t>ridurre</a:t>
            </a:r>
            <a:r>
              <a:rPr lang="it-IT" sz="1600" dirty="0"/>
              <a:t> la capacità di un volume logico in modo dinamico, senza la necessità di riformattare il disco o fermare il sistema. Questo rende LVM molto utile per ambienti in cui la gestione dello spazio di archiviazione deve essere flessibile.</a:t>
            </a:r>
          </a:p>
          <a:p>
            <a:pPr marL="742950" lvl="1" indent="-285750">
              <a:buFont typeface="Arial" panose="020B0604020202020204" pitchFamily="34" charset="0"/>
              <a:buChar char="•"/>
            </a:pPr>
            <a:r>
              <a:rPr lang="it-IT" sz="1600" b="1" dirty="0"/>
              <a:t>Snapshot</a:t>
            </a:r>
            <a:r>
              <a:rPr lang="it-IT" sz="1600" dirty="0"/>
              <a:t>:</a:t>
            </a:r>
            <a:br>
              <a:rPr lang="it-IT" sz="1600" dirty="0"/>
            </a:br>
            <a:r>
              <a:rPr lang="it-IT" sz="1600" dirty="0"/>
              <a:t>LVM supporta la creazione di </a:t>
            </a:r>
            <a:r>
              <a:rPr lang="it-IT" sz="1600" b="1" dirty="0"/>
              <a:t>snapshot</a:t>
            </a:r>
            <a:r>
              <a:rPr lang="it-IT" sz="1600" dirty="0"/>
              <a:t>, che ti permette di fare una "copia istantanea" di un volume logico per fare backup o test senza compromettere i dati originali.</a:t>
            </a:r>
          </a:p>
          <a:p>
            <a:pPr marL="742950" lvl="1" indent="-285750">
              <a:buFont typeface="Arial" panose="020B0604020202020204" pitchFamily="34" charset="0"/>
              <a:buChar char="•"/>
            </a:pPr>
            <a:r>
              <a:rPr lang="it-IT" sz="1600" b="1" dirty="0"/>
              <a:t>Gestione dello spazio su più dischi</a:t>
            </a:r>
            <a:r>
              <a:rPr lang="it-IT" sz="1600" dirty="0"/>
              <a:t>:</a:t>
            </a:r>
            <a:br>
              <a:rPr lang="it-IT" sz="1600" dirty="0"/>
            </a:br>
            <a:r>
              <a:rPr lang="it-IT" sz="1600" dirty="0"/>
              <a:t>Con LVM, puoi combinare più dischi fisici in un </a:t>
            </a:r>
            <a:r>
              <a:rPr lang="it-IT" sz="1600" b="1" dirty="0"/>
              <a:t>Volume Group (VG)</a:t>
            </a:r>
            <a:r>
              <a:rPr lang="it-IT" sz="1600" dirty="0"/>
              <a:t> e suddividerlo in </a:t>
            </a:r>
            <a:r>
              <a:rPr lang="it-IT" sz="1600" b="1" dirty="0" err="1"/>
              <a:t>Logical</a:t>
            </a:r>
            <a:r>
              <a:rPr lang="it-IT" sz="1600" b="1" dirty="0"/>
              <a:t> </a:t>
            </a:r>
            <a:r>
              <a:rPr lang="it-IT" sz="1600" b="1" dirty="0" err="1"/>
              <a:t>Volumes</a:t>
            </a:r>
            <a:r>
              <a:rPr lang="it-IT" sz="1600" b="1" dirty="0"/>
              <a:t> (LV)</a:t>
            </a:r>
            <a:r>
              <a:rPr lang="it-IT" sz="1600" dirty="0"/>
              <a:t>. In altre parole, puoi trattare diverse unità fisiche come un unico grande volume.</a:t>
            </a:r>
          </a:p>
          <a:p>
            <a:pPr marL="742950" lvl="1" indent="-285750">
              <a:buFont typeface="Arial" panose="020B0604020202020204" pitchFamily="34" charset="0"/>
              <a:buChar char="•"/>
            </a:pPr>
            <a:r>
              <a:rPr lang="it-IT" sz="1600" b="1" dirty="0"/>
              <a:t>LVM Cluster</a:t>
            </a:r>
            <a:r>
              <a:rPr lang="it-IT" sz="1600" dirty="0"/>
              <a:t> consente a più nodi di un cluster di accedere in modo sicuro ai volumi LVM condivisi. L'uso di LVM Cluster implica che ogni nodo sia consapevole dei volumi logici che sono stati creati e che ci sia un meccanismo di </a:t>
            </a:r>
            <a:r>
              <a:rPr lang="it-IT" sz="1600" b="1" dirty="0" err="1"/>
              <a:t>locking</a:t>
            </a:r>
            <a:r>
              <a:rPr lang="it-IT" sz="1600" dirty="0"/>
              <a:t> per evitare che due nodi scrivano simultaneamente sugli stessi dati.</a:t>
            </a:r>
          </a:p>
        </p:txBody>
      </p:sp>
      <p:pic>
        <p:nvPicPr>
          <p:cNvPr id="4" name="Immagine 3">
            <a:extLst>
              <a:ext uri="{FF2B5EF4-FFF2-40B4-BE49-F238E27FC236}">
                <a16:creationId xmlns:a16="http://schemas.microsoft.com/office/drawing/2014/main" id="{6A013BE0-EBBD-4749-B196-1202160908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21602" y="365125"/>
            <a:ext cx="3706394" cy="2075581"/>
          </a:xfrm>
          <a:prstGeom prst="rect">
            <a:avLst/>
          </a:prstGeom>
        </p:spPr>
      </p:pic>
    </p:spTree>
    <p:extLst>
      <p:ext uri="{BB962C8B-B14F-4D97-AF65-F5344CB8AC3E}">
        <p14:creationId xmlns:p14="http://schemas.microsoft.com/office/powerpoint/2010/main" val="21101230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C26327E-0E03-45A7-AB15-1B0887C3FD92}"/>
              </a:ext>
            </a:extLst>
          </p:cNvPr>
          <p:cNvSpPr>
            <a:spLocks noGrp="1"/>
          </p:cNvSpPr>
          <p:nvPr>
            <p:ph type="title"/>
          </p:nvPr>
        </p:nvSpPr>
        <p:spPr/>
        <p:txBody>
          <a:bodyPr/>
          <a:lstStyle/>
          <a:p>
            <a:r>
              <a:rPr lang="it-IT" dirty="0" err="1">
                <a:solidFill>
                  <a:srgbClr val="0070C0"/>
                </a:solidFill>
                <a:effectLst/>
                <a:latin typeface="Coli"/>
                <a:ea typeface="Times New Roman" panose="02020603050405020304" pitchFamily="18" charset="0"/>
              </a:rPr>
              <a:t>Proxmox</a:t>
            </a:r>
            <a:r>
              <a:rPr lang="it-IT">
                <a:solidFill>
                  <a:srgbClr val="0070C0"/>
                </a:solidFill>
                <a:effectLst/>
                <a:latin typeface="Coli"/>
                <a:ea typeface="Times New Roman" panose="02020603050405020304" pitchFamily="18" charset="0"/>
              </a:rPr>
              <a:t> 1/4</a:t>
            </a:r>
            <a:endParaRPr lang="it-IT" dirty="0"/>
          </a:p>
        </p:txBody>
      </p:sp>
      <p:sp>
        <p:nvSpPr>
          <p:cNvPr id="19" name="CasellaDiTesto 18">
            <a:extLst>
              <a:ext uri="{FF2B5EF4-FFF2-40B4-BE49-F238E27FC236}">
                <a16:creationId xmlns:a16="http://schemas.microsoft.com/office/drawing/2014/main" id="{06DC6471-4339-4F72-92AC-73CA3F604485}"/>
              </a:ext>
            </a:extLst>
          </p:cNvPr>
          <p:cNvSpPr txBox="1"/>
          <p:nvPr/>
        </p:nvSpPr>
        <p:spPr>
          <a:xfrm>
            <a:off x="669129" y="1601885"/>
            <a:ext cx="2913746" cy="369332"/>
          </a:xfrm>
          <a:prstGeom prst="rect">
            <a:avLst/>
          </a:prstGeom>
          <a:noFill/>
        </p:spPr>
        <p:txBody>
          <a:bodyPr wrap="none" rtlCol="0">
            <a:spAutoFit/>
          </a:bodyPr>
          <a:lstStyle/>
          <a:p>
            <a:r>
              <a:rPr lang="it-IT" dirty="0"/>
              <a:t>Virtualizzazione Open Source</a:t>
            </a:r>
          </a:p>
        </p:txBody>
      </p:sp>
      <p:sp>
        <p:nvSpPr>
          <p:cNvPr id="20" name="CasellaDiTesto 19">
            <a:extLst>
              <a:ext uri="{FF2B5EF4-FFF2-40B4-BE49-F238E27FC236}">
                <a16:creationId xmlns:a16="http://schemas.microsoft.com/office/drawing/2014/main" id="{C9A6D6B7-3CD0-461B-8867-64C36DF8FA78}"/>
              </a:ext>
            </a:extLst>
          </p:cNvPr>
          <p:cNvSpPr txBox="1"/>
          <p:nvPr/>
        </p:nvSpPr>
        <p:spPr>
          <a:xfrm>
            <a:off x="669128" y="2097185"/>
            <a:ext cx="4626010" cy="369332"/>
          </a:xfrm>
          <a:prstGeom prst="rect">
            <a:avLst/>
          </a:prstGeom>
          <a:noFill/>
        </p:spPr>
        <p:txBody>
          <a:bodyPr wrap="none" rtlCol="0">
            <a:spAutoFit/>
          </a:bodyPr>
          <a:lstStyle/>
          <a:p>
            <a:r>
              <a:rPr lang="it-IT" dirty="0"/>
              <a:t>Supporta KVM (Kernel-</a:t>
            </a:r>
            <a:r>
              <a:rPr lang="it-IT" dirty="0" err="1"/>
              <a:t>based</a:t>
            </a:r>
            <a:r>
              <a:rPr lang="it-IT" dirty="0"/>
              <a:t> Virtual Machine) </a:t>
            </a:r>
          </a:p>
        </p:txBody>
      </p:sp>
      <p:sp>
        <p:nvSpPr>
          <p:cNvPr id="21" name="CasellaDiTesto 20">
            <a:extLst>
              <a:ext uri="{FF2B5EF4-FFF2-40B4-BE49-F238E27FC236}">
                <a16:creationId xmlns:a16="http://schemas.microsoft.com/office/drawing/2014/main" id="{37C258D1-0DDD-4750-803A-682B3CE132E9}"/>
              </a:ext>
            </a:extLst>
          </p:cNvPr>
          <p:cNvSpPr txBox="1"/>
          <p:nvPr/>
        </p:nvSpPr>
        <p:spPr>
          <a:xfrm>
            <a:off x="643160" y="3216491"/>
            <a:ext cx="1430584" cy="369332"/>
          </a:xfrm>
          <a:prstGeom prst="rect">
            <a:avLst/>
          </a:prstGeom>
          <a:noFill/>
        </p:spPr>
        <p:txBody>
          <a:bodyPr wrap="none" rtlCol="0">
            <a:spAutoFit/>
          </a:bodyPr>
          <a:lstStyle/>
          <a:p>
            <a:r>
              <a:rPr lang="it-IT" dirty="0"/>
              <a:t>Supporta LXC</a:t>
            </a:r>
          </a:p>
        </p:txBody>
      </p:sp>
      <p:sp>
        <p:nvSpPr>
          <p:cNvPr id="22" name="CasellaDiTesto 21">
            <a:extLst>
              <a:ext uri="{FF2B5EF4-FFF2-40B4-BE49-F238E27FC236}">
                <a16:creationId xmlns:a16="http://schemas.microsoft.com/office/drawing/2014/main" id="{8F6CCA63-BB42-4EAE-B04B-3062998B2127}"/>
              </a:ext>
            </a:extLst>
          </p:cNvPr>
          <p:cNvSpPr txBox="1"/>
          <p:nvPr/>
        </p:nvSpPr>
        <p:spPr>
          <a:xfrm>
            <a:off x="643160" y="3773585"/>
            <a:ext cx="4000711" cy="369332"/>
          </a:xfrm>
          <a:prstGeom prst="rect">
            <a:avLst/>
          </a:prstGeom>
          <a:noFill/>
        </p:spPr>
        <p:txBody>
          <a:bodyPr wrap="none" rtlCol="0">
            <a:spAutoFit/>
          </a:bodyPr>
          <a:lstStyle/>
          <a:p>
            <a:r>
              <a:rPr lang="it-IT" dirty="0"/>
              <a:t>Gestione di cluster con applicazione web</a:t>
            </a:r>
          </a:p>
        </p:txBody>
      </p:sp>
      <p:sp>
        <p:nvSpPr>
          <p:cNvPr id="23" name="CasellaDiTesto 22">
            <a:extLst>
              <a:ext uri="{FF2B5EF4-FFF2-40B4-BE49-F238E27FC236}">
                <a16:creationId xmlns:a16="http://schemas.microsoft.com/office/drawing/2014/main" id="{5BBB61AC-078E-4B9F-81D1-51D27D6212C3}"/>
              </a:ext>
            </a:extLst>
          </p:cNvPr>
          <p:cNvSpPr txBox="1"/>
          <p:nvPr/>
        </p:nvSpPr>
        <p:spPr>
          <a:xfrm>
            <a:off x="643160" y="4308533"/>
            <a:ext cx="2823850" cy="369332"/>
          </a:xfrm>
          <a:prstGeom prst="rect">
            <a:avLst/>
          </a:prstGeom>
          <a:noFill/>
        </p:spPr>
        <p:txBody>
          <a:bodyPr wrap="none" rtlCol="0">
            <a:spAutoFit/>
          </a:bodyPr>
          <a:lstStyle/>
          <a:p>
            <a:r>
              <a:rPr lang="it-IT" dirty="0"/>
              <a:t>Backup e ripristino integrati</a:t>
            </a:r>
          </a:p>
        </p:txBody>
      </p:sp>
      <p:sp>
        <p:nvSpPr>
          <p:cNvPr id="24" name="CasellaDiTesto 23">
            <a:extLst>
              <a:ext uri="{FF2B5EF4-FFF2-40B4-BE49-F238E27FC236}">
                <a16:creationId xmlns:a16="http://schemas.microsoft.com/office/drawing/2014/main" id="{7B3EEEE6-F540-4C22-B7B9-48CCE5AE5315}"/>
              </a:ext>
            </a:extLst>
          </p:cNvPr>
          <p:cNvSpPr txBox="1"/>
          <p:nvPr/>
        </p:nvSpPr>
        <p:spPr>
          <a:xfrm>
            <a:off x="643160" y="4803833"/>
            <a:ext cx="5375061" cy="369332"/>
          </a:xfrm>
          <a:prstGeom prst="rect">
            <a:avLst/>
          </a:prstGeom>
          <a:noFill/>
        </p:spPr>
        <p:txBody>
          <a:bodyPr wrap="none" rtlCol="0">
            <a:spAutoFit/>
          </a:bodyPr>
          <a:lstStyle/>
          <a:p>
            <a:r>
              <a:rPr lang="it-IT" dirty="0"/>
              <a:t>Gestisce storage locale e di rete (NFS, </a:t>
            </a:r>
            <a:r>
              <a:rPr lang="it-IT" dirty="0" err="1"/>
              <a:t>iSCSI</a:t>
            </a:r>
            <a:r>
              <a:rPr lang="it-IT" dirty="0"/>
              <a:t>, </a:t>
            </a:r>
            <a:r>
              <a:rPr lang="it-IT" dirty="0" err="1"/>
              <a:t>Ceph</a:t>
            </a:r>
            <a:r>
              <a:rPr lang="it-IT" dirty="0"/>
              <a:t>, Gfs2)</a:t>
            </a:r>
          </a:p>
        </p:txBody>
      </p:sp>
      <p:sp>
        <p:nvSpPr>
          <p:cNvPr id="25" name="CasellaDiTesto 24">
            <a:extLst>
              <a:ext uri="{FF2B5EF4-FFF2-40B4-BE49-F238E27FC236}">
                <a16:creationId xmlns:a16="http://schemas.microsoft.com/office/drawing/2014/main" id="{C472EE61-9B8B-4E81-BC2F-C6F8CAEAE5D1}"/>
              </a:ext>
            </a:extLst>
          </p:cNvPr>
          <p:cNvSpPr txBox="1"/>
          <p:nvPr/>
        </p:nvSpPr>
        <p:spPr>
          <a:xfrm>
            <a:off x="633635" y="5338781"/>
            <a:ext cx="3855543" cy="369332"/>
          </a:xfrm>
          <a:prstGeom prst="rect">
            <a:avLst/>
          </a:prstGeom>
          <a:noFill/>
        </p:spPr>
        <p:txBody>
          <a:bodyPr wrap="none" rtlCol="0">
            <a:spAutoFit/>
          </a:bodyPr>
          <a:lstStyle/>
          <a:p>
            <a:r>
              <a:rPr lang="it-IT" dirty="0"/>
              <a:t>Gestione della rete VLAN, bridge e SDN</a:t>
            </a:r>
          </a:p>
        </p:txBody>
      </p:sp>
      <p:sp>
        <p:nvSpPr>
          <p:cNvPr id="26" name="CasellaDiTesto 25">
            <a:extLst>
              <a:ext uri="{FF2B5EF4-FFF2-40B4-BE49-F238E27FC236}">
                <a16:creationId xmlns:a16="http://schemas.microsoft.com/office/drawing/2014/main" id="{BD368544-B745-4287-A02C-CD1887952DFF}"/>
              </a:ext>
            </a:extLst>
          </p:cNvPr>
          <p:cNvSpPr txBox="1"/>
          <p:nvPr/>
        </p:nvSpPr>
        <p:spPr>
          <a:xfrm>
            <a:off x="643160" y="2656838"/>
            <a:ext cx="1707903" cy="369332"/>
          </a:xfrm>
          <a:prstGeom prst="rect">
            <a:avLst/>
          </a:prstGeom>
          <a:noFill/>
        </p:spPr>
        <p:txBody>
          <a:bodyPr wrap="none" rtlCol="0">
            <a:spAutoFit/>
          </a:bodyPr>
          <a:lstStyle/>
          <a:p>
            <a:r>
              <a:rPr lang="it-IT" dirty="0"/>
              <a:t>Supporta QEMU</a:t>
            </a:r>
          </a:p>
        </p:txBody>
      </p:sp>
      <p:pic>
        <p:nvPicPr>
          <p:cNvPr id="4" name="Immagine 3">
            <a:extLst>
              <a:ext uri="{FF2B5EF4-FFF2-40B4-BE49-F238E27FC236}">
                <a16:creationId xmlns:a16="http://schemas.microsoft.com/office/drawing/2014/main" id="{5FAB2AF0-327D-4383-B97E-1C89C4CD3821}"/>
              </a:ext>
            </a:extLst>
          </p:cNvPr>
          <p:cNvPicPr>
            <a:picLocks noChangeAspect="1"/>
          </p:cNvPicPr>
          <p:nvPr/>
        </p:nvPicPr>
        <p:blipFill>
          <a:blip r:embed="rId2"/>
          <a:stretch>
            <a:fillRect/>
          </a:stretch>
        </p:blipFill>
        <p:spPr>
          <a:xfrm>
            <a:off x="5822562" y="895201"/>
            <a:ext cx="5413542" cy="3782664"/>
          </a:xfrm>
          <a:prstGeom prst="rect">
            <a:avLst/>
          </a:prstGeom>
        </p:spPr>
      </p:pic>
    </p:spTree>
    <p:extLst>
      <p:ext uri="{BB962C8B-B14F-4D97-AF65-F5344CB8AC3E}">
        <p14:creationId xmlns:p14="http://schemas.microsoft.com/office/powerpoint/2010/main" val="30522171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C26327E-0E03-45A7-AB15-1B0887C3FD92}"/>
              </a:ext>
            </a:extLst>
          </p:cNvPr>
          <p:cNvSpPr>
            <a:spLocks noGrp="1"/>
          </p:cNvSpPr>
          <p:nvPr>
            <p:ph type="title"/>
          </p:nvPr>
        </p:nvSpPr>
        <p:spPr/>
        <p:txBody>
          <a:bodyPr/>
          <a:lstStyle/>
          <a:p>
            <a:r>
              <a:rPr lang="it-IT" dirty="0" err="1">
                <a:solidFill>
                  <a:srgbClr val="0070C0"/>
                </a:solidFill>
                <a:effectLst/>
                <a:latin typeface="Coli"/>
                <a:ea typeface="Times New Roman" panose="02020603050405020304" pitchFamily="18" charset="0"/>
              </a:rPr>
              <a:t>Proxmox</a:t>
            </a:r>
            <a:r>
              <a:rPr lang="it-IT" dirty="0">
                <a:solidFill>
                  <a:srgbClr val="0070C0"/>
                </a:solidFill>
                <a:effectLst/>
                <a:latin typeface="Coli"/>
                <a:ea typeface="Times New Roman" panose="02020603050405020304" pitchFamily="18" charset="0"/>
              </a:rPr>
              <a:t> 2/4</a:t>
            </a:r>
            <a:endParaRPr lang="it-IT" dirty="0"/>
          </a:p>
        </p:txBody>
      </p:sp>
      <p:sp>
        <p:nvSpPr>
          <p:cNvPr id="5" name="CasellaDiTesto 4">
            <a:extLst>
              <a:ext uri="{FF2B5EF4-FFF2-40B4-BE49-F238E27FC236}">
                <a16:creationId xmlns:a16="http://schemas.microsoft.com/office/drawing/2014/main" id="{B6ED9F09-7AE4-498B-AEFB-60A46CBAB7F7}"/>
              </a:ext>
            </a:extLst>
          </p:cNvPr>
          <p:cNvSpPr txBox="1"/>
          <p:nvPr/>
        </p:nvSpPr>
        <p:spPr>
          <a:xfrm>
            <a:off x="455150" y="1431056"/>
            <a:ext cx="11251630" cy="375552"/>
          </a:xfrm>
          <a:prstGeom prst="rect">
            <a:avLst/>
          </a:prstGeom>
          <a:noFill/>
        </p:spPr>
        <p:txBody>
          <a:bodyPr wrap="square">
            <a:spAutoFit/>
          </a:bodyPr>
          <a:lstStyle/>
          <a:p>
            <a:pPr>
              <a:lnSpc>
                <a:spcPct val="107000"/>
              </a:lnSpc>
              <a:spcAft>
                <a:spcPts val="800"/>
              </a:spcAft>
            </a:pPr>
            <a:r>
              <a:rPr lang="it-IT" sz="1800" dirty="0" err="1">
                <a:effectLst/>
                <a:latin typeface="Calibri" panose="020F0502020204030204" pitchFamily="34" charset="0"/>
                <a:ea typeface="Calibri" panose="020F0502020204030204" pitchFamily="34" charset="0"/>
                <a:cs typeface="Times New Roman" panose="02020603050405020304" pitchFamily="18" charset="0"/>
              </a:rPr>
              <a:t>Proxmox</a:t>
            </a:r>
            <a:r>
              <a:rPr lang="it-IT" sz="1800" dirty="0">
                <a:effectLst/>
                <a:latin typeface="Calibri" panose="020F0502020204030204" pitchFamily="34" charset="0"/>
                <a:ea typeface="Calibri" panose="020F0502020204030204" pitchFamily="34" charset="0"/>
                <a:cs typeface="Times New Roman" panose="02020603050405020304" pitchFamily="18" charset="0"/>
              </a:rPr>
              <a:t> ha un repository di immagini LXC già pronte.</a:t>
            </a:r>
          </a:p>
        </p:txBody>
      </p:sp>
      <p:pic>
        <p:nvPicPr>
          <p:cNvPr id="4" name="Immagine 3">
            <a:extLst>
              <a:ext uri="{FF2B5EF4-FFF2-40B4-BE49-F238E27FC236}">
                <a16:creationId xmlns:a16="http://schemas.microsoft.com/office/drawing/2014/main" id="{81E03909-72A0-4B9B-84D5-936FDC7E84A4}"/>
              </a:ext>
            </a:extLst>
          </p:cNvPr>
          <p:cNvPicPr/>
          <p:nvPr/>
        </p:nvPicPr>
        <p:blipFill>
          <a:blip r:embed="rId2"/>
          <a:stretch>
            <a:fillRect/>
          </a:stretch>
        </p:blipFill>
        <p:spPr>
          <a:xfrm>
            <a:off x="540385" y="2051050"/>
            <a:ext cx="6120130" cy="2755900"/>
          </a:xfrm>
          <a:prstGeom prst="rect">
            <a:avLst/>
          </a:prstGeom>
        </p:spPr>
      </p:pic>
      <p:pic>
        <p:nvPicPr>
          <p:cNvPr id="6" name="Immagine 5">
            <a:extLst>
              <a:ext uri="{FF2B5EF4-FFF2-40B4-BE49-F238E27FC236}">
                <a16:creationId xmlns:a16="http://schemas.microsoft.com/office/drawing/2014/main" id="{CCD6658C-0F80-416A-A520-E9375CCE1F91}"/>
              </a:ext>
            </a:extLst>
          </p:cNvPr>
          <p:cNvPicPr/>
          <p:nvPr/>
        </p:nvPicPr>
        <p:blipFill>
          <a:blip r:embed="rId3"/>
          <a:stretch>
            <a:fillRect/>
          </a:stretch>
        </p:blipFill>
        <p:spPr>
          <a:xfrm>
            <a:off x="5961697" y="3084195"/>
            <a:ext cx="5145405" cy="3445510"/>
          </a:xfrm>
          <a:prstGeom prst="rect">
            <a:avLst/>
          </a:prstGeom>
        </p:spPr>
      </p:pic>
      <p:sp>
        <p:nvSpPr>
          <p:cNvPr id="7" name="CasellaDiTesto 6">
            <a:extLst>
              <a:ext uri="{FF2B5EF4-FFF2-40B4-BE49-F238E27FC236}">
                <a16:creationId xmlns:a16="http://schemas.microsoft.com/office/drawing/2014/main" id="{AB3FFD41-658F-406F-9025-A7FAEE21C9FB}"/>
              </a:ext>
            </a:extLst>
          </p:cNvPr>
          <p:cNvSpPr txBox="1"/>
          <p:nvPr/>
        </p:nvSpPr>
        <p:spPr>
          <a:xfrm>
            <a:off x="455150" y="5156750"/>
            <a:ext cx="6002800" cy="671915"/>
          </a:xfrm>
          <a:prstGeom prst="rect">
            <a:avLst/>
          </a:prstGeom>
          <a:noFill/>
        </p:spPr>
        <p:txBody>
          <a:bodyPr wrap="square">
            <a:spAutoFit/>
          </a:bodyPr>
          <a:lstStyle/>
          <a:p>
            <a:pPr>
              <a:lnSpc>
                <a:spcPct val="107000"/>
              </a:lnSpc>
              <a:spcAft>
                <a:spcPts val="800"/>
              </a:spcAft>
            </a:pPr>
            <a:r>
              <a:rPr lang="it-IT" sz="1800" dirty="0">
                <a:effectLst/>
                <a:latin typeface="Calibri" panose="020F0502020204030204" pitchFamily="34" charset="0"/>
                <a:ea typeface="Calibri" panose="020F0502020204030204" pitchFamily="34" charset="0"/>
                <a:cs typeface="Times New Roman" panose="02020603050405020304" pitchFamily="18" charset="0"/>
              </a:rPr>
              <a:t>Alcune configurazioni dei container LXC sono demandate all’</a:t>
            </a:r>
            <a:r>
              <a:rPr lang="it-IT" sz="1800" dirty="0" err="1">
                <a:effectLst/>
                <a:latin typeface="Calibri" panose="020F0502020204030204" pitchFamily="34" charset="0"/>
                <a:ea typeface="Calibri" panose="020F0502020204030204" pitchFamily="34" charset="0"/>
                <a:cs typeface="Times New Roman" panose="02020603050405020304" pitchFamily="18" charset="0"/>
              </a:rPr>
              <a:t>hypervisor</a:t>
            </a:r>
            <a:r>
              <a:rPr lang="it-IT" dirty="0">
                <a:latin typeface="Calibri" panose="020F0502020204030204" pitchFamily="34" charset="0"/>
                <a:ea typeface="Calibri" panose="020F0502020204030204" pitchFamily="34" charset="0"/>
                <a:cs typeface="Times New Roman" panose="02020603050405020304" pitchFamily="18" charset="0"/>
              </a:rPr>
              <a:t> (es. </a:t>
            </a:r>
            <a:r>
              <a:rPr lang="it-IT" dirty="0" err="1">
                <a:latin typeface="Calibri" panose="020F0502020204030204" pitchFamily="34" charset="0"/>
                <a:ea typeface="Calibri" panose="020F0502020204030204" pitchFamily="34" charset="0"/>
                <a:cs typeface="Times New Roman" panose="02020603050405020304" pitchFamily="18" charset="0"/>
              </a:rPr>
              <a:t>ip</a:t>
            </a:r>
            <a:r>
              <a:rPr lang="it-IT" dirty="0">
                <a:latin typeface="Calibri" panose="020F0502020204030204" pitchFamily="34" charset="0"/>
                <a:ea typeface="Calibri" panose="020F0502020204030204" pitchFamily="34" charset="0"/>
                <a:cs typeface="Times New Roman" panose="02020603050405020304" pitchFamily="18" charset="0"/>
              </a:rPr>
              <a:t>, disco)</a:t>
            </a:r>
            <a:endParaRPr lang="it-IT"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9339338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C26327E-0E03-45A7-AB15-1B0887C3FD92}"/>
              </a:ext>
            </a:extLst>
          </p:cNvPr>
          <p:cNvSpPr>
            <a:spLocks noGrp="1"/>
          </p:cNvSpPr>
          <p:nvPr>
            <p:ph type="title"/>
          </p:nvPr>
        </p:nvSpPr>
        <p:spPr/>
        <p:txBody>
          <a:bodyPr/>
          <a:lstStyle/>
          <a:p>
            <a:r>
              <a:rPr lang="it-IT" dirty="0" err="1">
                <a:solidFill>
                  <a:srgbClr val="0070C0"/>
                </a:solidFill>
                <a:effectLst/>
                <a:latin typeface="Coli"/>
                <a:ea typeface="Times New Roman" panose="02020603050405020304" pitchFamily="18" charset="0"/>
              </a:rPr>
              <a:t>Proxmox</a:t>
            </a:r>
            <a:r>
              <a:rPr lang="it-IT" dirty="0">
                <a:solidFill>
                  <a:srgbClr val="0070C0"/>
                </a:solidFill>
                <a:effectLst/>
                <a:latin typeface="Coli"/>
                <a:ea typeface="Times New Roman" panose="02020603050405020304" pitchFamily="18" charset="0"/>
              </a:rPr>
              <a:t> 3/4</a:t>
            </a:r>
            <a:endParaRPr lang="it-IT" dirty="0"/>
          </a:p>
        </p:txBody>
      </p:sp>
      <p:pic>
        <p:nvPicPr>
          <p:cNvPr id="4" name="Immagine 3">
            <a:extLst>
              <a:ext uri="{FF2B5EF4-FFF2-40B4-BE49-F238E27FC236}">
                <a16:creationId xmlns:a16="http://schemas.microsoft.com/office/drawing/2014/main" id="{DD194CA1-4176-454E-A42C-2A35244606FE}"/>
              </a:ext>
            </a:extLst>
          </p:cNvPr>
          <p:cNvPicPr>
            <a:picLocks noChangeAspect="1"/>
          </p:cNvPicPr>
          <p:nvPr/>
        </p:nvPicPr>
        <p:blipFill>
          <a:blip r:embed="rId2"/>
          <a:stretch>
            <a:fillRect/>
          </a:stretch>
        </p:blipFill>
        <p:spPr>
          <a:xfrm>
            <a:off x="838200" y="3454272"/>
            <a:ext cx="4410678" cy="3002089"/>
          </a:xfrm>
          <a:prstGeom prst="rect">
            <a:avLst/>
          </a:prstGeom>
        </p:spPr>
      </p:pic>
      <p:sp>
        <p:nvSpPr>
          <p:cNvPr id="6" name="CasellaDiTesto 5">
            <a:extLst>
              <a:ext uri="{FF2B5EF4-FFF2-40B4-BE49-F238E27FC236}">
                <a16:creationId xmlns:a16="http://schemas.microsoft.com/office/drawing/2014/main" id="{91E052A9-C866-4089-83F6-FC268A876F45}"/>
              </a:ext>
            </a:extLst>
          </p:cNvPr>
          <p:cNvSpPr txBox="1"/>
          <p:nvPr/>
        </p:nvSpPr>
        <p:spPr>
          <a:xfrm>
            <a:off x="752475" y="1349046"/>
            <a:ext cx="4819650" cy="1971374"/>
          </a:xfrm>
          <a:prstGeom prst="rect">
            <a:avLst/>
          </a:prstGeom>
          <a:noFill/>
        </p:spPr>
        <p:txBody>
          <a:bodyPr wrap="square">
            <a:spAutoFit/>
          </a:bodyPr>
          <a:lstStyle/>
          <a:p>
            <a:pPr>
              <a:lnSpc>
                <a:spcPct val="107000"/>
              </a:lnSpc>
              <a:spcAft>
                <a:spcPts val="800"/>
              </a:spcAft>
            </a:pPr>
            <a:r>
              <a:rPr lang="it-IT" sz="1800" dirty="0">
                <a:effectLst/>
                <a:latin typeface="Calibri" panose="020F0502020204030204" pitchFamily="34" charset="0"/>
                <a:ea typeface="Calibri" panose="020F0502020204030204" pitchFamily="34" charset="0"/>
                <a:cs typeface="Times New Roman" panose="02020603050405020304" pitchFamily="18" charset="0"/>
              </a:rPr>
              <a:t>Su </a:t>
            </a:r>
            <a:r>
              <a:rPr lang="it-IT" sz="1800" dirty="0" err="1">
                <a:effectLst/>
                <a:latin typeface="Calibri" panose="020F0502020204030204" pitchFamily="34" charset="0"/>
                <a:ea typeface="Calibri" panose="020F0502020204030204" pitchFamily="34" charset="0"/>
                <a:cs typeface="Times New Roman" panose="02020603050405020304" pitchFamily="18" charset="0"/>
              </a:rPr>
              <a:t>Proxmox</a:t>
            </a:r>
            <a:r>
              <a:rPr lang="it-IT" sz="1800" dirty="0">
                <a:effectLst/>
                <a:latin typeface="Calibri" panose="020F0502020204030204" pitchFamily="34" charset="0"/>
                <a:ea typeface="Calibri" panose="020F0502020204030204" pitchFamily="34" charset="0"/>
                <a:cs typeface="Times New Roman" panose="02020603050405020304" pitchFamily="18" charset="0"/>
              </a:rPr>
              <a:t> possono girare </a:t>
            </a:r>
            <a:r>
              <a:rPr lang="it-IT" dirty="0">
                <a:latin typeface="Calibri" panose="020F0502020204030204" pitchFamily="34" charset="0"/>
                <a:ea typeface="Calibri" panose="020F0502020204030204" pitchFamily="34" charset="0"/>
                <a:cs typeface="Times New Roman" panose="02020603050405020304" pitchFamily="18" charset="0"/>
              </a:rPr>
              <a:t>sia</a:t>
            </a:r>
            <a:r>
              <a:rPr lang="it-IT" sz="1800" dirty="0">
                <a:effectLst/>
                <a:latin typeface="Calibri" panose="020F0502020204030204" pitchFamily="34" charset="0"/>
                <a:ea typeface="Calibri" panose="020F0502020204030204" pitchFamily="34" charset="0"/>
                <a:cs typeface="Times New Roman" panose="02020603050405020304" pitchFamily="18" charset="0"/>
              </a:rPr>
              <a:t> VM che LXC</a:t>
            </a:r>
          </a:p>
          <a:p>
            <a:pPr marL="285750" indent="-285750">
              <a:lnSpc>
                <a:spcPct val="107000"/>
              </a:lnSpc>
              <a:spcAft>
                <a:spcPts val="800"/>
              </a:spcAft>
              <a:buFont typeface="Arial" panose="020B0604020202020204" pitchFamily="34" charset="0"/>
              <a:buChar char="•"/>
            </a:pPr>
            <a:r>
              <a:rPr lang="it-IT" dirty="0">
                <a:latin typeface="Calibri" panose="020F0502020204030204" pitchFamily="34" charset="0"/>
                <a:ea typeface="Calibri" panose="020F0502020204030204" pitchFamily="34" charset="0"/>
                <a:cs typeface="Times New Roman" panose="02020603050405020304" pitchFamily="18" charset="0"/>
              </a:rPr>
              <a:t>Backup integrato</a:t>
            </a:r>
          </a:p>
          <a:p>
            <a:pPr marL="285750" indent="-285750">
              <a:lnSpc>
                <a:spcPct val="107000"/>
              </a:lnSpc>
              <a:spcAft>
                <a:spcPts val="800"/>
              </a:spcAft>
              <a:buFont typeface="Arial" panose="020B0604020202020204" pitchFamily="34" charset="0"/>
              <a:buChar char="•"/>
            </a:pPr>
            <a:r>
              <a:rPr lang="it-IT" sz="1800" dirty="0">
                <a:effectLst/>
                <a:latin typeface="Calibri" panose="020F0502020204030204" pitchFamily="34" charset="0"/>
                <a:ea typeface="Calibri" panose="020F0502020204030204" pitchFamily="34" charset="0"/>
                <a:cs typeface="Times New Roman" panose="02020603050405020304" pitchFamily="18" charset="0"/>
              </a:rPr>
              <a:t>Firewa</a:t>
            </a:r>
            <a:r>
              <a:rPr lang="it-IT" dirty="0">
                <a:latin typeface="Calibri" panose="020F0502020204030204" pitchFamily="34" charset="0"/>
                <a:ea typeface="Calibri" panose="020F0502020204030204" pitchFamily="34" charset="0"/>
                <a:cs typeface="Times New Roman" panose="02020603050405020304" pitchFamily="18" charset="0"/>
              </a:rPr>
              <a:t>ll a livello di VM</a:t>
            </a:r>
          </a:p>
          <a:p>
            <a:pPr marL="285750" indent="-285750">
              <a:lnSpc>
                <a:spcPct val="107000"/>
              </a:lnSpc>
              <a:spcAft>
                <a:spcPts val="800"/>
              </a:spcAft>
              <a:buFont typeface="Arial" panose="020B0604020202020204" pitchFamily="34" charset="0"/>
              <a:buChar char="•"/>
            </a:pPr>
            <a:r>
              <a:rPr lang="it-IT" sz="1800" dirty="0">
                <a:effectLst/>
                <a:latin typeface="Calibri" panose="020F0502020204030204" pitchFamily="34" charset="0"/>
                <a:ea typeface="Calibri" panose="020F0502020204030204" pitchFamily="34" charset="0"/>
                <a:cs typeface="Times New Roman" panose="02020603050405020304" pitchFamily="18" charset="0"/>
              </a:rPr>
              <a:t>Replica</a:t>
            </a:r>
          </a:p>
          <a:p>
            <a:pPr marL="285750" indent="-285750">
              <a:lnSpc>
                <a:spcPct val="107000"/>
              </a:lnSpc>
              <a:spcAft>
                <a:spcPts val="800"/>
              </a:spcAft>
              <a:buFont typeface="Arial" panose="020B0604020202020204" pitchFamily="34" charset="0"/>
              <a:buChar char="•"/>
            </a:pPr>
            <a:r>
              <a:rPr lang="it-IT" dirty="0">
                <a:latin typeface="Calibri" panose="020F0502020204030204" pitchFamily="34" charset="0"/>
                <a:ea typeface="Calibri" panose="020F0502020204030204" pitchFamily="34" charset="0"/>
                <a:cs typeface="Times New Roman" panose="02020603050405020304" pitchFamily="18" charset="0"/>
              </a:rPr>
              <a:t>Snapshot</a:t>
            </a:r>
            <a:endParaRPr lang="it-IT"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8" name="Immagine 7">
            <a:extLst>
              <a:ext uri="{FF2B5EF4-FFF2-40B4-BE49-F238E27FC236}">
                <a16:creationId xmlns:a16="http://schemas.microsoft.com/office/drawing/2014/main" id="{21C2CA06-5C26-4E4B-BC81-A777D1622F98}"/>
              </a:ext>
            </a:extLst>
          </p:cNvPr>
          <p:cNvPicPr>
            <a:picLocks noChangeAspect="1"/>
          </p:cNvPicPr>
          <p:nvPr/>
        </p:nvPicPr>
        <p:blipFill>
          <a:blip r:embed="rId3"/>
          <a:stretch>
            <a:fillRect/>
          </a:stretch>
        </p:blipFill>
        <p:spPr>
          <a:xfrm>
            <a:off x="6207899" y="2054226"/>
            <a:ext cx="4794000" cy="2835031"/>
          </a:xfrm>
          <a:prstGeom prst="rect">
            <a:avLst/>
          </a:prstGeom>
        </p:spPr>
      </p:pic>
      <p:sp>
        <p:nvSpPr>
          <p:cNvPr id="9" name="CasellaDiTesto 8">
            <a:extLst>
              <a:ext uri="{FF2B5EF4-FFF2-40B4-BE49-F238E27FC236}">
                <a16:creationId xmlns:a16="http://schemas.microsoft.com/office/drawing/2014/main" id="{409EA01D-5EDD-4FFB-83EC-3F808886E7E1}"/>
              </a:ext>
            </a:extLst>
          </p:cNvPr>
          <p:cNvSpPr txBox="1"/>
          <p:nvPr/>
        </p:nvSpPr>
        <p:spPr>
          <a:xfrm>
            <a:off x="6207899" y="1621767"/>
            <a:ext cx="4819650" cy="375552"/>
          </a:xfrm>
          <a:prstGeom prst="rect">
            <a:avLst/>
          </a:prstGeom>
          <a:noFill/>
        </p:spPr>
        <p:txBody>
          <a:bodyPr wrap="square">
            <a:spAutoFit/>
          </a:bodyPr>
          <a:lstStyle/>
          <a:p>
            <a:pPr>
              <a:lnSpc>
                <a:spcPct val="107000"/>
              </a:lnSpc>
              <a:spcAft>
                <a:spcPts val="800"/>
              </a:spcAft>
            </a:pPr>
            <a:r>
              <a:rPr lang="it-IT" sz="1800" dirty="0">
                <a:effectLst/>
                <a:latin typeface="Calibri" panose="020F0502020204030204" pitchFamily="34" charset="0"/>
                <a:ea typeface="Calibri" panose="020F0502020204030204" pitchFamily="34" charset="0"/>
                <a:cs typeface="Times New Roman" panose="02020603050405020304" pitchFamily="18" charset="0"/>
              </a:rPr>
              <a:t>Migrazione a caldo del disco</a:t>
            </a:r>
          </a:p>
        </p:txBody>
      </p:sp>
      <p:pic>
        <p:nvPicPr>
          <p:cNvPr id="11" name="Immagine 10">
            <a:extLst>
              <a:ext uri="{FF2B5EF4-FFF2-40B4-BE49-F238E27FC236}">
                <a16:creationId xmlns:a16="http://schemas.microsoft.com/office/drawing/2014/main" id="{4D09B898-D53E-4758-915E-F3BB93E7B1EF}"/>
              </a:ext>
            </a:extLst>
          </p:cNvPr>
          <p:cNvPicPr>
            <a:picLocks noChangeAspect="1"/>
          </p:cNvPicPr>
          <p:nvPr/>
        </p:nvPicPr>
        <p:blipFill>
          <a:blip r:embed="rId4"/>
          <a:stretch>
            <a:fillRect/>
          </a:stretch>
        </p:blipFill>
        <p:spPr>
          <a:xfrm>
            <a:off x="6220724" y="5418797"/>
            <a:ext cx="4794000" cy="1159838"/>
          </a:xfrm>
          <a:prstGeom prst="rect">
            <a:avLst/>
          </a:prstGeom>
        </p:spPr>
      </p:pic>
      <p:sp>
        <p:nvSpPr>
          <p:cNvPr id="12" name="CasellaDiTesto 11">
            <a:extLst>
              <a:ext uri="{FF2B5EF4-FFF2-40B4-BE49-F238E27FC236}">
                <a16:creationId xmlns:a16="http://schemas.microsoft.com/office/drawing/2014/main" id="{D57292C8-28FD-4CCB-8C3C-33552E5DF3C6}"/>
              </a:ext>
            </a:extLst>
          </p:cNvPr>
          <p:cNvSpPr txBox="1"/>
          <p:nvPr/>
        </p:nvSpPr>
        <p:spPr>
          <a:xfrm>
            <a:off x="6182249" y="5043245"/>
            <a:ext cx="4819650" cy="375552"/>
          </a:xfrm>
          <a:prstGeom prst="rect">
            <a:avLst/>
          </a:prstGeom>
          <a:noFill/>
        </p:spPr>
        <p:txBody>
          <a:bodyPr wrap="square">
            <a:spAutoFit/>
          </a:bodyPr>
          <a:lstStyle/>
          <a:p>
            <a:pPr>
              <a:lnSpc>
                <a:spcPct val="107000"/>
              </a:lnSpc>
              <a:spcAft>
                <a:spcPts val="800"/>
              </a:spcAft>
            </a:pPr>
            <a:r>
              <a:rPr lang="it-IT" sz="1800" dirty="0">
                <a:effectLst/>
                <a:latin typeface="Calibri" panose="020F0502020204030204" pitchFamily="34" charset="0"/>
                <a:ea typeface="Calibri" panose="020F0502020204030204" pitchFamily="34" charset="0"/>
                <a:cs typeface="Times New Roman" panose="02020603050405020304" pitchFamily="18" charset="0"/>
              </a:rPr>
              <a:t>Migrazione a caldo della VM su 2 nodi</a:t>
            </a:r>
          </a:p>
        </p:txBody>
      </p:sp>
    </p:spTree>
    <p:extLst>
      <p:ext uri="{BB962C8B-B14F-4D97-AF65-F5344CB8AC3E}">
        <p14:creationId xmlns:p14="http://schemas.microsoft.com/office/powerpoint/2010/main" val="8072480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C26327E-0E03-45A7-AB15-1B0887C3FD92}"/>
              </a:ext>
            </a:extLst>
          </p:cNvPr>
          <p:cNvSpPr>
            <a:spLocks noGrp="1"/>
          </p:cNvSpPr>
          <p:nvPr>
            <p:ph type="title"/>
          </p:nvPr>
        </p:nvSpPr>
        <p:spPr/>
        <p:txBody>
          <a:bodyPr/>
          <a:lstStyle/>
          <a:p>
            <a:r>
              <a:rPr lang="it-IT" dirty="0" err="1">
                <a:solidFill>
                  <a:srgbClr val="0070C0"/>
                </a:solidFill>
                <a:latin typeface="Coli"/>
                <a:ea typeface="Times New Roman" panose="02020603050405020304" pitchFamily="18" charset="0"/>
              </a:rPr>
              <a:t>Proxmox</a:t>
            </a:r>
            <a:r>
              <a:rPr lang="it-IT" dirty="0">
                <a:solidFill>
                  <a:srgbClr val="0070C0"/>
                </a:solidFill>
                <a:latin typeface="Coli"/>
                <a:ea typeface="Times New Roman" panose="02020603050405020304" pitchFamily="18" charset="0"/>
              </a:rPr>
              <a:t> autenticazione 4</a:t>
            </a:r>
            <a:r>
              <a:rPr lang="it-IT" dirty="0">
                <a:solidFill>
                  <a:srgbClr val="0070C0"/>
                </a:solidFill>
                <a:effectLst/>
                <a:latin typeface="Coli"/>
                <a:ea typeface="Times New Roman" panose="02020603050405020304" pitchFamily="18" charset="0"/>
              </a:rPr>
              <a:t>/4</a:t>
            </a:r>
            <a:endParaRPr lang="it-IT" dirty="0"/>
          </a:p>
        </p:txBody>
      </p:sp>
      <p:sp>
        <p:nvSpPr>
          <p:cNvPr id="6" name="CasellaDiTesto 5">
            <a:extLst>
              <a:ext uri="{FF2B5EF4-FFF2-40B4-BE49-F238E27FC236}">
                <a16:creationId xmlns:a16="http://schemas.microsoft.com/office/drawing/2014/main" id="{64E3C9EC-8B52-4203-B9C0-82F75C6566FF}"/>
              </a:ext>
            </a:extLst>
          </p:cNvPr>
          <p:cNvSpPr txBox="1"/>
          <p:nvPr/>
        </p:nvSpPr>
        <p:spPr>
          <a:xfrm>
            <a:off x="7305675" y="1508769"/>
            <a:ext cx="6096000" cy="1173463"/>
          </a:xfrm>
          <a:prstGeom prst="rect">
            <a:avLst/>
          </a:prstGeom>
          <a:noFill/>
        </p:spPr>
        <p:txBody>
          <a:bodyPr wrap="square">
            <a:spAutoFit/>
          </a:bodyPr>
          <a:lstStyle/>
          <a:p>
            <a:pPr>
              <a:lnSpc>
                <a:spcPct val="107000"/>
              </a:lnSpc>
              <a:spcAft>
                <a:spcPts val="800"/>
              </a:spcAft>
            </a:pPr>
            <a:r>
              <a:rPr lang="it-IT" sz="1800" dirty="0">
                <a:effectLst/>
                <a:latin typeface="Calibri" panose="020F0502020204030204" pitchFamily="34" charset="0"/>
                <a:ea typeface="Calibri" panose="020F0502020204030204" pitchFamily="34" charset="0"/>
                <a:cs typeface="Times New Roman" panose="02020603050405020304" pitchFamily="18" charset="0"/>
              </a:rPr>
              <a:t>Utente: root</a:t>
            </a:r>
          </a:p>
          <a:p>
            <a:pPr>
              <a:lnSpc>
                <a:spcPct val="107000"/>
              </a:lnSpc>
              <a:spcAft>
                <a:spcPts val="800"/>
              </a:spcAft>
            </a:pPr>
            <a:r>
              <a:rPr lang="it-IT" sz="1800" dirty="0">
                <a:effectLst/>
                <a:latin typeface="Calibri" panose="020F0502020204030204" pitchFamily="34" charset="0"/>
                <a:ea typeface="Calibri" panose="020F0502020204030204" pitchFamily="34" charset="0"/>
                <a:cs typeface="Times New Roman" panose="02020603050405020304" pitchFamily="18" charset="0"/>
              </a:rPr>
              <a:t>Password: Admin1234!</a:t>
            </a:r>
          </a:p>
          <a:p>
            <a:pPr>
              <a:lnSpc>
                <a:spcPct val="107000"/>
              </a:lnSpc>
              <a:spcAft>
                <a:spcPts val="800"/>
              </a:spcAft>
            </a:pPr>
            <a:r>
              <a:rPr lang="it-IT" sz="1800" dirty="0">
                <a:effectLst/>
                <a:latin typeface="Calibri" panose="020F0502020204030204" pitchFamily="34" charset="0"/>
                <a:ea typeface="Calibri" panose="020F0502020204030204" pitchFamily="34" charset="0"/>
                <a:cs typeface="Times New Roman" panose="02020603050405020304" pitchFamily="18" charset="0"/>
              </a:rPr>
              <a:t>Nome computer: LDC01</a:t>
            </a:r>
          </a:p>
        </p:txBody>
      </p:sp>
      <p:pic>
        <p:nvPicPr>
          <p:cNvPr id="7" name="Immagine 6">
            <a:extLst>
              <a:ext uri="{FF2B5EF4-FFF2-40B4-BE49-F238E27FC236}">
                <a16:creationId xmlns:a16="http://schemas.microsoft.com/office/drawing/2014/main" id="{705D0415-209B-4757-9D34-1A17C24A789D}"/>
              </a:ext>
            </a:extLst>
          </p:cNvPr>
          <p:cNvPicPr>
            <a:picLocks noChangeAspect="1"/>
          </p:cNvPicPr>
          <p:nvPr/>
        </p:nvPicPr>
        <p:blipFill>
          <a:blip r:embed="rId2"/>
          <a:stretch>
            <a:fillRect/>
          </a:stretch>
        </p:blipFill>
        <p:spPr>
          <a:xfrm>
            <a:off x="838200" y="2095500"/>
            <a:ext cx="6182588" cy="3286584"/>
          </a:xfrm>
          <a:prstGeom prst="rect">
            <a:avLst/>
          </a:prstGeom>
        </p:spPr>
      </p:pic>
    </p:spTree>
    <p:extLst>
      <p:ext uri="{BB962C8B-B14F-4D97-AF65-F5344CB8AC3E}">
        <p14:creationId xmlns:p14="http://schemas.microsoft.com/office/powerpoint/2010/main" val="41712125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C26327E-0E03-45A7-AB15-1B0887C3FD92}"/>
              </a:ext>
            </a:extLst>
          </p:cNvPr>
          <p:cNvSpPr>
            <a:spLocks noGrp="1"/>
          </p:cNvSpPr>
          <p:nvPr>
            <p:ph type="title"/>
          </p:nvPr>
        </p:nvSpPr>
        <p:spPr/>
        <p:txBody>
          <a:bodyPr/>
          <a:lstStyle/>
          <a:p>
            <a:r>
              <a:rPr lang="it-IT" dirty="0" err="1">
                <a:solidFill>
                  <a:srgbClr val="0070C0"/>
                </a:solidFill>
                <a:effectLst/>
                <a:latin typeface="Coli"/>
                <a:ea typeface="Times New Roman" panose="02020603050405020304" pitchFamily="18" charset="0"/>
              </a:rPr>
              <a:t>Ansible</a:t>
            </a:r>
            <a:r>
              <a:rPr lang="it-IT" dirty="0">
                <a:solidFill>
                  <a:srgbClr val="0070C0"/>
                </a:solidFill>
                <a:effectLst/>
                <a:latin typeface="Coli"/>
                <a:ea typeface="Times New Roman" panose="02020603050405020304" pitchFamily="18" charset="0"/>
              </a:rPr>
              <a:t> 1/3</a:t>
            </a:r>
            <a:endParaRPr lang="it-IT" dirty="0"/>
          </a:p>
        </p:txBody>
      </p:sp>
      <p:sp>
        <p:nvSpPr>
          <p:cNvPr id="6" name="CasellaDiTesto 5">
            <a:extLst>
              <a:ext uri="{FF2B5EF4-FFF2-40B4-BE49-F238E27FC236}">
                <a16:creationId xmlns:a16="http://schemas.microsoft.com/office/drawing/2014/main" id="{E5606F43-C86C-48C2-8B36-BED609D0465D}"/>
              </a:ext>
            </a:extLst>
          </p:cNvPr>
          <p:cNvSpPr txBox="1"/>
          <p:nvPr/>
        </p:nvSpPr>
        <p:spPr>
          <a:xfrm>
            <a:off x="707571" y="1434680"/>
            <a:ext cx="4840060" cy="2062552"/>
          </a:xfrm>
          <a:prstGeom prst="rect">
            <a:avLst/>
          </a:prstGeom>
          <a:noFill/>
        </p:spPr>
        <p:txBody>
          <a:bodyPr wrap="square">
            <a:spAutoFit/>
          </a:bodyPr>
          <a:lstStyle/>
          <a:p>
            <a:pPr>
              <a:lnSpc>
                <a:spcPct val="107000"/>
              </a:lnSpc>
              <a:spcAft>
                <a:spcPts val="800"/>
              </a:spcAft>
            </a:pPr>
            <a:r>
              <a:rPr lang="it-IT" sz="1800" dirty="0" err="1">
                <a:effectLst/>
                <a:latin typeface="Calibri" panose="020F0502020204030204" pitchFamily="34" charset="0"/>
                <a:ea typeface="Calibri" panose="020F0502020204030204" pitchFamily="34" charset="0"/>
                <a:cs typeface="Times New Roman" panose="02020603050405020304" pitchFamily="18" charset="0"/>
              </a:rPr>
              <a:t>Ansible</a:t>
            </a:r>
            <a:r>
              <a:rPr lang="it-IT" sz="1800" dirty="0">
                <a:effectLst/>
                <a:latin typeface="Calibri" panose="020F0502020204030204" pitchFamily="34" charset="0"/>
                <a:ea typeface="Calibri" panose="020F0502020204030204" pitchFamily="34" charset="0"/>
                <a:cs typeface="Times New Roman" panose="02020603050405020304" pitchFamily="18" charset="0"/>
              </a:rPr>
              <a:t> è un sistema opensource che permette l'automazione e la gestione dell'infrastruttura IT.</a:t>
            </a:r>
          </a:p>
          <a:p>
            <a:pPr>
              <a:lnSpc>
                <a:spcPct val="107000"/>
              </a:lnSpc>
              <a:spcAft>
                <a:spcPts val="800"/>
              </a:spcAft>
            </a:pPr>
            <a:r>
              <a:rPr lang="it-IT" sz="1800" dirty="0">
                <a:effectLst/>
                <a:latin typeface="Calibri" panose="020F0502020204030204" pitchFamily="34" charset="0"/>
                <a:ea typeface="Calibri" panose="020F0502020204030204" pitchFamily="34" charset="0"/>
                <a:cs typeface="Times New Roman" panose="02020603050405020304" pitchFamily="18" charset="0"/>
              </a:rPr>
              <a:t>L’obiettivo è il raggiungimento di uno stato B partendo da uno stato A.</a:t>
            </a:r>
          </a:p>
          <a:p>
            <a:pPr>
              <a:lnSpc>
                <a:spcPct val="107000"/>
              </a:lnSpc>
              <a:spcAft>
                <a:spcPts val="800"/>
              </a:spcAft>
            </a:pPr>
            <a:r>
              <a:rPr lang="it-IT" sz="1800" dirty="0">
                <a:effectLst/>
                <a:latin typeface="Calibri" panose="020F0502020204030204" pitchFamily="34" charset="0"/>
                <a:ea typeface="Calibri" panose="020F0502020204030204" pitchFamily="34" charset="0"/>
                <a:cs typeface="Times New Roman" panose="02020603050405020304" pitchFamily="18" charset="0"/>
              </a:rPr>
              <a:t>E’ di tipo </a:t>
            </a:r>
            <a:r>
              <a:rPr lang="it-IT" sz="1800" dirty="0" err="1">
                <a:effectLst/>
                <a:latin typeface="Calibri" panose="020F0502020204030204" pitchFamily="34" charset="0"/>
                <a:ea typeface="Calibri" panose="020F0502020204030204" pitchFamily="34" charset="0"/>
                <a:cs typeface="Times New Roman" panose="02020603050405020304" pitchFamily="18" charset="0"/>
              </a:rPr>
              <a:t>agentless</a:t>
            </a:r>
            <a:r>
              <a:rPr lang="it-IT" sz="1800" dirty="0">
                <a:effectLst/>
                <a:latin typeface="Calibri" panose="020F0502020204030204" pitchFamily="34" charset="0"/>
                <a:ea typeface="Calibri" panose="020F0502020204030204" pitchFamily="34" charset="0"/>
                <a:cs typeface="Times New Roman" panose="02020603050405020304" pitchFamily="18" charset="0"/>
              </a:rPr>
              <a:t> e si basa principalmente su </a:t>
            </a:r>
            <a:r>
              <a:rPr lang="it-IT" sz="1800" dirty="0" err="1">
                <a:effectLst/>
                <a:latin typeface="Calibri" panose="020F0502020204030204" pitchFamily="34" charset="0"/>
                <a:ea typeface="Calibri" panose="020F0502020204030204" pitchFamily="34" charset="0"/>
                <a:cs typeface="Times New Roman" panose="02020603050405020304" pitchFamily="18" charset="0"/>
              </a:rPr>
              <a:t>ssh</a:t>
            </a:r>
            <a:r>
              <a:rPr lang="it-IT" sz="1800" dirty="0">
                <a:effectLst/>
                <a:latin typeface="Calibri" panose="020F0502020204030204" pitchFamily="34" charset="0"/>
                <a:ea typeface="Calibri" panose="020F0502020204030204" pitchFamily="34" charset="0"/>
                <a:cs typeface="Times New Roman" panose="02020603050405020304" pitchFamily="18" charset="0"/>
              </a:rPr>
              <a:t>.</a:t>
            </a:r>
          </a:p>
        </p:txBody>
      </p:sp>
      <p:sp>
        <p:nvSpPr>
          <p:cNvPr id="9" name="CasellaDiTesto 8">
            <a:extLst>
              <a:ext uri="{FF2B5EF4-FFF2-40B4-BE49-F238E27FC236}">
                <a16:creationId xmlns:a16="http://schemas.microsoft.com/office/drawing/2014/main" id="{730B3D27-3A25-442D-86D9-3D944707B9D9}"/>
              </a:ext>
            </a:extLst>
          </p:cNvPr>
          <p:cNvSpPr txBox="1"/>
          <p:nvPr/>
        </p:nvSpPr>
        <p:spPr>
          <a:xfrm>
            <a:off x="838200" y="3591150"/>
            <a:ext cx="6098720" cy="375552"/>
          </a:xfrm>
          <a:prstGeom prst="rect">
            <a:avLst/>
          </a:prstGeom>
          <a:noFill/>
        </p:spPr>
        <p:txBody>
          <a:bodyPr wrap="square">
            <a:spAutoFit/>
          </a:bodyPr>
          <a:lstStyle/>
          <a:p>
            <a:pPr indent="449580">
              <a:lnSpc>
                <a:spcPct val="107000"/>
              </a:lnSpc>
              <a:spcAft>
                <a:spcPts val="800"/>
              </a:spcAft>
            </a:pPr>
            <a:r>
              <a:rPr lang="it-IT" sz="1800" dirty="0">
                <a:effectLst/>
                <a:latin typeface="Calibri" panose="020F0502020204030204" pitchFamily="34" charset="0"/>
                <a:ea typeface="Calibri" panose="020F0502020204030204" pitchFamily="34" charset="0"/>
                <a:cs typeface="Times New Roman" panose="02020603050405020304" pitchFamily="18" charset="0"/>
              </a:rPr>
              <a:t>Inventory (file /</a:t>
            </a:r>
            <a:r>
              <a:rPr lang="it-IT" sz="1800" dirty="0" err="1">
                <a:effectLst/>
                <a:latin typeface="Calibri" panose="020F0502020204030204" pitchFamily="34" charset="0"/>
                <a:ea typeface="Calibri" panose="020F0502020204030204" pitchFamily="34" charset="0"/>
                <a:cs typeface="Times New Roman" panose="02020603050405020304" pitchFamily="18" charset="0"/>
              </a:rPr>
              <a:t>etc</a:t>
            </a:r>
            <a:r>
              <a:rPr lang="it-IT" sz="1800" dirty="0">
                <a:effectLst/>
                <a:latin typeface="Calibri" panose="020F0502020204030204" pitchFamily="34" charset="0"/>
                <a:ea typeface="Calibri" panose="020F0502020204030204" pitchFamily="34" charset="0"/>
                <a:cs typeface="Times New Roman" panose="02020603050405020304" pitchFamily="18" charset="0"/>
              </a:rPr>
              <a:t>/</a:t>
            </a:r>
            <a:r>
              <a:rPr lang="it-IT" sz="1800" dirty="0" err="1">
                <a:effectLst/>
                <a:latin typeface="Calibri" panose="020F0502020204030204" pitchFamily="34" charset="0"/>
                <a:ea typeface="Calibri" panose="020F0502020204030204" pitchFamily="34" charset="0"/>
                <a:cs typeface="Times New Roman" panose="02020603050405020304" pitchFamily="18" charset="0"/>
              </a:rPr>
              <a:t>ansible</a:t>
            </a:r>
            <a:r>
              <a:rPr lang="it-IT" sz="1800" dirty="0">
                <a:effectLst/>
                <a:latin typeface="Calibri" panose="020F0502020204030204" pitchFamily="34" charset="0"/>
                <a:ea typeface="Calibri" panose="020F0502020204030204" pitchFamily="34" charset="0"/>
                <a:cs typeface="Times New Roman" panose="02020603050405020304" pitchFamily="18" charset="0"/>
              </a:rPr>
              <a:t>)</a:t>
            </a:r>
          </a:p>
        </p:txBody>
      </p:sp>
      <p:pic>
        <p:nvPicPr>
          <p:cNvPr id="10" name="Immagine 9">
            <a:extLst>
              <a:ext uri="{FF2B5EF4-FFF2-40B4-BE49-F238E27FC236}">
                <a16:creationId xmlns:a16="http://schemas.microsoft.com/office/drawing/2014/main" id="{FA5A8360-A3DC-4BB7-80F7-1F00DDB9A8CE}"/>
              </a:ext>
            </a:extLst>
          </p:cNvPr>
          <p:cNvPicPr/>
          <p:nvPr/>
        </p:nvPicPr>
        <p:blipFill>
          <a:blip r:embed="rId2"/>
          <a:stretch>
            <a:fillRect/>
          </a:stretch>
        </p:blipFill>
        <p:spPr>
          <a:xfrm>
            <a:off x="707571" y="4075749"/>
            <a:ext cx="4249420" cy="2257425"/>
          </a:xfrm>
          <a:prstGeom prst="rect">
            <a:avLst/>
          </a:prstGeom>
        </p:spPr>
      </p:pic>
      <p:sp>
        <p:nvSpPr>
          <p:cNvPr id="12" name="CasellaDiTesto 11">
            <a:extLst>
              <a:ext uri="{FF2B5EF4-FFF2-40B4-BE49-F238E27FC236}">
                <a16:creationId xmlns:a16="http://schemas.microsoft.com/office/drawing/2014/main" id="{A048B08F-3D4A-4046-B4BF-47528015F656}"/>
              </a:ext>
            </a:extLst>
          </p:cNvPr>
          <p:cNvSpPr txBox="1"/>
          <p:nvPr/>
        </p:nvSpPr>
        <p:spPr>
          <a:xfrm>
            <a:off x="6092513" y="1157679"/>
            <a:ext cx="6098720" cy="375552"/>
          </a:xfrm>
          <a:prstGeom prst="rect">
            <a:avLst/>
          </a:prstGeom>
          <a:noFill/>
        </p:spPr>
        <p:txBody>
          <a:bodyPr wrap="square">
            <a:spAutoFit/>
          </a:bodyPr>
          <a:lstStyle/>
          <a:p>
            <a:pPr indent="449580">
              <a:lnSpc>
                <a:spcPct val="107000"/>
              </a:lnSpc>
              <a:spcAft>
                <a:spcPts val="800"/>
              </a:spcAft>
            </a:pPr>
            <a:r>
              <a:rPr lang="it-IT" sz="1800" dirty="0" err="1">
                <a:effectLst/>
                <a:latin typeface="Calibri" panose="020F0502020204030204" pitchFamily="34" charset="0"/>
                <a:ea typeface="Calibri" panose="020F0502020204030204" pitchFamily="34" charset="0"/>
                <a:cs typeface="Times New Roman" panose="02020603050405020304" pitchFamily="18" charset="0"/>
              </a:rPr>
              <a:t>Playbook</a:t>
            </a:r>
            <a:r>
              <a:rPr lang="it-IT" sz="1800" dirty="0">
                <a:effectLst/>
                <a:latin typeface="Calibri" panose="020F0502020204030204" pitchFamily="34" charset="0"/>
                <a:ea typeface="Calibri" panose="020F0502020204030204" pitchFamily="34" charset="0"/>
                <a:cs typeface="Times New Roman" panose="02020603050405020304" pitchFamily="18" charset="0"/>
              </a:rPr>
              <a:t>  (Sono file </a:t>
            </a:r>
            <a:r>
              <a:rPr lang="it-IT" sz="1800" dirty="0" err="1">
                <a:effectLst/>
                <a:latin typeface="Calibri" panose="020F0502020204030204" pitchFamily="34" charset="0"/>
                <a:ea typeface="Calibri" panose="020F0502020204030204" pitchFamily="34" charset="0"/>
                <a:cs typeface="Times New Roman" panose="02020603050405020304" pitchFamily="18" charset="0"/>
              </a:rPr>
              <a:t>yaml</a:t>
            </a:r>
            <a:r>
              <a:rPr lang="it-IT" sz="1800" dirty="0">
                <a:effectLst/>
                <a:latin typeface="Calibri" panose="020F0502020204030204" pitchFamily="34" charset="0"/>
                <a:ea typeface="Calibri" panose="020F0502020204030204" pitchFamily="34" charset="0"/>
                <a:cs typeface="Times New Roman" panose="02020603050405020304" pitchFamily="18" charset="0"/>
              </a:rPr>
              <a:t> che definiscono cosa fare)</a:t>
            </a:r>
          </a:p>
        </p:txBody>
      </p:sp>
      <p:pic>
        <p:nvPicPr>
          <p:cNvPr id="4" name="Immagine 3">
            <a:extLst>
              <a:ext uri="{FF2B5EF4-FFF2-40B4-BE49-F238E27FC236}">
                <a16:creationId xmlns:a16="http://schemas.microsoft.com/office/drawing/2014/main" id="{5525EB91-B8A2-48E9-A8D0-A6884C034D96}"/>
              </a:ext>
            </a:extLst>
          </p:cNvPr>
          <p:cNvPicPr>
            <a:picLocks noChangeAspect="1"/>
          </p:cNvPicPr>
          <p:nvPr/>
        </p:nvPicPr>
        <p:blipFill>
          <a:blip r:embed="rId3"/>
          <a:stretch>
            <a:fillRect/>
          </a:stretch>
        </p:blipFill>
        <p:spPr>
          <a:xfrm>
            <a:off x="6531659" y="1751325"/>
            <a:ext cx="5220429" cy="4648849"/>
          </a:xfrm>
          <a:prstGeom prst="rect">
            <a:avLst/>
          </a:prstGeom>
        </p:spPr>
      </p:pic>
    </p:spTree>
    <p:extLst>
      <p:ext uri="{BB962C8B-B14F-4D97-AF65-F5344CB8AC3E}">
        <p14:creationId xmlns:p14="http://schemas.microsoft.com/office/powerpoint/2010/main" val="37004810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C26327E-0E03-45A7-AB15-1B0887C3FD92}"/>
              </a:ext>
            </a:extLst>
          </p:cNvPr>
          <p:cNvSpPr>
            <a:spLocks noGrp="1"/>
          </p:cNvSpPr>
          <p:nvPr>
            <p:ph type="title"/>
          </p:nvPr>
        </p:nvSpPr>
        <p:spPr/>
        <p:txBody>
          <a:bodyPr/>
          <a:lstStyle/>
          <a:p>
            <a:r>
              <a:rPr lang="it-IT" dirty="0" err="1">
                <a:solidFill>
                  <a:srgbClr val="0070C0"/>
                </a:solidFill>
                <a:effectLst/>
                <a:latin typeface="Coli"/>
                <a:ea typeface="Times New Roman" panose="02020603050405020304" pitchFamily="18" charset="0"/>
              </a:rPr>
              <a:t>Ansible</a:t>
            </a:r>
            <a:r>
              <a:rPr lang="it-IT" dirty="0">
                <a:solidFill>
                  <a:srgbClr val="0070C0"/>
                </a:solidFill>
                <a:effectLst/>
                <a:latin typeface="Coli"/>
                <a:ea typeface="Times New Roman" panose="02020603050405020304" pitchFamily="18" charset="0"/>
              </a:rPr>
              <a:t> </a:t>
            </a:r>
            <a:r>
              <a:rPr lang="it-IT" dirty="0">
                <a:solidFill>
                  <a:srgbClr val="0070C0"/>
                </a:solidFill>
                <a:latin typeface="Coli"/>
                <a:ea typeface="Times New Roman" panose="02020603050405020304" pitchFamily="18" charset="0"/>
              </a:rPr>
              <a:t>2</a:t>
            </a:r>
            <a:r>
              <a:rPr lang="it-IT" dirty="0">
                <a:solidFill>
                  <a:srgbClr val="0070C0"/>
                </a:solidFill>
                <a:effectLst/>
                <a:latin typeface="Coli"/>
                <a:ea typeface="Times New Roman" panose="02020603050405020304" pitchFamily="18" charset="0"/>
              </a:rPr>
              <a:t>/3</a:t>
            </a:r>
            <a:endParaRPr lang="it-IT" dirty="0"/>
          </a:p>
        </p:txBody>
      </p:sp>
      <p:sp>
        <p:nvSpPr>
          <p:cNvPr id="9" name="CasellaDiTesto 8">
            <a:extLst>
              <a:ext uri="{FF2B5EF4-FFF2-40B4-BE49-F238E27FC236}">
                <a16:creationId xmlns:a16="http://schemas.microsoft.com/office/drawing/2014/main" id="{730B3D27-3A25-442D-86D9-3D944707B9D9}"/>
              </a:ext>
            </a:extLst>
          </p:cNvPr>
          <p:cNvSpPr txBox="1"/>
          <p:nvPr/>
        </p:nvSpPr>
        <p:spPr>
          <a:xfrm>
            <a:off x="525049" y="1876261"/>
            <a:ext cx="6098720" cy="375552"/>
          </a:xfrm>
          <a:prstGeom prst="rect">
            <a:avLst/>
          </a:prstGeom>
          <a:noFill/>
        </p:spPr>
        <p:txBody>
          <a:bodyPr wrap="square">
            <a:spAutoFit/>
          </a:bodyPr>
          <a:lstStyle/>
          <a:p>
            <a:pPr indent="449580">
              <a:lnSpc>
                <a:spcPct val="107000"/>
              </a:lnSpc>
              <a:spcAft>
                <a:spcPts val="800"/>
              </a:spcAft>
            </a:pPr>
            <a:r>
              <a:rPr lang="it-IT" sz="1800" dirty="0">
                <a:effectLst/>
                <a:latin typeface="Calibri" panose="020F0502020204030204" pitchFamily="34" charset="0"/>
                <a:ea typeface="Calibri" panose="020F0502020204030204" pitchFamily="34" charset="0"/>
                <a:cs typeface="Times New Roman" panose="02020603050405020304" pitchFamily="18" charset="0"/>
              </a:rPr>
              <a:t>Inventory variabili</a:t>
            </a:r>
          </a:p>
        </p:txBody>
      </p:sp>
      <p:sp>
        <p:nvSpPr>
          <p:cNvPr id="12" name="CasellaDiTesto 11">
            <a:extLst>
              <a:ext uri="{FF2B5EF4-FFF2-40B4-BE49-F238E27FC236}">
                <a16:creationId xmlns:a16="http://schemas.microsoft.com/office/drawing/2014/main" id="{A048B08F-3D4A-4046-B4BF-47528015F656}"/>
              </a:ext>
            </a:extLst>
          </p:cNvPr>
          <p:cNvSpPr txBox="1"/>
          <p:nvPr/>
        </p:nvSpPr>
        <p:spPr>
          <a:xfrm>
            <a:off x="5547632" y="1454185"/>
            <a:ext cx="6098720" cy="375552"/>
          </a:xfrm>
          <a:prstGeom prst="rect">
            <a:avLst/>
          </a:prstGeom>
          <a:noFill/>
        </p:spPr>
        <p:txBody>
          <a:bodyPr wrap="square">
            <a:spAutoFit/>
          </a:bodyPr>
          <a:lstStyle/>
          <a:p>
            <a:pPr indent="449580">
              <a:lnSpc>
                <a:spcPct val="107000"/>
              </a:lnSpc>
              <a:spcAft>
                <a:spcPts val="800"/>
              </a:spcAft>
            </a:pPr>
            <a:r>
              <a:rPr lang="it-IT" sz="1800" dirty="0" err="1">
                <a:effectLst/>
                <a:latin typeface="Calibri" panose="020F0502020204030204" pitchFamily="34" charset="0"/>
                <a:ea typeface="Calibri" panose="020F0502020204030204" pitchFamily="34" charset="0"/>
                <a:cs typeface="Times New Roman" panose="02020603050405020304" pitchFamily="18" charset="0"/>
              </a:rPr>
              <a:t>Playbook</a:t>
            </a:r>
            <a:r>
              <a:rPr lang="it-IT" sz="1800" dirty="0">
                <a:effectLst/>
                <a:latin typeface="Calibri" panose="020F0502020204030204" pitchFamily="34" charset="0"/>
                <a:ea typeface="Calibri" panose="020F0502020204030204" pitchFamily="34" charset="0"/>
                <a:cs typeface="Times New Roman" panose="02020603050405020304" pitchFamily="18" charset="0"/>
              </a:rPr>
              <a:t>  (Posso creare un loop usando l’</a:t>
            </a:r>
            <a:r>
              <a:rPr lang="it-IT" sz="1800" dirty="0" err="1">
                <a:effectLst/>
                <a:latin typeface="Calibri" panose="020F0502020204030204" pitchFamily="34" charset="0"/>
                <a:ea typeface="Calibri" panose="020F0502020204030204" pitchFamily="34" charset="0"/>
                <a:cs typeface="Times New Roman" panose="02020603050405020304" pitchFamily="18" charset="0"/>
              </a:rPr>
              <a:t>inventary</a:t>
            </a:r>
            <a:r>
              <a:rPr lang="it-IT" sz="1800" dirty="0">
                <a:effectLst/>
                <a:latin typeface="Calibri" panose="020F0502020204030204" pitchFamily="34" charset="0"/>
                <a:ea typeface="Calibri" panose="020F0502020204030204" pitchFamily="34" charset="0"/>
                <a:cs typeface="Times New Roman" panose="02020603050405020304" pitchFamily="18" charset="0"/>
              </a:rPr>
              <a:t>)</a:t>
            </a:r>
          </a:p>
        </p:txBody>
      </p:sp>
      <p:pic>
        <p:nvPicPr>
          <p:cNvPr id="4" name="Immagine 3">
            <a:extLst>
              <a:ext uri="{FF2B5EF4-FFF2-40B4-BE49-F238E27FC236}">
                <a16:creationId xmlns:a16="http://schemas.microsoft.com/office/drawing/2014/main" id="{CD42C7B4-AE1A-4BF2-9217-22E828E9A4F5}"/>
              </a:ext>
            </a:extLst>
          </p:cNvPr>
          <p:cNvPicPr>
            <a:picLocks noChangeAspect="1"/>
          </p:cNvPicPr>
          <p:nvPr/>
        </p:nvPicPr>
        <p:blipFill>
          <a:blip r:embed="rId2"/>
          <a:stretch>
            <a:fillRect/>
          </a:stretch>
        </p:blipFill>
        <p:spPr>
          <a:xfrm>
            <a:off x="580257" y="2298337"/>
            <a:ext cx="3296554" cy="1194913"/>
          </a:xfrm>
          <a:prstGeom prst="rect">
            <a:avLst/>
          </a:prstGeom>
        </p:spPr>
      </p:pic>
      <p:pic>
        <p:nvPicPr>
          <p:cNvPr id="14" name="Immagine 13">
            <a:extLst>
              <a:ext uri="{FF2B5EF4-FFF2-40B4-BE49-F238E27FC236}">
                <a16:creationId xmlns:a16="http://schemas.microsoft.com/office/drawing/2014/main" id="{1B33490E-D354-4DB7-A023-36F5DA9C5758}"/>
              </a:ext>
            </a:extLst>
          </p:cNvPr>
          <p:cNvPicPr>
            <a:picLocks noChangeAspect="1"/>
          </p:cNvPicPr>
          <p:nvPr/>
        </p:nvPicPr>
        <p:blipFill>
          <a:blip r:embed="rId3"/>
          <a:stretch>
            <a:fillRect/>
          </a:stretch>
        </p:blipFill>
        <p:spPr>
          <a:xfrm>
            <a:off x="4449971" y="2015310"/>
            <a:ext cx="7502795" cy="3256840"/>
          </a:xfrm>
          <a:prstGeom prst="rect">
            <a:avLst/>
          </a:prstGeom>
        </p:spPr>
      </p:pic>
    </p:spTree>
    <p:extLst>
      <p:ext uri="{BB962C8B-B14F-4D97-AF65-F5344CB8AC3E}">
        <p14:creationId xmlns:p14="http://schemas.microsoft.com/office/powerpoint/2010/main" val="2857364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C26327E-0E03-45A7-AB15-1B0887C3FD92}"/>
              </a:ext>
            </a:extLst>
          </p:cNvPr>
          <p:cNvSpPr>
            <a:spLocks noGrp="1"/>
          </p:cNvSpPr>
          <p:nvPr>
            <p:ph type="title"/>
          </p:nvPr>
        </p:nvSpPr>
        <p:spPr/>
        <p:txBody>
          <a:bodyPr/>
          <a:lstStyle/>
          <a:p>
            <a:r>
              <a:rPr lang="it-IT" dirty="0" err="1">
                <a:solidFill>
                  <a:srgbClr val="0070C0"/>
                </a:solidFill>
                <a:effectLst/>
                <a:latin typeface="Coli"/>
                <a:ea typeface="Times New Roman" panose="02020603050405020304" pitchFamily="18" charset="0"/>
              </a:rPr>
              <a:t>Ansible</a:t>
            </a:r>
            <a:r>
              <a:rPr lang="it-IT" dirty="0">
                <a:solidFill>
                  <a:srgbClr val="0070C0"/>
                </a:solidFill>
                <a:effectLst/>
                <a:latin typeface="Coli"/>
                <a:ea typeface="Times New Roman" panose="02020603050405020304" pitchFamily="18" charset="0"/>
              </a:rPr>
              <a:t> </a:t>
            </a:r>
            <a:r>
              <a:rPr lang="it-IT" dirty="0">
                <a:solidFill>
                  <a:srgbClr val="0070C0"/>
                </a:solidFill>
                <a:latin typeface="Coli"/>
                <a:ea typeface="Times New Roman" panose="02020603050405020304" pitchFamily="18" charset="0"/>
              </a:rPr>
              <a:t>3</a:t>
            </a:r>
            <a:r>
              <a:rPr lang="it-IT" dirty="0">
                <a:solidFill>
                  <a:srgbClr val="0070C0"/>
                </a:solidFill>
                <a:effectLst/>
                <a:latin typeface="Coli"/>
                <a:ea typeface="Times New Roman" panose="02020603050405020304" pitchFamily="18" charset="0"/>
              </a:rPr>
              <a:t>/3</a:t>
            </a:r>
            <a:endParaRPr lang="it-IT" dirty="0"/>
          </a:p>
        </p:txBody>
      </p:sp>
      <p:sp>
        <p:nvSpPr>
          <p:cNvPr id="6" name="CasellaDiTesto 5">
            <a:extLst>
              <a:ext uri="{FF2B5EF4-FFF2-40B4-BE49-F238E27FC236}">
                <a16:creationId xmlns:a16="http://schemas.microsoft.com/office/drawing/2014/main" id="{E5606F43-C86C-48C2-8B36-BED609D0465D}"/>
              </a:ext>
            </a:extLst>
          </p:cNvPr>
          <p:cNvSpPr txBox="1"/>
          <p:nvPr/>
        </p:nvSpPr>
        <p:spPr>
          <a:xfrm>
            <a:off x="707571" y="1690688"/>
            <a:ext cx="10515600" cy="2165145"/>
          </a:xfrm>
          <a:prstGeom prst="rect">
            <a:avLst/>
          </a:prstGeom>
          <a:noFill/>
        </p:spPr>
        <p:txBody>
          <a:bodyPr wrap="square">
            <a:spAutoFit/>
          </a:bodyPr>
          <a:lstStyle/>
          <a:p>
            <a:pPr>
              <a:lnSpc>
                <a:spcPct val="107000"/>
              </a:lnSpc>
              <a:spcAft>
                <a:spcPts val="800"/>
              </a:spcAft>
            </a:pPr>
            <a:r>
              <a:rPr lang="it-IT" sz="1800" dirty="0">
                <a:effectLst/>
                <a:latin typeface="Calibri" panose="020F0502020204030204" pitchFamily="34" charset="0"/>
                <a:ea typeface="Calibri" panose="020F0502020204030204" pitchFamily="34" charset="0"/>
                <a:cs typeface="Times New Roman" panose="02020603050405020304" pitchFamily="18" charset="0"/>
              </a:rPr>
              <a:t>Per collegarmi ad un server </a:t>
            </a:r>
            <a:r>
              <a:rPr lang="it-IT" dirty="0">
                <a:latin typeface="Calibri" panose="020F0502020204030204" pitchFamily="34" charset="0"/>
                <a:ea typeface="Calibri" panose="020F0502020204030204" pitchFamily="34" charset="0"/>
                <a:cs typeface="Times New Roman" panose="02020603050405020304" pitchFamily="18" charset="0"/>
              </a:rPr>
              <a:t>in </a:t>
            </a:r>
            <a:r>
              <a:rPr lang="it-IT" dirty="0" err="1">
                <a:latin typeface="Calibri" panose="020F0502020204030204" pitchFamily="34" charset="0"/>
                <a:ea typeface="Calibri" panose="020F0502020204030204" pitchFamily="34" charset="0"/>
                <a:cs typeface="Times New Roman" panose="02020603050405020304" pitchFamily="18" charset="0"/>
              </a:rPr>
              <a:t>ssh</a:t>
            </a:r>
            <a:r>
              <a:rPr lang="it-IT" dirty="0">
                <a:latin typeface="Calibri" panose="020F0502020204030204" pitchFamily="34" charset="0"/>
                <a:ea typeface="Calibri" panose="020F0502020204030204" pitchFamily="34" charset="0"/>
                <a:cs typeface="Times New Roman" panose="02020603050405020304" pitchFamily="18" charset="0"/>
              </a:rPr>
              <a:t> senza password posso usare la chiave pubblica/privata RSA</a:t>
            </a:r>
          </a:p>
          <a:p>
            <a:pPr>
              <a:lnSpc>
                <a:spcPct val="107000"/>
              </a:lnSpc>
              <a:spcAft>
                <a:spcPts val="800"/>
              </a:spcAft>
            </a:pPr>
            <a:r>
              <a:rPr lang="it-IT" sz="1800" dirty="0">
                <a:effectLst/>
                <a:latin typeface="Calibri" panose="020F0502020204030204" pitchFamily="34" charset="0"/>
                <a:ea typeface="Calibri" panose="020F0502020204030204" pitchFamily="34" charset="0"/>
                <a:cs typeface="Times New Roman" panose="02020603050405020304" pitchFamily="18" charset="0"/>
              </a:rPr>
              <a:t>	- </a:t>
            </a:r>
            <a:r>
              <a:rPr lang="it-IT" sz="1800" dirty="0" err="1">
                <a:effectLst/>
                <a:latin typeface="Calibri" panose="020F0502020204030204" pitchFamily="34" charset="0"/>
                <a:ea typeface="Calibri" panose="020F0502020204030204" pitchFamily="34" charset="0"/>
                <a:cs typeface="Times New Roman" panose="02020603050405020304" pitchFamily="18" charset="0"/>
              </a:rPr>
              <a:t>ssh-keygen</a:t>
            </a:r>
            <a:r>
              <a:rPr lang="it-IT" sz="1800" dirty="0">
                <a:effectLst/>
                <a:latin typeface="Calibri" panose="020F0502020204030204" pitchFamily="34" charset="0"/>
                <a:ea typeface="Calibri" panose="020F0502020204030204" pitchFamily="34" charset="0"/>
                <a:cs typeface="Times New Roman" panose="02020603050405020304" pitchFamily="18" charset="0"/>
              </a:rPr>
              <a:t> –t </a:t>
            </a:r>
            <a:r>
              <a:rPr lang="it-IT" sz="1800" dirty="0" err="1">
                <a:effectLst/>
                <a:latin typeface="Calibri" panose="020F0502020204030204" pitchFamily="34" charset="0"/>
                <a:ea typeface="Calibri" panose="020F0502020204030204" pitchFamily="34" charset="0"/>
                <a:cs typeface="Times New Roman" panose="02020603050405020304" pitchFamily="18" charset="0"/>
              </a:rPr>
              <a:t>rsa</a:t>
            </a:r>
            <a:r>
              <a:rPr lang="it-IT" sz="1800" dirty="0">
                <a:effectLst/>
                <a:latin typeface="Calibri" panose="020F0502020204030204" pitchFamily="34" charset="0"/>
                <a:ea typeface="Calibri" panose="020F0502020204030204" pitchFamily="34" charset="0"/>
                <a:cs typeface="Times New Roman" panose="02020603050405020304" pitchFamily="18" charset="0"/>
              </a:rPr>
              <a:t> –b 4096</a:t>
            </a:r>
          </a:p>
          <a:p>
            <a:pPr>
              <a:lnSpc>
                <a:spcPct val="107000"/>
              </a:lnSpc>
              <a:spcAft>
                <a:spcPts val="800"/>
              </a:spcAft>
            </a:pPr>
            <a:r>
              <a:rPr lang="it-IT" dirty="0">
                <a:latin typeface="Calibri" panose="020F0502020204030204" pitchFamily="34" charset="0"/>
                <a:ea typeface="Calibri" panose="020F0502020204030204" pitchFamily="34" charset="0"/>
                <a:cs typeface="Times New Roman" panose="02020603050405020304" pitchFamily="18" charset="0"/>
              </a:rPr>
              <a:t>	- </a:t>
            </a:r>
            <a:r>
              <a:rPr lang="it-IT" dirty="0" err="1">
                <a:latin typeface="Calibri" panose="020F0502020204030204" pitchFamily="34" charset="0"/>
                <a:ea typeface="Calibri" panose="020F0502020204030204" pitchFamily="34" charset="0"/>
                <a:cs typeface="Times New Roman" panose="02020603050405020304" pitchFamily="18" charset="0"/>
              </a:rPr>
              <a:t>ssh</a:t>
            </a:r>
            <a:r>
              <a:rPr lang="it-IT" dirty="0">
                <a:latin typeface="Calibri" panose="020F0502020204030204" pitchFamily="34" charset="0"/>
                <a:ea typeface="Calibri" panose="020F0502020204030204" pitchFamily="34" charset="0"/>
                <a:cs typeface="Times New Roman" panose="02020603050405020304" pitchFamily="18" charset="0"/>
              </a:rPr>
              <a:t>-copy-id </a:t>
            </a:r>
            <a:r>
              <a:rPr lang="it-IT" dirty="0" err="1">
                <a:latin typeface="Calibri" panose="020F0502020204030204" pitchFamily="34" charset="0"/>
                <a:ea typeface="Calibri" panose="020F0502020204030204" pitchFamily="34" charset="0"/>
                <a:cs typeface="Times New Roman" panose="02020603050405020304" pitchFamily="18" charset="0"/>
              </a:rPr>
              <a:t>administrator@ip_server</a:t>
            </a:r>
            <a:r>
              <a:rPr lang="it-IT" dirty="0">
                <a:latin typeface="Calibri" panose="020F0502020204030204" pitchFamily="34" charset="0"/>
                <a:ea typeface="Calibri" panose="020F0502020204030204" pitchFamily="34" charset="0"/>
                <a:cs typeface="Times New Roman" panose="02020603050405020304" pitchFamily="18" charset="0"/>
              </a:rPr>
              <a:t>  (Copio la chiave pubblica della mia macchina dentro il file 			</a:t>
            </a:r>
            <a:r>
              <a:rPr lang="it-IT" dirty="0" err="1">
                <a:latin typeface="Calibri" panose="020F0502020204030204" pitchFamily="34" charset="0"/>
                <a:ea typeface="Calibri" panose="020F0502020204030204" pitchFamily="34" charset="0"/>
                <a:cs typeface="Times New Roman" panose="02020603050405020304" pitchFamily="18" charset="0"/>
              </a:rPr>
              <a:t>authorized_keys</a:t>
            </a:r>
            <a:r>
              <a:rPr lang="it-IT" dirty="0">
                <a:latin typeface="Calibri" panose="020F0502020204030204" pitchFamily="34" charset="0"/>
                <a:ea typeface="Calibri" panose="020F0502020204030204" pitchFamily="34" charset="0"/>
                <a:cs typeface="Times New Roman" panose="02020603050405020304" pitchFamily="18" charset="0"/>
              </a:rPr>
              <a:t>)	(</a:t>
            </a:r>
            <a:r>
              <a:rPr lang="it-IT" dirty="0" err="1">
                <a:latin typeface="Calibri" panose="020F0502020204030204" pitchFamily="34" charset="0"/>
                <a:ea typeface="Calibri" panose="020F0502020204030204" pitchFamily="34" charset="0"/>
                <a:cs typeface="Times New Roman" panose="02020603050405020304" pitchFamily="18" charset="0"/>
              </a:rPr>
              <a:t>cat</a:t>
            </a:r>
            <a:r>
              <a:rPr lang="it-IT" dirty="0">
                <a:latin typeface="Calibri" panose="020F0502020204030204" pitchFamily="34" charset="0"/>
                <a:ea typeface="Calibri" panose="020F0502020204030204" pitchFamily="34" charset="0"/>
                <a:cs typeface="Times New Roman" panose="02020603050405020304" pitchFamily="18" charset="0"/>
              </a:rPr>
              <a:t> ~/.</a:t>
            </a:r>
            <a:r>
              <a:rPr lang="it-IT" dirty="0" err="1">
                <a:latin typeface="Calibri" panose="020F0502020204030204" pitchFamily="34" charset="0"/>
                <a:ea typeface="Calibri" panose="020F0502020204030204" pitchFamily="34" charset="0"/>
                <a:cs typeface="Times New Roman" panose="02020603050405020304" pitchFamily="18" charset="0"/>
              </a:rPr>
              <a:t>ssh</a:t>
            </a:r>
            <a:r>
              <a:rPr lang="it-IT" dirty="0">
                <a:latin typeface="Calibri" panose="020F0502020204030204" pitchFamily="34" charset="0"/>
                <a:ea typeface="Calibri" panose="020F0502020204030204" pitchFamily="34" charset="0"/>
                <a:cs typeface="Times New Roman" panose="02020603050405020304" pitchFamily="18" charset="0"/>
              </a:rPr>
              <a:t>/id_rsa.pub | </a:t>
            </a:r>
            <a:r>
              <a:rPr lang="it-IT" dirty="0" err="1">
                <a:latin typeface="Calibri" panose="020F0502020204030204" pitchFamily="34" charset="0"/>
                <a:ea typeface="Calibri" panose="020F0502020204030204" pitchFamily="34" charset="0"/>
                <a:cs typeface="Times New Roman" panose="02020603050405020304" pitchFamily="18" charset="0"/>
              </a:rPr>
              <a:t>ssh</a:t>
            </a:r>
            <a:r>
              <a:rPr lang="it-IT" dirty="0">
                <a:latin typeface="Calibri" panose="020F0502020204030204" pitchFamily="34" charset="0"/>
                <a:ea typeface="Calibri" panose="020F0502020204030204" pitchFamily="34" charset="0"/>
                <a:cs typeface="Times New Roman" panose="02020603050405020304" pitchFamily="18" charset="0"/>
              </a:rPr>
              <a:t> </a:t>
            </a:r>
            <a:r>
              <a:rPr lang="it-IT" dirty="0" err="1">
                <a:latin typeface="Calibri" panose="020F0502020204030204" pitchFamily="34" charset="0"/>
                <a:ea typeface="Calibri" panose="020F0502020204030204" pitchFamily="34" charset="0"/>
                <a:cs typeface="Times New Roman" panose="02020603050405020304" pitchFamily="18" charset="0"/>
              </a:rPr>
              <a:t>user@server_ip</a:t>
            </a:r>
            <a:r>
              <a:rPr lang="it-IT" dirty="0">
                <a:latin typeface="Calibri" panose="020F0502020204030204" pitchFamily="34" charset="0"/>
                <a:ea typeface="Calibri" panose="020F0502020204030204" pitchFamily="34" charset="0"/>
                <a:cs typeface="Times New Roman" panose="02020603050405020304" pitchFamily="18" charset="0"/>
              </a:rPr>
              <a:t> "</a:t>
            </a:r>
            <a:r>
              <a:rPr lang="it-IT" dirty="0" err="1">
                <a:latin typeface="Calibri" panose="020F0502020204030204" pitchFamily="34" charset="0"/>
                <a:ea typeface="Calibri" panose="020F0502020204030204" pitchFamily="34" charset="0"/>
                <a:cs typeface="Times New Roman" panose="02020603050405020304" pitchFamily="18" charset="0"/>
              </a:rPr>
              <a:t>mkdir</a:t>
            </a:r>
            <a:r>
              <a:rPr lang="it-IT" dirty="0">
                <a:latin typeface="Calibri" panose="020F0502020204030204" pitchFamily="34" charset="0"/>
                <a:ea typeface="Calibri" panose="020F0502020204030204" pitchFamily="34" charset="0"/>
                <a:cs typeface="Times New Roman" panose="02020603050405020304" pitchFamily="18" charset="0"/>
              </a:rPr>
              <a:t> -p ~/.</a:t>
            </a:r>
            <a:r>
              <a:rPr lang="it-IT" dirty="0" err="1">
                <a:latin typeface="Calibri" panose="020F0502020204030204" pitchFamily="34" charset="0"/>
                <a:ea typeface="Calibri" panose="020F0502020204030204" pitchFamily="34" charset="0"/>
                <a:cs typeface="Times New Roman" panose="02020603050405020304" pitchFamily="18" charset="0"/>
              </a:rPr>
              <a:t>ssh</a:t>
            </a:r>
            <a:r>
              <a:rPr lang="it-IT" dirty="0">
                <a:latin typeface="Calibri" panose="020F0502020204030204" pitchFamily="34" charset="0"/>
                <a:ea typeface="Calibri" panose="020F0502020204030204" pitchFamily="34" charset="0"/>
                <a:cs typeface="Times New Roman" panose="02020603050405020304" pitchFamily="18" charset="0"/>
              </a:rPr>
              <a:t> &amp;&amp; </a:t>
            </a:r>
            <a:r>
              <a:rPr lang="it-IT" dirty="0" err="1">
                <a:latin typeface="Calibri" panose="020F0502020204030204" pitchFamily="34" charset="0"/>
                <a:ea typeface="Calibri" panose="020F0502020204030204" pitchFamily="34" charset="0"/>
                <a:cs typeface="Times New Roman" panose="02020603050405020304" pitchFamily="18" charset="0"/>
              </a:rPr>
              <a:t>cat</a:t>
            </a:r>
            <a:r>
              <a:rPr lang="it-IT" dirty="0">
                <a:latin typeface="Calibri" panose="020F0502020204030204" pitchFamily="34" charset="0"/>
                <a:ea typeface="Calibri" panose="020F0502020204030204" pitchFamily="34" charset="0"/>
                <a:cs typeface="Times New Roman" panose="02020603050405020304" pitchFamily="18" charset="0"/>
              </a:rPr>
              <a:t> &gt;&gt; 		~/.</a:t>
            </a:r>
            <a:r>
              <a:rPr lang="it-IT" dirty="0" err="1">
                <a:latin typeface="Calibri" panose="020F0502020204030204" pitchFamily="34" charset="0"/>
                <a:ea typeface="Calibri" panose="020F0502020204030204" pitchFamily="34" charset="0"/>
                <a:cs typeface="Times New Roman" panose="02020603050405020304" pitchFamily="18" charset="0"/>
              </a:rPr>
              <a:t>ssh</a:t>
            </a:r>
            <a:r>
              <a:rPr lang="it-IT" dirty="0">
                <a:latin typeface="Calibri" panose="020F0502020204030204" pitchFamily="34" charset="0"/>
                <a:ea typeface="Calibri" panose="020F0502020204030204" pitchFamily="34" charset="0"/>
                <a:cs typeface="Times New Roman" panose="02020603050405020304" pitchFamily="18" charset="0"/>
              </a:rPr>
              <a:t>/</a:t>
            </a:r>
            <a:r>
              <a:rPr lang="it-IT" dirty="0" err="1">
                <a:latin typeface="Calibri" panose="020F0502020204030204" pitchFamily="34" charset="0"/>
                <a:ea typeface="Calibri" panose="020F0502020204030204" pitchFamily="34" charset="0"/>
                <a:cs typeface="Times New Roman" panose="02020603050405020304" pitchFamily="18" charset="0"/>
              </a:rPr>
              <a:t>authorized_keys</a:t>
            </a:r>
            <a:r>
              <a:rPr lang="it-IT" dirty="0">
                <a:latin typeface="Calibri" panose="020F0502020204030204" pitchFamily="34" charset="0"/>
                <a:ea typeface="Calibri" panose="020F0502020204030204" pitchFamily="34" charset="0"/>
                <a:cs typeface="Times New Roman" panose="02020603050405020304" pitchFamily="18" charset="0"/>
              </a:rPr>
              <a:t>«)</a:t>
            </a:r>
            <a:endParaRPr lang="it-IT"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it-IT"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Immagine 3">
            <a:extLst>
              <a:ext uri="{FF2B5EF4-FFF2-40B4-BE49-F238E27FC236}">
                <a16:creationId xmlns:a16="http://schemas.microsoft.com/office/drawing/2014/main" id="{4F130B3B-3602-42FD-BB1C-4AA3596722D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95475" y="3855833"/>
            <a:ext cx="6755945" cy="2414722"/>
          </a:xfrm>
          <a:prstGeom prst="rect">
            <a:avLst/>
          </a:prstGeom>
        </p:spPr>
      </p:pic>
    </p:spTree>
    <p:extLst>
      <p:ext uri="{BB962C8B-B14F-4D97-AF65-F5344CB8AC3E}">
        <p14:creationId xmlns:p14="http://schemas.microsoft.com/office/powerpoint/2010/main" val="3264273979"/>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2195</TotalTime>
  <Words>3261</Words>
  <Application>Microsoft Office PowerPoint</Application>
  <PresentationFormat>Widescreen</PresentationFormat>
  <Paragraphs>392</Paragraphs>
  <Slides>26</Slides>
  <Notes>3</Notes>
  <HiddenSlides>0</HiddenSlides>
  <MMClips>0</MMClips>
  <ScaleCrop>false</ScaleCrop>
  <HeadingPairs>
    <vt:vector size="6" baseType="variant">
      <vt:variant>
        <vt:lpstr>Caratteri utilizzati</vt:lpstr>
      </vt:variant>
      <vt:variant>
        <vt:i4>6</vt:i4>
      </vt:variant>
      <vt:variant>
        <vt:lpstr>Tema</vt:lpstr>
      </vt:variant>
      <vt:variant>
        <vt:i4>1</vt:i4>
      </vt:variant>
      <vt:variant>
        <vt:lpstr>Titoli diapositive</vt:lpstr>
      </vt:variant>
      <vt:variant>
        <vt:i4>26</vt:i4>
      </vt:variant>
    </vt:vector>
  </HeadingPairs>
  <TitlesOfParts>
    <vt:vector size="33" baseType="lpstr">
      <vt:lpstr>Arial</vt:lpstr>
      <vt:lpstr>Calibri</vt:lpstr>
      <vt:lpstr>Calibri Light</vt:lpstr>
      <vt:lpstr>Coli</vt:lpstr>
      <vt:lpstr>Times New Roman</vt:lpstr>
      <vt:lpstr>Wingdings</vt:lpstr>
      <vt:lpstr>Tema di Office</vt:lpstr>
      <vt:lpstr>Argomenti trattati</vt:lpstr>
      <vt:lpstr>Active Directory </vt:lpstr>
      <vt:lpstr>La struttura logica di Active Directory 1/4 </vt:lpstr>
      <vt:lpstr>La struttura logica di Active Directory 2/4</vt:lpstr>
      <vt:lpstr>La struttura logica di Active Directory 3/4</vt:lpstr>
      <vt:lpstr>La struttura logica di Active Directory 4/4</vt:lpstr>
      <vt:lpstr>Il protocollo LDAP  1/2</vt:lpstr>
      <vt:lpstr>Il protocollo LDAP  2/2</vt:lpstr>
      <vt:lpstr>Il protocollo Kerberos  1/2</vt:lpstr>
      <vt:lpstr>Il protocollo Kerberos  2/2</vt:lpstr>
      <vt:lpstr>Virtualizzazione 1/5</vt:lpstr>
      <vt:lpstr>Virtualizzazione 2/5</vt:lpstr>
      <vt:lpstr>Virtualizzazione 3/5</vt:lpstr>
      <vt:lpstr>Virtualizzazione 4/5</vt:lpstr>
      <vt:lpstr>Virtualizzazione 5/5</vt:lpstr>
      <vt:lpstr>Virtualizzazione Storage 1/4</vt:lpstr>
      <vt:lpstr>Virtualizzazione Storage 2/4</vt:lpstr>
      <vt:lpstr>Virtualizzazione Storage 3/4</vt:lpstr>
      <vt:lpstr>Virtualizzazione Storage 4/4</vt:lpstr>
      <vt:lpstr>Proxmox 1/4</vt:lpstr>
      <vt:lpstr>Proxmox 2/4</vt:lpstr>
      <vt:lpstr>Proxmox 3/4</vt:lpstr>
      <vt:lpstr>Proxmox autenticazione 4/4</vt:lpstr>
      <vt:lpstr>Ansible 1/3</vt:lpstr>
      <vt:lpstr>Ansible 2/3</vt:lpstr>
      <vt:lpstr>Ansible 3/3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Ciro Barbone</dc:creator>
  <cp:lastModifiedBy>Ciro Barbone</cp:lastModifiedBy>
  <cp:revision>49</cp:revision>
  <dcterms:created xsi:type="dcterms:W3CDTF">2024-12-09T10:00:22Z</dcterms:created>
  <dcterms:modified xsi:type="dcterms:W3CDTF">2025-04-22T10:31:57Z</dcterms:modified>
</cp:coreProperties>
</file>